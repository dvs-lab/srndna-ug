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3" r:id="rId1"/>
  </p:sldMasterIdLst>
  <p:notesMasterIdLst>
    <p:notesMasterId r:id="rId8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Lst>
  <p:sldSz cx="9144000" cy="5143500" type="screen16x9"/>
  <p:notesSz cx="6858000" cy="9144000"/>
  <p:embeddedFontLst>
    <p:embeddedFont>
      <p:font typeface="Roboto" panose="02000000000000000000" pitchFamily="2" charset="0"/>
      <p:regular r:id="rId87"/>
      <p:bold r:id="rId88"/>
      <p:italic r:id="rId89"/>
      <p:boldItalic r:id="rId9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94"/>
  </p:normalViewPr>
  <p:slideViewPr>
    <p:cSldViewPr snapToGrid="0">
      <p:cViewPr varScale="1">
        <p:scale>
          <a:sx n="161" d="100"/>
          <a:sy n="161" d="100"/>
        </p:scale>
        <p:origin x="480" y="20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font" Target="fonts/font3.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font" Target="fonts/font4.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font" Target="fonts/font2.fntdata"/><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4d60e3d4df_0_8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4d60e3d4df_0_8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rPr>
              <a:t>I’m Jen Yang from the Neuroeconomics Lab led by Dr. David Smith at Temple University. In this talk I’m going to share some age-related differences in neural responses we found during the Ultimatum Game.</a:t>
            </a:r>
            <a:endParaRPr sz="18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4d3b10e998_0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4d3b10e998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In the last talk, Inbal showed us a lovely rat world. In the rat world, when you offer a helping paw to another rat (click), you end up being the saving hero.</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4d60e3d4df_0_13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4d60e3d4df_0_13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In the last talk, Inbal showed us a lovely rat world. In the rat world, when you offer a helping paw to another rat (click), you end up being the saving hero.</a:t>
            </a:r>
            <a:endParaRPr sz="1800">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4d60e3d4df_0_13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4d60e3d4df_0_13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In our human world, however, when you offer a helping hand (click), instead of actually helping someone, you may end up falling prey to financial exploitation, such as older adults who (click) got trapped into grandparent scams.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5055950d69_0_5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5055950d69_0_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In our human world, however, when you offer a helping hand (click), instead of actually helping someone, you may end up falling prey to financial exploitation, such as older adults who (click) got trapped into grandparent scams. </a:t>
            </a:r>
            <a:endParaRPr sz="1800">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526921ec72_0_3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526921ec72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In our human world, however, when you offer a helping hand (click), instead of actually helping someone, you may end up falling prey to financial exploitation, such as older adults who (click) got trapped into grandparent scams. </a:t>
            </a:r>
            <a:endParaRPr>
              <a:solidFill>
                <a:schemeClr val="dk1"/>
              </a:solidFill>
            </a:endParaRPr>
          </a:p>
          <a:p>
            <a:pPr marL="0" lvl="0" indent="0" algn="l" rtl="0">
              <a:spcBef>
                <a:spcPts val="0"/>
              </a:spcBef>
              <a:spcAft>
                <a:spcPts val="0"/>
              </a:spcAft>
              <a:buNone/>
            </a:pPr>
            <a:endParaRPr sz="180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4d60e3d4df_0_8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4d60e3d4df_0_8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a:solidFill>
                  <a:schemeClr val="dk1"/>
                </a:solidFill>
              </a:rPr>
              <a:t>As a matter of fact, impersonation scams such as grandparent scams make up all top 5 scams that target older adults, (click) and elder victims lose 8 billion per year to those imposter strangers.</a:t>
            </a:r>
            <a:endParaRPr sz="1800">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4dfdca7dd4_0_6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4dfdca7dd4_0_6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a:solidFill>
                  <a:schemeClr val="dk1"/>
                </a:solidFill>
              </a:rPr>
              <a:t>As a matter of fact, impersonation scams such as grandparent scams make up all top 5 scams that target older adults, (click) and elder victims lose 8 billion per year to those imposter strangers.</a:t>
            </a:r>
            <a:endParaRPr sz="1800">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4dfdca7dd4_0_5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4dfdca7dd4_0_5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If you’re having a hard time making sense how much money this is, the 2024 budget of National Institute on Aging in NIH is 4.5 billion. (next)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5055950d69_0_5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5055950d69_0_5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Why do older adults seem to be particularly vulnerable to impersonation scams? (click) One of the reasons might be age-related shifts in motivation and emotional processing.</a:t>
            </a:r>
            <a:endParaRPr sz="1800">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4dfdca7dd4_0_6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4dfdca7dd4_0_6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Why do older adults seem to be particularly vulnerable to impersonation scams? (click) One of the reasons might be age-related shifts in motivation and emotional processing. (next slide continues)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5055950d69_0_5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5055950d69_0_5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As people age, they tend to prioritize emotionally meaningful experiences and focus more on positive information, which can shape their social decision-making, and (next)</a:t>
            </a:r>
            <a:endParaRPr sz="1800">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5055950d69_0_5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5055950d69_0_5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potentially make them more susceptible to persuasive tactics used in impersonation scams</a:t>
            </a:r>
            <a:r>
              <a:rPr lang="en">
                <a:solidFill>
                  <a:schemeClr val="dk1"/>
                </a:solidFill>
              </a:rPr>
              <a:t>.</a:t>
            </a:r>
            <a:endParaRPr sz="1800">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5055950d69_0_4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35055950d69_0_4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800">
                <a:solidFill>
                  <a:schemeClr val="dk1"/>
                </a:solidFill>
              </a:rPr>
              <a:t>In my previous work examining risk factors for financial exploitation, (click) we found that individuals who are more persuadable or less sensitive to trustworthiness cues are at significantly higher risk of scams, indicating that (next)</a:t>
            </a:r>
            <a:endParaRPr sz="1800">
              <a:solidFill>
                <a:schemeClr val="dk1"/>
              </a:solidFill>
            </a:endParaRPr>
          </a:p>
          <a:p>
            <a:pPr marL="0" lvl="0" indent="0" algn="l" rtl="0">
              <a:spcBef>
                <a:spcPts val="0"/>
              </a:spcBef>
              <a:spcAft>
                <a:spcPts val="0"/>
              </a:spcAft>
              <a:buNone/>
            </a:pPr>
            <a:endParaRPr sz="1800">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5055950d69_0_7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35055950d69_0_7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a:solidFill>
                  <a:schemeClr val="dk1"/>
                </a:solidFill>
              </a:rPr>
              <a:t>In my previous work examining risk factors for financial exploitation, (click) we found that individuals who are more persuadable or less sensitive to trustworthiness cues are at significantly higher risk of scams, indicating that (next)</a:t>
            </a:r>
            <a:endParaRPr sz="1800">
              <a:solidFill>
                <a:schemeClr val="dk1"/>
              </a:solidFill>
            </a:endParaRPr>
          </a:p>
          <a:p>
            <a:pPr marL="0" lvl="0" indent="0" algn="l" rtl="0">
              <a:spcBef>
                <a:spcPts val="0"/>
              </a:spcBef>
              <a:spcAft>
                <a:spcPts val="0"/>
              </a:spcAft>
              <a:buNone/>
            </a:pPr>
            <a:endParaRPr sz="1800">
              <a:solidFill>
                <a:schemeClr val="dk1"/>
              </a:solidFill>
            </a:endParaRPr>
          </a:p>
          <a:p>
            <a:pPr marL="0" lvl="0" indent="0" algn="l" rtl="0">
              <a:lnSpc>
                <a:spcPct val="115000"/>
              </a:lnSpc>
              <a:spcBef>
                <a:spcPts val="0"/>
              </a:spcBef>
              <a:spcAft>
                <a:spcPts val="0"/>
              </a:spcAft>
              <a:buNone/>
            </a:pPr>
            <a:endParaRPr sz="1800">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5055950d69_0_6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35055950d69_0_6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a:solidFill>
                  <a:schemeClr val="dk1"/>
                </a:solidFill>
              </a:rPr>
              <a:t>(Indicating that) age-related changes in social information processing may contribute to older adults’ heightened vulnerability to impersonation scams.</a:t>
            </a:r>
            <a:endParaRPr sz="1800">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4dfdca7dd4_0_7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4dfdca7dd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800">
                <a:solidFill>
                  <a:schemeClr val="dk1"/>
                </a:solidFill>
              </a:rPr>
              <a:t>In addition to changes in social information processing, age-related alterations in brain may also play a crucial role.</a:t>
            </a:r>
            <a:endParaRPr sz="1800">
              <a:solidFill>
                <a:schemeClr val="dk1"/>
              </a:solidFill>
            </a:endParaRPr>
          </a:p>
          <a:p>
            <a:pPr marL="0" lvl="0" indent="0" algn="l" rtl="0">
              <a:spcBef>
                <a:spcPts val="0"/>
              </a:spcBef>
              <a:spcAft>
                <a:spcPts val="0"/>
              </a:spcAft>
              <a:buNone/>
            </a:pPr>
            <a:endParaRPr sz="1350">
              <a:solidFill>
                <a:srgbClr val="2A2A2A"/>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4dfdca7dd4_0_14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34dfdca7dd4_0_14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a:solidFill>
                  <a:schemeClr val="dk1"/>
                </a:solidFill>
              </a:rPr>
              <a:t>Previous research has shown significant age-related decreases in correlations between brain regions, and has shown that (next) </a:t>
            </a:r>
            <a:endParaRPr sz="1350">
              <a:solidFill>
                <a:srgbClr val="2A2A2A"/>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34dfdca7dd4_0_13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34dfdca7dd4_0_13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a:solidFill>
                  <a:schemeClr val="dk1"/>
                </a:solidFill>
              </a:rPr>
              <a:t>(and has shown that) older adult financial exploitation is associated with default mode network and executive control network functional connectivity with other brain regions.</a:t>
            </a:r>
            <a:endParaRPr sz="1350">
              <a:solidFill>
                <a:srgbClr val="2A2A2A"/>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4dfdca7dd4_0_14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34dfdca7dd4_0_14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800">
                <a:solidFill>
                  <a:schemeClr val="dk1"/>
                </a:solidFill>
              </a:rPr>
              <a:t>Age-related changes in network connectivity may affect how older adults process social information, such as (click) during social decision-making that involves evaluation of fairness</a:t>
            </a:r>
            <a:endParaRPr sz="1800">
              <a:solidFill>
                <a:schemeClr val="dk1"/>
              </a:solidFill>
            </a:endParaRPr>
          </a:p>
          <a:p>
            <a:pPr marL="0" lvl="0" indent="0" algn="l" rtl="0">
              <a:spcBef>
                <a:spcPts val="0"/>
              </a:spcBef>
              <a:spcAft>
                <a:spcPts val="0"/>
              </a:spcAft>
              <a:buNone/>
            </a:pPr>
            <a:endParaRPr sz="1350">
              <a:solidFill>
                <a:srgbClr val="2A2A2A"/>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4dfdca7dd4_0_14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34dfdca7dd4_0_14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a:solidFill>
                  <a:schemeClr val="dk1"/>
                </a:solidFill>
              </a:rPr>
              <a:t>Age-related changes in brain activity may affect how older adults process social information, such as (click) during social decision-making that involves evaluation of fairness in different social context.</a:t>
            </a:r>
            <a:endParaRPr sz="18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8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800">
                <a:solidFill>
                  <a:schemeClr val="dk1"/>
                </a:solidFill>
              </a:rPr>
              <a:t> </a:t>
            </a:r>
            <a:endParaRPr sz="1800">
              <a:solidFill>
                <a:schemeClr val="dk1"/>
              </a:solidFill>
            </a:endParaRPr>
          </a:p>
          <a:p>
            <a:pPr marL="0" lvl="0" indent="0" algn="l" rtl="0">
              <a:spcBef>
                <a:spcPts val="0"/>
              </a:spcBef>
              <a:spcAft>
                <a:spcPts val="0"/>
              </a:spcAft>
              <a:buNone/>
            </a:pPr>
            <a:endParaRPr sz="1800">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503078964e_0_5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3503078964e_0_5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800">
                <a:solidFill>
                  <a:schemeClr val="dk1"/>
                </a:solidFill>
              </a:rPr>
              <a:t>Using the ultimatum game, which I’ll talk more about in later slides, (click) previous research has observed age-related brain activation difference in response to unfairness. (click) Previous study also found that neural responses during fairness evaluation differ depending on whether the interaction involves a human or a computer</a:t>
            </a:r>
            <a:r>
              <a:rPr lang="en" sz="1200">
                <a:solidFill>
                  <a:schemeClr val="dk1"/>
                </a:solidFill>
              </a:rPr>
              <a:t>.</a:t>
            </a:r>
            <a:endParaRPr sz="1800">
              <a:solidFill>
                <a:schemeClr val="dk1"/>
              </a:solidFill>
            </a:endParaRPr>
          </a:p>
          <a:p>
            <a:pPr marL="0" lvl="0" indent="0" algn="l" rtl="0">
              <a:spcBef>
                <a:spcPts val="0"/>
              </a:spcBef>
              <a:spcAft>
                <a:spcPts val="0"/>
              </a:spcAft>
              <a:buNone/>
            </a:pPr>
            <a:endParaRPr sz="1800">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34dfdca7dd4_0_14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34dfdca7dd4_0_14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a:solidFill>
                  <a:schemeClr val="dk1"/>
                </a:solidFill>
              </a:rPr>
              <a:t>Using the ultimatum game, which I’ll talk more about in later slides, (click) previous research has observed age-related brain activation difference in response to unfairness. (click) Previous study also found that neural responses during fairness evaluation differ depending on whether the interaction involves a human or a computer</a:t>
            </a:r>
            <a:r>
              <a:rPr lang="en" sz="1200">
                <a:solidFill>
                  <a:schemeClr val="dk1"/>
                </a:solidFill>
              </a:rPr>
              <a:t>.</a:t>
            </a:r>
            <a:endParaRPr sz="1800">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35055950d69_0_8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35055950d69_0_8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800">
                <a:solidFill>
                  <a:schemeClr val="dk1"/>
                </a:solidFill>
              </a:rPr>
              <a:t>Using the ultimatum game, which I’ll talk more about in later slides, (click) previous research has observed age-related brain activation difference in response to unfairness. (click) Previous study also found that neural responses during fairness evaluation differ depending on whether the interaction involves a human or a computer</a:t>
            </a:r>
            <a:r>
              <a:rPr lang="en" sz="1200">
                <a:solidFill>
                  <a:schemeClr val="dk1"/>
                </a:solidFill>
              </a:rPr>
              <a:t>.</a:t>
            </a:r>
            <a:endParaRPr sz="1800">
              <a:solidFill>
                <a:schemeClr val="dk1"/>
              </a:solidFill>
            </a:endParaRPr>
          </a:p>
          <a:p>
            <a:pPr marL="0" lvl="0" indent="0" algn="l" rtl="0">
              <a:spcBef>
                <a:spcPts val="0"/>
              </a:spcBef>
              <a:spcAft>
                <a:spcPts val="0"/>
              </a:spcAft>
              <a:buNone/>
            </a:pPr>
            <a:endParaRPr sz="1800">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5055950d69_0_8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35055950d69_0_8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800">
                <a:solidFill>
                  <a:schemeClr val="dk1"/>
                </a:solidFill>
              </a:rPr>
              <a:t>Using the ultimatum game, which I’ll talk more about in later slides, (click) previous research has observed age-related brain activation difference in response to unfairness. (click) Previous study also found that neural responses during fairness evaluation differ depending on whether the interaction involves a human or a computer</a:t>
            </a:r>
            <a:r>
              <a:rPr lang="en" sz="1200">
                <a:solidFill>
                  <a:schemeClr val="dk1"/>
                </a:solidFill>
              </a:rPr>
              <a:t>.</a:t>
            </a:r>
            <a:endParaRPr sz="1800">
              <a:solidFill>
                <a:schemeClr val="dk1"/>
              </a:solidFill>
            </a:endParaRPr>
          </a:p>
          <a:p>
            <a:pPr marL="0" lvl="0" indent="0" algn="l" rtl="0">
              <a:spcBef>
                <a:spcPts val="0"/>
              </a:spcBef>
              <a:spcAft>
                <a:spcPts val="0"/>
              </a:spcAft>
              <a:buNone/>
            </a:pPr>
            <a:endParaRPr sz="1800">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5055950d69_0_8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35055950d69_0_8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latin typeface="Roboto"/>
                <a:ea typeface="Roboto"/>
                <a:cs typeface="Roboto"/>
                <a:sym typeface="Roboto"/>
              </a:rPr>
              <a:t>These findings highlight that both age and social context influence how the brain responds to fairness in social decision-making. </a:t>
            </a:r>
            <a:endParaRPr sz="1800">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35055950d69_0_8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35055950d69_0_8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latin typeface="Roboto"/>
                <a:ea typeface="Roboto"/>
                <a:cs typeface="Roboto"/>
                <a:sym typeface="Roboto"/>
              </a:rPr>
              <a:t>Given older adults’ particular vulnerability to impersonation scams, (click) there might be a age*social context interaction underneath such vulnerability. </a:t>
            </a:r>
            <a:endParaRPr sz="1800">
              <a:solidFill>
                <a:schemeClr val="dk1"/>
              </a:solidFill>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35055950d69_0_8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5055950d69_0_8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latin typeface="Roboto"/>
                <a:ea typeface="Roboto"/>
                <a:cs typeface="Roboto"/>
                <a:sym typeface="Roboto"/>
              </a:rPr>
              <a:t>Given older adults’ particular vulnerability to impersonation scams, (click) there might be a age*social context interaction underneath such vulnerability, Therefore as a first step to understand the vulnerability, (next, research outline) </a:t>
            </a:r>
            <a:endParaRPr sz="1800">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35055950d69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35055950d69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latin typeface="Roboto"/>
                <a:ea typeface="Roboto"/>
                <a:cs typeface="Roboto"/>
                <a:sym typeface="Roboto"/>
              </a:rPr>
              <a:t>We conducted an fMRI study using the ultimatum game and explored how age and social context may interact to shape neural responses during fairness related social decision-making</a:t>
            </a:r>
            <a:endParaRPr sz="1800">
              <a:solidFill>
                <a:schemeClr val="dk1"/>
              </a:solidFill>
              <a:latin typeface="Roboto"/>
              <a:ea typeface="Roboto"/>
              <a:cs typeface="Roboto"/>
              <a:sym typeface="Roboto"/>
            </a:endParaRPr>
          </a:p>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35055950d69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35055950d69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latin typeface="Roboto"/>
                <a:ea typeface="Roboto"/>
                <a:cs typeface="Roboto"/>
                <a:sym typeface="Roboto"/>
              </a:rPr>
              <a:t>Building off previous literature, in this study we focused on (click) the default mode network and executive control network functional connectivity with other brain regions.</a:t>
            </a:r>
            <a:endParaRPr b="1"/>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35055950d69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6" name="Google Shape;446;g35055950d69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latin typeface="Roboto"/>
                <a:ea typeface="Roboto"/>
                <a:cs typeface="Roboto"/>
                <a:sym typeface="Roboto"/>
              </a:rPr>
              <a:t>Building off previous literature, in this study we focused on (click) the default mode network and executive control network functional connectivity with other brain regions.</a:t>
            </a:r>
            <a:endParaRPr b="1">
              <a:solidFill>
                <a:schemeClr val="dk1"/>
              </a:solidFill>
            </a:endParaRPr>
          </a:p>
          <a:p>
            <a:pPr marL="0" lvl="0" indent="0" algn="l" rtl="0">
              <a:spcBef>
                <a:spcPts val="0"/>
              </a:spcBef>
              <a:spcAft>
                <a:spcPts val="0"/>
              </a:spcAft>
              <a:buNone/>
            </a:pPr>
            <a:endParaRPr sz="1800">
              <a:solidFill>
                <a:schemeClr val="dk1"/>
              </a:solidFill>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5055950d69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35055950d69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latin typeface="Roboto"/>
                <a:ea typeface="Roboto"/>
                <a:cs typeface="Roboto"/>
                <a:sym typeface="Roboto"/>
              </a:rPr>
              <a:t>We were also interested how individual behavioral differences such as (click) fairness norm and norm violation sensitivity may correlate with brain activities.</a:t>
            </a:r>
            <a:endParaRPr sz="1800">
              <a:solidFill>
                <a:schemeClr val="dk1"/>
              </a:solidFill>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35055950d69_0_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35055950d69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latin typeface="Roboto"/>
                <a:ea typeface="Roboto"/>
                <a:cs typeface="Roboto"/>
                <a:sym typeface="Roboto"/>
              </a:rPr>
              <a:t>We were also interested how individual behavioral differences such as (click) fairness norm and norm violation sensitivity may correlate with brain activities.</a:t>
            </a:r>
            <a:endParaRPr b="1">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g3503078964e_0_3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5" name="Google Shape;515;g3503078964e_0_3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latin typeface="Roboto"/>
                <a:ea typeface="Roboto"/>
                <a:cs typeface="Roboto"/>
                <a:sym typeface="Roboto"/>
              </a:rPr>
              <a:t>To explore these research questions we utilized the Ultimatum Game as our experimental task.</a:t>
            </a:r>
            <a:endParaRPr sz="18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34c0c56f1dc_0_8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34c0c56f1dc_0_8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rPr>
              <a:t>The ultimatum game (click) is a two-player economic game where one person proposes a split of money, and the other person can accept (click) or (click) reject it, with rejection leaving both empty-handed.</a:t>
            </a: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34d60e3d4df_0_3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34d60e3d4df_0_3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rPr>
              <a:t>The ultimatum game (click) is a two-player economic game where one person proposes a split of money, and the other person can accept (click) or (click) reject it, with rejection leaving both empty-handed.</a:t>
            </a: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g34dfdca7dd4_0_5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g34dfdca7dd4_0_5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rPr>
              <a:t>The ultimatum game (click) is a two-player economic game where one person proposes a split of money, and the other person can accept (click) or (click) reject it, with rejection leaving both empty-handed.</a:t>
            </a: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34dfdca7dd4_0_5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3" name="Google Shape;593;g34dfdca7dd4_0_5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rPr>
              <a:t>The ultimatum game (click) is a two-player economic game where one person proposes a split of money, and the other person can accept (click) or (click) reject it, with rejection leaving both empty-handed.</a:t>
            </a: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g34d60e3d4df_0_3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6" name="Google Shape;626;g34d60e3d4df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rPr>
              <a:t>In our study, participants played the role of recipient, (click) and here’s how we manipulated fairness, age, and social context based on the task.</a:t>
            </a:r>
            <a:endParaRPr sz="1800">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g35130fde8f9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3" name="Google Shape;653;g35130fde8f9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rPr>
              <a:t>In our study, participants played the role of recipient, (click) and here’s how we manipulated fairness, age, and social context based on the task.</a:t>
            </a: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g3503078964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3" name="Google Shape;683;g3503078964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rPr>
              <a:t>To manipulate fairness, we adopted a fixed endowment of $20 and changed the percentage of endowment offered to the participant.</a:t>
            </a:r>
            <a:endParaRPr sz="1800">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g35130fde8f9_0_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3" name="Google Shape;713;g35130fde8f9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rPr>
              <a:t>For aging, we recruited participants from two distinct age group, younger adults between the age 18-35 older adults between the age 65-80.</a:t>
            </a:r>
            <a:endParaRPr sz="1800">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35055950d69_0_9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3" name="Google Shape;743;g35055950d69_0_9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rPr>
              <a:t>For social context (click), we manipulated the age similarity between the participants and their game partner and created two conditions, (click) similar partner condition and dissimilar partner condition. (next) In the similar partner condition (click), participant and their partner’s age is matched, whereas in dissmilar partner condition, their age is mismatched. For example, (next)</a:t>
            </a: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g3503078964e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3" name="Google Shape;773;g3503078964e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rPr>
              <a:t>For social context (click), we manipulated the age similarity between the participants and their game partner and created two conditions, similar partner condition and dissimilar partner condition. (next)</a:t>
            </a: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g35055950d69_0_9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3" name="Google Shape;803;g35055950d69_0_9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rPr>
              <a:t>In the similar partner condition, participant and their partner’s age is matched, whereas in dissmilar partner condition (click), their age is mismatched. For example, (next)</a:t>
            </a: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35055950d69_0_9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3" name="Google Shape;833;g35055950d69_0_9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rPr>
              <a:t>In the similar partner condition, participant and their partner’s age is matched, whereas in dissmilar partner condition (click), their age is mismatched. For example, (next)</a:t>
            </a:r>
            <a:endParaRPr sz="1800">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35130fde8f9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3" name="Google Shape;863;g35130fde8f9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rPr>
              <a:t>For example, if a participant is an old white male, for similar partner condition he would play the ultimatum game (click) with another old white male. For dissimilar condition, (click) this old white male would instead play the game with a young white male.</a:t>
            </a: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g35130fde8f9_0_1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1" name="Google Shape;891;g35130fde8f9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rPr>
              <a:t>For example, if a participant is an old white male, for similar partner condition he would play the ultimatum game (click) with another old white male. For dissimilar condition, (click) this old white male would instead play the game with a young white male.</a:t>
            </a: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35130fde8f9_0_1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0" name="Google Shape;920;g35130fde8f9_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rPr>
              <a:t>For example, if a participant is an old white male, for similar partner condition he would play the ultimatum game (click) with another old white male. For dissimilar condition, (click) this old white male would instead play the game with a young white male.</a:t>
            </a: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g34d60e3d4df_0_6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7" name="Google Shape;947;g34d60e3d4df_0_6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rPr>
              <a:t>Here’s how a trial actually looks like in our task. In each trial, participants first see who their partner is and the partner’s offer for 1 second. Then the participant have 2.5 seconds to indicate whether they accept or reject the offer.</a:t>
            </a:r>
            <a:endParaRPr sz="1800">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6"/>
        <p:cNvGrpSpPr/>
        <p:nvPr/>
      </p:nvGrpSpPr>
      <p:grpSpPr>
        <a:xfrm>
          <a:off x="0" y="0"/>
          <a:ext cx="0" cy="0"/>
          <a:chOff x="0" y="0"/>
          <a:chExt cx="0" cy="0"/>
        </a:xfrm>
      </p:grpSpPr>
      <p:sp>
        <p:nvSpPr>
          <p:cNvPr id="967" name="Google Shape;967;g3503078964e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8" name="Google Shape;968;g3503078964e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In our GLM model for fMRI analyses, we merged offer phase and decision phase into one regressor. We also included offer-size based parametric modulator to obtain neural sensitivity to fairness.</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g35055950d69_0_1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1" name="Google Shape;991;g35055950d69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Before examining age-related changes in the brain, we first looked at age-related changes (click) at the behavioral level.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g35055950d69_0_1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7" name="Google Shape;997;g35055950d69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rPr>
              <a:t>Before examining age-related changes in the brain, we first looked at age-related changes (click) at the behavioral level. </a:t>
            </a:r>
            <a:endParaRPr>
              <a:solidFill>
                <a:schemeClr val="dk1"/>
              </a:solidFill>
            </a:endParaRPr>
          </a:p>
          <a:p>
            <a:pPr marL="0" lvl="0" indent="0" algn="l" rtl="0">
              <a:spcBef>
                <a:spcPts val="0"/>
              </a:spcBef>
              <a:spcAft>
                <a:spcPts val="0"/>
              </a:spcAft>
              <a:buNone/>
            </a:pPr>
            <a:endParaRPr sz="1800">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g34dfdca7dd4_0_12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3" name="Google Shape;1003;g34dfdca7dd4_0_1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Overall we found that, compared to younger adults, older adults have lower accept-reject threshold as shown by the 50-50 accept-reject point further to the left, indicating older adults might have a lower fairness norm. In contrast, despite the lower norm, older adults seems to be more sensitive to fairness violation as indicated by the steeper slope around 50-50 chance point.</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p:cNvGrpSpPr/>
        <p:nvPr/>
      </p:nvGrpSpPr>
      <p:grpSpPr>
        <a:xfrm>
          <a:off x="0" y="0"/>
          <a:ext cx="0" cy="0"/>
          <a:chOff x="0" y="0"/>
          <a:chExt cx="0" cy="0"/>
        </a:xfrm>
      </p:grpSpPr>
      <p:sp>
        <p:nvSpPr>
          <p:cNvPr id="1014" name="Google Shape;1014;g35055950d69_0_1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5" name="Google Shape;1015;g35055950d69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We didn’t find significant behavior level age*social context interaction or main effect of social context. In other words, at the behavioral level, regardless of being younger or older, participants don’t differentiate between playing with an age-similar partner or age-dissimilar partner.</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g34dfdca7dd4_0_14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7" name="Google Shape;1027;g34dfdca7dd4_0_14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How about age and social context effects at the brain level? (click) We first examined functional connectivity of DMN and ECN and found (click) significant age differences in social context-related DMN-dACC fairness sensitivity.</a:t>
            </a:r>
            <a:endParaRPr sz="1800">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g3503078964e_0_3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1" name="Google Shape;1051;g3503078964e_0_3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How about age and social context effects at the brain level? (click) We first examined functional connectivity of DMN and ECN, and we found (next)</a:t>
            </a:r>
            <a:endParaRPr sz="1800">
              <a:solidFill>
                <a:schemeClr val="dk1"/>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4"/>
        <p:cNvGrpSpPr/>
        <p:nvPr/>
      </p:nvGrpSpPr>
      <p:grpSpPr>
        <a:xfrm>
          <a:off x="0" y="0"/>
          <a:ext cx="0" cy="0"/>
          <a:chOff x="0" y="0"/>
          <a:chExt cx="0" cy="0"/>
        </a:xfrm>
      </p:grpSpPr>
      <p:sp>
        <p:nvSpPr>
          <p:cNvPr id="1075" name="Google Shape;1075;g34dfdca7dd4_0_1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6" name="Google Shape;1076;g34dfdca7dd4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(and we found) significant age difference in context differentiation in DMN-dACC fairness sensitivity</a:t>
            </a: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2"/>
        <p:cNvGrpSpPr/>
        <p:nvPr/>
      </p:nvGrpSpPr>
      <p:grpSpPr>
        <a:xfrm>
          <a:off x="0" y="0"/>
          <a:ext cx="0" cy="0"/>
          <a:chOff x="0" y="0"/>
          <a:chExt cx="0" cy="0"/>
        </a:xfrm>
      </p:grpSpPr>
      <p:sp>
        <p:nvSpPr>
          <p:cNvPr id="1093" name="Google Shape;1093;g3503078964e_0_4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4" name="Google Shape;1094;g3503078964e_0_4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 y axis represent context differentiation in DMN-dACC fairness sensitivity when playing with an age-similar partner versus an age-dissimilar partner. Larger absolute value indicate stronger context differentiation. The x-axis is participant’s age group.</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34dfdca7dd4_0_16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34dfdca7dd4_0_16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rPr>
              <a:t>In younger adults, we found a significant context differentiation of fairness related DMN-dACC connectivity that favors age-similar partner.</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0"/>
        <p:cNvGrpSpPr/>
        <p:nvPr/>
      </p:nvGrpSpPr>
      <p:grpSpPr>
        <a:xfrm>
          <a:off x="0" y="0"/>
          <a:ext cx="0" cy="0"/>
          <a:chOff x="0" y="0"/>
          <a:chExt cx="0" cy="0"/>
        </a:xfrm>
      </p:grpSpPr>
      <p:sp>
        <p:nvSpPr>
          <p:cNvPr id="1131" name="Google Shape;1131;g34dfdca7dd4_0_16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2" name="Google Shape;1132;g34dfdca7dd4_0_16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rPr>
              <a:t>In contrast, for older adults, the context differentiation of fairness related DMN-dACC connectivity is in the opposite direction, …</a:t>
            </a:r>
            <a:endParaRPr sz="180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9"/>
        <p:cNvGrpSpPr/>
        <p:nvPr/>
      </p:nvGrpSpPr>
      <p:grpSpPr>
        <a:xfrm>
          <a:off x="0" y="0"/>
          <a:ext cx="0" cy="0"/>
          <a:chOff x="0" y="0"/>
          <a:chExt cx="0" cy="0"/>
        </a:xfrm>
      </p:grpSpPr>
      <p:sp>
        <p:nvSpPr>
          <p:cNvPr id="1150" name="Google Shape;1150;g3503078964e_0_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1" name="Google Shape;1151;g3503078964e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This reversed pattern may indicate differential DMN-dACC integration among older adults compared to younger adults, rather than a uniform age-related decline.</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9"/>
        <p:cNvGrpSpPr/>
        <p:nvPr/>
      </p:nvGrpSpPr>
      <p:grpSpPr>
        <a:xfrm>
          <a:off x="0" y="0"/>
          <a:ext cx="0" cy="0"/>
          <a:chOff x="0" y="0"/>
          <a:chExt cx="0" cy="0"/>
        </a:xfrm>
      </p:grpSpPr>
      <p:sp>
        <p:nvSpPr>
          <p:cNvPr id="1170" name="Google Shape;1170;g3503078964e_0_1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1" name="Google Shape;1171;g3503078964e_0_1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rPr>
              <a:t>DMN functional connectivity, check. We didn’t find any significant results in ECN connectivity.</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3503078964e_0_1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3503078964e_0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Next, we examined how </a:t>
            </a:r>
            <a:r>
              <a:rPr lang="en" sz="1800">
                <a:solidFill>
                  <a:schemeClr val="dk1"/>
                </a:solidFill>
                <a:latin typeface="Roboto"/>
                <a:ea typeface="Roboto"/>
                <a:cs typeface="Roboto"/>
                <a:sym typeface="Roboto"/>
              </a:rPr>
              <a:t>individual behavioral differences in fairness norm and norm violation sensitivity may correlate with brain activities</a:t>
            </a:r>
            <a:r>
              <a:rPr lang="en" sz="1800">
                <a:solidFill>
                  <a:schemeClr val="dk1"/>
                </a:solidFill>
              </a:rPr>
              <a:t>.</a:t>
            </a:r>
            <a:endParaRPr sz="1800">
              <a:solidFill>
                <a:schemeClr val="dk1"/>
              </a:solidFill>
            </a:endParaRPr>
          </a:p>
          <a:p>
            <a:pPr marL="0" lvl="0" indent="0" algn="l" rtl="0">
              <a:spcBef>
                <a:spcPts val="0"/>
              </a:spcBef>
              <a:spcAft>
                <a:spcPts val="0"/>
              </a:spcAft>
              <a:buNone/>
            </a:pPr>
            <a:r>
              <a:rPr lang="en" sz="1800">
                <a:solidFill>
                  <a:schemeClr val="dk1"/>
                </a:solidFill>
              </a:rPr>
              <a:t>Before showing the results, I’d like to first walk you through how we operationalized fairness norm and norm violation sensitivity at the behavioral level.</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34dfdca7dd4_0_2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34dfdca7dd4_0_2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rPr>
              <a:t>To quantify fairness norm and norm violation sensitivity, we applied multilevel logistic regression and regressed participant’s accept or reject decisions with a partner onto offer size. The regression line shows the correlation between offer size and the logit of accept, the log transformed odd of accepting an offer. A logit of 0 means 50-50 chance of accepting or rejecting.</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9"/>
        <p:cNvGrpSpPr/>
        <p:nvPr/>
      </p:nvGrpSpPr>
      <p:grpSpPr>
        <a:xfrm>
          <a:off x="0" y="0"/>
          <a:ext cx="0" cy="0"/>
          <a:chOff x="0" y="0"/>
          <a:chExt cx="0" cy="0"/>
        </a:xfrm>
      </p:grpSpPr>
      <p:sp>
        <p:nvSpPr>
          <p:cNvPr id="1240" name="Google Shape;1240;g34dfdca7dd4_0_3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1" name="Google Shape;1241;g34dfdca7dd4_0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 x-intercept corresponds to the predicted offer size where a participant’s acceptance of the offer is at chance level, (click) which approximates the participant’s fairness norm.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3"/>
        <p:cNvGrpSpPr/>
        <p:nvPr/>
      </p:nvGrpSpPr>
      <p:grpSpPr>
        <a:xfrm>
          <a:off x="0" y="0"/>
          <a:ext cx="0" cy="0"/>
          <a:chOff x="0" y="0"/>
          <a:chExt cx="0" cy="0"/>
        </a:xfrm>
      </p:grpSpPr>
      <p:sp>
        <p:nvSpPr>
          <p:cNvPr id="1264" name="Google Shape;1264;g34dfdca7dd4_0_15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5" name="Google Shape;1265;g34dfdca7dd4_0_15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rPr>
              <a:t>The x-intercept corresponds to the predicted offer size where a participant’s acceptance of the offer is at chance level, (click) which approximates the participant’s fairness norm. </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7"/>
        <p:cNvGrpSpPr/>
        <p:nvPr/>
      </p:nvGrpSpPr>
      <p:grpSpPr>
        <a:xfrm>
          <a:off x="0" y="0"/>
          <a:ext cx="0" cy="0"/>
          <a:chOff x="0" y="0"/>
          <a:chExt cx="0" cy="0"/>
        </a:xfrm>
      </p:grpSpPr>
      <p:sp>
        <p:nvSpPr>
          <p:cNvPr id="1288" name="Google Shape;1288;g34dfdca7dd4_0_11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9" name="Google Shape;1289;g34dfdca7dd4_0_1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rPr>
              <a:t>The slope of the line indicate how much the behavior would change between accept and reject if a offer is above or below the norm, (click) which approximates the participant’s sensitivity to fairness norm violation. </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1"/>
        <p:cNvGrpSpPr/>
        <p:nvPr/>
      </p:nvGrpSpPr>
      <p:grpSpPr>
        <a:xfrm>
          <a:off x="0" y="0"/>
          <a:ext cx="0" cy="0"/>
          <a:chOff x="0" y="0"/>
          <a:chExt cx="0" cy="0"/>
        </a:xfrm>
      </p:grpSpPr>
      <p:sp>
        <p:nvSpPr>
          <p:cNvPr id="1312" name="Google Shape;1312;g34dfdca7dd4_0_2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3" name="Google Shape;1313;g34dfdca7dd4_0_2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For example, if two participants have the same x-intercept but different slope, this indicates that they have the same fairness norm but participant B is more sensitive to norm violation and is more likely to change from accept to reject if their norm is violated or vice versa, compared to Participant A.</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7"/>
        <p:cNvGrpSpPr/>
        <p:nvPr/>
      </p:nvGrpSpPr>
      <p:grpSpPr>
        <a:xfrm>
          <a:off x="0" y="0"/>
          <a:ext cx="0" cy="0"/>
          <a:chOff x="0" y="0"/>
          <a:chExt cx="0" cy="0"/>
        </a:xfrm>
      </p:grpSpPr>
      <p:sp>
        <p:nvSpPr>
          <p:cNvPr id="1338" name="Google Shape;1338;g35055950d69_0_1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9" name="Google Shape;1339;g35055950d69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rPr>
              <a:t>For brain-behavior correlation, on the brain side we again focused on default mode network and executive control network functional connectivity.</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3"/>
        <p:cNvGrpSpPr/>
        <p:nvPr/>
      </p:nvGrpSpPr>
      <p:grpSpPr>
        <a:xfrm>
          <a:off x="0" y="0"/>
          <a:ext cx="0" cy="0"/>
          <a:chOff x="0" y="0"/>
          <a:chExt cx="0" cy="0"/>
        </a:xfrm>
      </p:grpSpPr>
      <p:sp>
        <p:nvSpPr>
          <p:cNvPr id="1364" name="Google Shape;1364;g34dfdca7dd4_0_1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5" name="Google Shape;1365;g34dfdca7dd4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latin typeface="Roboto"/>
                <a:ea typeface="Roboto"/>
                <a:cs typeface="Roboto"/>
                <a:sym typeface="Roboto"/>
              </a:rPr>
              <a:t>And we found age moderated the correlation between context differentiation of ECN-mPFC connectivity and behavioral norm violation sensitivity.</a:t>
            </a:r>
            <a:endParaRPr sz="180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2"/>
        <p:cNvGrpSpPr/>
        <p:nvPr/>
      </p:nvGrpSpPr>
      <p:grpSpPr>
        <a:xfrm>
          <a:off x="0" y="0"/>
          <a:ext cx="0" cy="0"/>
          <a:chOff x="0" y="0"/>
          <a:chExt cx="0" cy="0"/>
        </a:xfrm>
      </p:grpSpPr>
      <p:sp>
        <p:nvSpPr>
          <p:cNvPr id="1383" name="Google Shape;1383;g35055950d69_0_10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4" name="Google Shape;1384;g35055950d69_0_10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latin typeface="Roboto"/>
                <a:ea typeface="Roboto"/>
                <a:cs typeface="Roboto"/>
                <a:sym typeface="Roboto"/>
              </a:rPr>
              <a:t>The y axis is context differentiation of fairness-related ECN-mPFC connectivity, that is, the difference in ECN-mPFC connectivity between similar partner condition and dissimilar partner condition. The x axis is context differentiation of behavioral norm violation sensitivity, that is, the difference in behavioral norm violation sensitivity between similar partner condition and dissimilar partner condition.</a:t>
            </a:r>
            <a:endParaRPr sz="180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1"/>
        <p:cNvGrpSpPr/>
        <p:nvPr/>
      </p:nvGrpSpPr>
      <p:grpSpPr>
        <a:xfrm>
          <a:off x="0" y="0"/>
          <a:ext cx="0" cy="0"/>
          <a:chOff x="0" y="0"/>
          <a:chExt cx="0" cy="0"/>
        </a:xfrm>
      </p:grpSpPr>
      <p:sp>
        <p:nvSpPr>
          <p:cNvPr id="1402" name="Google Shape;1402;g35130fde8f9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3" name="Google Shape;1403;g35130fde8f9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latin typeface="Roboto"/>
                <a:ea typeface="Roboto"/>
                <a:cs typeface="Roboto"/>
                <a:sym typeface="Roboto"/>
              </a:rPr>
              <a:t>We found that younger adults showed a significant negative correlation between contexta differentiation of ECN-mPFC connectivity and behavioral norm violation sensitivity, and such correlation (click) is reversed among older adults.</a:t>
            </a:r>
            <a:endParaRPr sz="180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9"/>
        <p:cNvGrpSpPr/>
        <p:nvPr/>
      </p:nvGrpSpPr>
      <p:grpSpPr>
        <a:xfrm>
          <a:off x="0" y="0"/>
          <a:ext cx="0" cy="0"/>
          <a:chOff x="0" y="0"/>
          <a:chExt cx="0" cy="0"/>
        </a:xfrm>
      </p:grpSpPr>
      <p:sp>
        <p:nvSpPr>
          <p:cNvPr id="1420" name="Google Shape;1420;g35130fde8f9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1" name="Google Shape;1421;g35130fde8f9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latin typeface="Roboto"/>
                <a:ea typeface="Roboto"/>
                <a:cs typeface="Roboto"/>
                <a:sym typeface="Roboto"/>
              </a:rPr>
              <a:t>We found that younger adults showed a significant negative correlation between contexta differentiation of ECN-mPFC connectivity and behavioral norm violation sensitivity, and such correlation (click) is reversed among older adults.</a:t>
            </a: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latin typeface="Roboto"/>
              <a:ea typeface="Roboto"/>
              <a:cs typeface="Roboto"/>
              <a:sym typeface="Roboto"/>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8"/>
        <p:cNvGrpSpPr/>
        <p:nvPr/>
      </p:nvGrpSpPr>
      <p:grpSpPr>
        <a:xfrm>
          <a:off x="0" y="0"/>
          <a:ext cx="0" cy="0"/>
          <a:chOff x="0" y="0"/>
          <a:chExt cx="0" cy="0"/>
        </a:xfrm>
      </p:grpSpPr>
      <p:sp>
        <p:nvSpPr>
          <p:cNvPr id="1439" name="Google Shape;1439;g35055950d69_0_1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0" name="Google Shape;1440;g35055950d69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latin typeface="Roboto"/>
                <a:ea typeface="Roboto"/>
                <a:cs typeface="Roboto"/>
                <a:sym typeface="Roboto"/>
              </a:rPr>
              <a:t>This age-dependent pattern suggests that neural level social information processing might be fundamentally different between younger and older adults.</a:t>
            </a:r>
            <a:endParaRPr sz="170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8"/>
        <p:cNvGrpSpPr/>
        <p:nvPr/>
      </p:nvGrpSpPr>
      <p:grpSpPr>
        <a:xfrm>
          <a:off x="0" y="0"/>
          <a:ext cx="0" cy="0"/>
          <a:chOff x="0" y="0"/>
          <a:chExt cx="0" cy="0"/>
        </a:xfrm>
      </p:grpSpPr>
      <p:sp>
        <p:nvSpPr>
          <p:cNvPr id="1459" name="Google Shape;1459;g3503078964e_0_2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0" name="Google Shape;1460;g3503078964e_0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latin typeface="Roboto"/>
                <a:ea typeface="Roboto"/>
                <a:cs typeface="Roboto"/>
                <a:sym typeface="Roboto"/>
              </a:rPr>
              <a:t>So, brain-behavior association, check</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5"/>
        <p:cNvGrpSpPr/>
        <p:nvPr/>
      </p:nvGrpSpPr>
      <p:grpSpPr>
        <a:xfrm>
          <a:off x="0" y="0"/>
          <a:ext cx="0" cy="0"/>
          <a:chOff x="0" y="0"/>
          <a:chExt cx="0" cy="0"/>
        </a:xfrm>
      </p:grpSpPr>
      <p:sp>
        <p:nvSpPr>
          <p:cNvPr id="1486" name="Google Shape;1486;g35055950d69_0_3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7" name="Google Shape;1487;g35055950d69_0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latin typeface="Roboto"/>
                <a:ea typeface="Roboto"/>
                <a:cs typeface="Roboto"/>
                <a:sym typeface="Roboto"/>
              </a:rPr>
              <a:t>Ok, complicated and interesting results. What do they actually tell us?</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2"/>
        <p:cNvGrpSpPr/>
        <p:nvPr/>
      </p:nvGrpSpPr>
      <p:grpSpPr>
        <a:xfrm>
          <a:off x="0" y="0"/>
          <a:ext cx="0" cy="0"/>
          <a:chOff x="0" y="0"/>
          <a:chExt cx="0" cy="0"/>
        </a:xfrm>
      </p:grpSpPr>
      <p:sp>
        <p:nvSpPr>
          <p:cNvPr id="1493" name="Google Shape;1493;g34c0c56f1dc_0_15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4" name="Google Shape;1494;g34c0c56f1dc_0_15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latin typeface="Roboto"/>
                <a:ea typeface="Roboto"/>
                <a:cs typeface="Roboto"/>
                <a:sym typeface="Roboto"/>
              </a:rPr>
              <a:t>First, (read the point 1)</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5"/>
        <p:cNvGrpSpPr/>
        <p:nvPr/>
      </p:nvGrpSpPr>
      <p:grpSpPr>
        <a:xfrm>
          <a:off x="0" y="0"/>
          <a:ext cx="0" cy="0"/>
          <a:chOff x="0" y="0"/>
          <a:chExt cx="0" cy="0"/>
        </a:xfrm>
      </p:grpSpPr>
      <p:sp>
        <p:nvSpPr>
          <p:cNvPr id="1526" name="Google Shape;1526;g35055950d69_0_3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7" name="Google Shape;1527;g35055950d69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latin typeface="Roboto"/>
                <a:ea typeface="Roboto"/>
                <a:cs typeface="Roboto"/>
                <a:sym typeface="Roboto"/>
              </a:rPr>
              <a:t>And, (read the point 1)</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1"/>
        <p:cNvGrpSpPr/>
        <p:nvPr/>
      </p:nvGrpSpPr>
      <p:grpSpPr>
        <a:xfrm>
          <a:off x="0" y="0"/>
          <a:ext cx="0" cy="0"/>
          <a:chOff x="0" y="0"/>
          <a:chExt cx="0" cy="0"/>
        </a:xfrm>
      </p:grpSpPr>
      <p:sp>
        <p:nvSpPr>
          <p:cNvPr id="1562" name="Google Shape;1562;g3503078964e_0_5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3" name="Google Shape;1563;g3503078964e_0_5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latin typeface="Roboto"/>
                <a:ea typeface="Roboto"/>
                <a:cs typeface="Roboto"/>
                <a:sym typeface="Roboto"/>
              </a:rPr>
              <a:t>How about scam vulnerability, where we started?</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3"/>
        <p:cNvGrpSpPr/>
        <p:nvPr/>
      </p:nvGrpSpPr>
      <p:grpSpPr>
        <a:xfrm>
          <a:off x="0" y="0"/>
          <a:ext cx="0" cy="0"/>
          <a:chOff x="0" y="0"/>
          <a:chExt cx="0" cy="0"/>
        </a:xfrm>
      </p:grpSpPr>
      <p:sp>
        <p:nvSpPr>
          <p:cNvPr id="1574" name="Google Shape;1574;g35055950d69_0_4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5" name="Google Shape;1575;g35055950d69_0_4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End summary with some questions that lead to next slides</a:t>
            </a:r>
            <a:endParaRPr/>
          </a:p>
          <a:p>
            <a:pPr marL="0" lvl="0" indent="0" algn="l" rtl="0">
              <a:spcBef>
                <a:spcPts val="0"/>
              </a:spcBef>
              <a:spcAft>
                <a:spcPts val="0"/>
              </a:spcAft>
              <a:buNone/>
            </a:pPr>
            <a:r>
              <a:rPr lang="en"/>
              <a:t>Another task that taps into social context</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1"/>
        <p:cNvGrpSpPr/>
        <p:nvPr/>
      </p:nvGrpSpPr>
      <p:grpSpPr>
        <a:xfrm>
          <a:off x="0" y="0"/>
          <a:ext cx="0" cy="0"/>
          <a:chOff x="0" y="0"/>
          <a:chExt cx="0" cy="0"/>
        </a:xfrm>
      </p:grpSpPr>
      <p:sp>
        <p:nvSpPr>
          <p:cNvPr id="1582" name="Google Shape;1582;g3503078964e_0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3" name="Google Shape;1583;g3503078964e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4"/>
        <p:cNvGrpSpPr/>
        <p:nvPr/>
      </p:nvGrpSpPr>
      <p:grpSpPr>
        <a:xfrm>
          <a:off x="0" y="0"/>
          <a:ext cx="0" cy="0"/>
          <a:chOff x="0" y="0"/>
          <a:chExt cx="0" cy="0"/>
        </a:xfrm>
      </p:grpSpPr>
      <p:sp>
        <p:nvSpPr>
          <p:cNvPr id="1595" name="Google Shape;1595;g35055950d69_0_5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6" name="Google Shape;1596;g35055950d69_0_5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End summary with some questions that lead to next slides</a:t>
            </a:r>
            <a:endParaRPr/>
          </a:p>
          <a:p>
            <a:pPr marL="0" lvl="0" indent="0" algn="l" rtl="0">
              <a:spcBef>
                <a:spcPts val="0"/>
              </a:spcBef>
              <a:spcAft>
                <a:spcPts val="0"/>
              </a:spcAft>
              <a:buNone/>
            </a:pPr>
            <a:r>
              <a:rPr lang="en"/>
              <a:t>Another task that taps into social context</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8"/>
        <p:cNvGrpSpPr/>
        <p:nvPr/>
      </p:nvGrpSpPr>
      <p:grpSpPr>
        <a:xfrm>
          <a:off x="0" y="0"/>
          <a:ext cx="0" cy="0"/>
          <a:chOff x="0" y="0"/>
          <a:chExt cx="0" cy="0"/>
        </a:xfrm>
      </p:grpSpPr>
      <p:sp>
        <p:nvSpPr>
          <p:cNvPr id="1609" name="Google Shape;1609;g34dfdca7dd4_0_4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0" name="Google Shape;1610;g34dfdca7dd4_0_4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Intro"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grpSp>
        <p:nvGrpSpPr>
          <p:cNvPr id="50" name="Google Shape;50;p12"/>
          <p:cNvGrpSpPr/>
          <p:nvPr/>
        </p:nvGrpSpPr>
        <p:grpSpPr>
          <a:xfrm>
            <a:off x="0" y="0"/>
            <a:ext cx="9144000" cy="5143500"/>
            <a:chOff x="0" y="0"/>
            <a:chExt cx="9144000" cy="5143500"/>
          </a:xfrm>
        </p:grpSpPr>
        <p:pic>
          <p:nvPicPr>
            <p:cNvPr id="51" name="Google Shape;51;p12" descr="77,400+ Group Of People Icon Color Stock Illustrations ..."/>
            <p:cNvPicPr preferRelativeResize="0"/>
            <p:nvPr/>
          </p:nvPicPr>
          <p:blipFill rotWithShape="1">
            <a:blip r:embed="rId2">
              <a:alphaModFix amt="10000"/>
            </a:blip>
            <a:srcRect l="10043" t="76037" r="12879"/>
            <a:stretch/>
          </p:blipFill>
          <p:spPr>
            <a:xfrm>
              <a:off x="0" y="0"/>
              <a:ext cx="9144000" cy="3400624"/>
            </a:xfrm>
            <a:prstGeom prst="rect">
              <a:avLst/>
            </a:prstGeom>
            <a:noFill/>
            <a:ln>
              <a:noFill/>
            </a:ln>
          </p:spPr>
        </p:pic>
        <p:pic>
          <p:nvPicPr>
            <p:cNvPr id="52" name="Google Shape;52;p12" descr="77,400+ Group Of People Icon Color Stock Illustrations ..."/>
            <p:cNvPicPr preferRelativeResize="0"/>
            <p:nvPr/>
          </p:nvPicPr>
          <p:blipFill rotWithShape="1">
            <a:blip r:embed="rId2">
              <a:alphaModFix amt="10000"/>
            </a:blip>
            <a:srcRect l="7237" t="73975" r="15685" b="19222"/>
            <a:stretch/>
          </p:blipFill>
          <p:spPr>
            <a:xfrm>
              <a:off x="0" y="4178250"/>
              <a:ext cx="9144000" cy="965250"/>
            </a:xfrm>
            <a:prstGeom prst="rect">
              <a:avLst/>
            </a:prstGeom>
            <a:noFill/>
            <a:ln>
              <a:noFill/>
            </a:ln>
          </p:spPr>
        </p:pic>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Intro darker">
  <p:cSld name="BLANK_2">
    <p:spTree>
      <p:nvGrpSpPr>
        <p:cNvPr id="1" name="Shape 53"/>
        <p:cNvGrpSpPr/>
        <p:nvPr/>
      </p:nvGrpSpPr>
      <p:grpSpPr>
        <a:xfrm>
          <a:off x="0" y="0"/>
          <a:ext cx="0" cy="0"/>
          <a:chOff x="0" y="0"/>
          <a:chExt cx="0" cy="0"/>
        </a:xfrm>
      </p:grpSpPr>
      <p:sp>
        <p:nvSpPr>
          <p:cNvPr id="54" name="Google Shape;54;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grpSp>
        <p:nvGrpSpPr>
          <p:cNvPr id="55" name="Google Shape;55;p13"/>
          <p:cNvGrpSpPr/>
          <p:nvPr/>
        </p:nvGrpSpPr>
        <p:grpSpPr>
          <a:xfrm>
            <a:off x="0" y="0"/>
            <a:ext cx="9144000" cy="5143500"/>
            <a:chOff x="0" y="0"/>
            <a:chExt cx="9144000" cy="5143500"/>
          </a:xfrm>
        </p:grpSpPr>
        <p:pic>
          <p:nvPicPr>
            <p:cNvPr id="56" name="Google Shape;56;p13" descr="77,400+ Group Of People Icon Color Stock Illustrations ..."/>
            <p:cNvPicPr preferRelativeResize="0"/>
            <p:nvPr/>
          </p:nvPicPr>
          <p:blipFill rotWithShape="1">
            <a:blip r:embed="rId2">
              <a:alphaModFix amt="30000"/>
            </a:blip>
            <a:srcRect l="10043" t="76037" r="12879"/>
            <a:stretch/>
          </p:blipFill>
          <p:spPr>
            <a:xfrm>
              <a:off x="0" y="0"/>
              <a:ext cx="9144000" cy="3400624"/>
            </a:xfrm>
            <a:prstGeom prst="rect">
              <a:avLst/>
            </a:prstGeom>
            <a:noFill/>
            <a:ln>
              <a:noFill/>
            </a:ln>
          </p:spPr>
        </p:pic>
        <p:pic>
          <p:nvPicPr>
            <p:cNvPr id="57" name="Google Shape;57;p13" descr="77,400+ Group Of People Icon Color Stock Illustrations ..."/>
            <p:cNvPicPr preferRelativeResize="0"/>
            <p:nvPr/>
          </p:nvPicPr>
          <p:blipFill rotWithShape="1">
            <a:blip r:embed="rId2">
              <a:alphaModFix amt="30000"/>
            </a:blip>
            <a:srcRect l="7237" t="73975" r="15685" b="19222"/>
            <a:stretch/>
          </p:blipFill>
          <p:spPr>
            <a:xfrm>
              <a:off x="0" y="4178250"/>
              <a:ext cx="9144000" cy="965250"/>
            </a:xfrm>
            <a:prstGeom prst="rect">
              <a:avLst/>
            </a:prstGeom>
            <a:noFill/>
            <a:ln>
              <a:noFill/>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Intro 2">
  <p:cSld name="BLANK_1">
    <p:spTree>
      <p:nvGrpSpPr>
        <p:cNvPr id="1" name="Shape 58"/>
        <p:cNvGrpSpPr/>
        <p:nvPr/>
      </p:nvGrpSpPr>
      <p:grpSpPr>
        <a:xfrm>
          <a:off x="0" y="0"/>
          <a:ext cx="0" cy="0"/>
          <a:chOff x="0" y="0"/>
          <a:chExt cx="0" cy="0"/>
        </a:xfrm>
      </p:grpSpPr>
      <p:sp>
        <p:nvSpPr>
          <p:cNvPr id="59" name="Google Shape;59;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60" name="Google Shape;60;p14" descr="77,400+ Group Of People Icon Color Stock Illustrations ..."/>
          <p:cNvPicPr preferRelativeResize="0"/>
          <p:nvPr/>
        </p:nvPicPr>
        <p:blipFill rotWithShape="1">
          <a:blip r:embed="rId2">
            <a:alphaModFix amt="20000"/>
          </a:blip>
          <a:srcRect l="7237" t="73975" r="15685" b="19222"/>
          <a:stretch/>
        </p:blipFill>
        <p:spPr>
          <a:xfrm>
            <a:off x="0" y="4178250"/>
            <a:ext cx="9144000" cy="96525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Road">
  <p:cSld name="BLANK_1_2">
    <p:spTree>
      <p:nvGrpSpPr>
        <p:cNvPr id="1" name="Shape 61"/>
        <p:cNvGrpSpPr/>
        <p:nvPr/>
      </p:nvGrpSpPr>
      <p:grpSpPr>
        <a:xfrm>
          <a:off x="0" y="0"/>
          <a:ext cx="0" cy="0"/>
          <a:chOff x="0" y="0"/>
          <a:chExt cx="0" cy="0"/>
        </a:xfrm>
      </p:grpSpPr>
      <p:sp>
        <p:nvSpPr>
          <p:cNvPr id="62" name="Google Shape;62;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63" name="Google Shape;63;p15" descr="77,400+ Group Of People Icon Color Stock Illustrations ..."/>
          <p:cNvPicPr preferRelativeResize="0"/>
          <p:nvPr/>
        </p:nvPicPr>
        <p:blipFill rotWithShape="1">
          <a:blip r:embed="rId2">
            <a:alphaModFix amt="20000"/>
          </a:blip>
          <a:srcRect l="7237" t="73975" r="15685" b="19222"/>
          <a:stretch/>
        </p:blipFill>
        <p:spPr>
          <a:xfrm>
            <a:off x="0" y="4178250"/>
            <a:ext cx="9144000" cy="965250"/>
          </a:xfrm>
          <a:prstGeom prst="rect">
            <a:avLst/>
          </a:prstGeom>
          <a:noFill/>
          <a:ln>
            <a:noFill/>
          </a:ln>
        </p:spPr>
      </p:pic>
      <p:grpSp>
        <p:nvGrpSpPr>
          <p:cNvPr id="64" name="Google Shape;64;p15"/>
          <p:cNvGrpSpPr/>
          <p:nvPr/>
        </p:nvGrpSpPr>
        <p:grpSpPr>
          <a:xfrm>
            <a:off x="2006600" y="-695325"/>
            <a:ext cx="6594945" cy="6930799"/>
            <a:chOff x="3225800" y="-466725"/>
            <a:chExt cx="6594945" cy="6930799"/>
          </a:xfrm>
        </p:grpSpPr>
        <p:sp>
          <p:nvSpPr>
            <p:cNvPr id="65" name="Google Shape;65;p15"/>
            <p:cNvSpPr/>
            <p:nvPr/>
          </p:nvSpPr>
          <p:spPr>
            <a:xfrm>
              <a:off x="3225800" y="-466725"/>
              <a:ext cx="6594945" cy="6930799"/>
            </a:xfrm>
            <a:custGeom>
              <a:avLst/>
              <a:gdLst/>
              <a:ahLst/>
              <a:cxnLst/>
              <a:rect l="l" t="t" r="r" b="b"/>
              <a:pathLst>
                <a:path w="308139" h="205738" extrusionOk="0">
                  <a:moveTo>
                    <a:pt x="0" y="205738"/>
                  </a:moveTo>
                  <a:cubicBezTo>
                    <a:pt x="13440" y="200918"/>
                    <a:pt x="71462" y="191156"/>
                    <a:pt x="80641" y="176818"/>
                  </a:cubicBezTo>
                  <a:cubicBezTo>
                    <a:pt x="89820" y="162480"/>
                    <a:pt x="47308" y="132822"/>
                    <a:pt x="55072" y="119708"/>
                  </a:cubicBezTo>
                  <a:cubicBezTo>
                    <a:pt x="62836" y="106594"/>
                    <a:pt x="113513" y="110275"/>
                    <a:pt x="127226" y="98133"/>
                  </a:cubicBezTo>
                  <a:cubicBezTo>
                    <a:pt x="140939" y="85991"/>
                    <a:pt x="107200" y="63214"/>
                    <a:pt x="137352" y="46858"/>
                  </a:cubicBezTo>
                  <a:cubicBezTo>
                    <a:pt x="167504" y="30503"/>
                    <a:pt x="279675" y="7810"/>
                    <a:pt x="308139" y="0"/>
                  </a:cubicBezTo>
                </a:path>
              </a:pathLst>
            </a:custGeom>
            <a:noFill/>
            <a:ln w="228600" cap="flat" cmpd="sng">
              <a:solidFill>
                <a:srgbClr val="666666"/>
              </a:solidFill>
              <a:prstDash val="solid"/>
              <a:round/>
              <a:headEnd type="none" w="med" len="med"/>
              <a:tailEnd type="none" w="med" len="med"/>
            </a:ln>
          </p:spPr>
        </p:sp>
        <p:sp>
          <p:nvSpPr>
            <p:cNvPr id="66" name="Google Shape;66;p15"/>
            <p:cNvSpPr/>
            <p:nvPr/>
          </p:nvSpPr>
          <p:spPr>
            <a:xfrm>
              <a:off x="3225800" y="-466725"/>
              <a:ext cx="6594945" cy="6930799"/>
            </a:xfrm>
            <a:custGeom>
              <a:avLst/>
              <a:gdLst/>
              <a:ahLst/>
              <a:cxnLst/>
              <a:rect l="l" t="t" r="r" b="b"/>
              <a:pathLst>
                <a:path w="308139" h="205738" extrusionOk="0">
                  <a:moveTo>
                    <a:pt x="0" y="205738"/>
                  </a:moveTo>
                  <a:cubicBezTo>
                    <a:pt x="13440" y="200918"/>
                    <a:pt x="71462" y="191156"/>
                    <a:pt x="80641" y="176818"/>
                  </a:cubicBezTo>
                  <a:cubicBezTo>
                    <a:pt x="89820" y="162480"/>
                    <a:pt x="47308" y="132822"/>
                    <a:pt x="55072" y="119708"/>
                  </a:cubicBezTo>
                  <a:cubicBezTo>
                    <a:pt x="62836" y="106594"/>
                    <a:pt x="113513" y="110275"/>
                    <a:pt x="127226" y="98133"/>
                  </a:cubicBezTo>
                  <a:cubicBezTo>
                    <a:pt x="140939" y="85991"/>
                    <a:pt x="107200" y="63214"/>
                    <a:pt x="137352" y="46858"/>
                  </a:cubicBezTo>
                  <a:cubicBezTo>
                    <a:pt x="167504" y="30503"/>
                    <a:pt x="279675" y="7810"/>
                    <a:pt x="308139" y="0"/>
                  </a:cubicBezTo>
                </a:path>
              </a:pathLst>
            </a:custGeom>
            <a:noFill/>
            <a:ln w="19050" cap="flat" cmpd="sng">
              <a:solidFill>
                <a:schemeClr val="lt1"/>
              </a:solidFill>
              <a:prstDash val="lgDash"/>
              <a:round/>
              <a:headEnd type="none" w="med" len="med"/>
              <a:tailEnd type="none" w="med" len="med"/>
            </a:ln>
          </p:spPr>
        </p:sp>
      </p:grpSp>
      <p:grpSp>
        <p:nvGrpSpPr>
          <p:cNvPr id="67" name="Google Shape;67;p15"/>
          <p:cNvGrpSpPr/>
          <p:nvPr/>
        </p:nvGrpSpPr>
        <p:grpSpPr>
          <a:xfrm rot="308243">
            <a:off x="3641731" y="3718453"/>
            <a:ext cx="364856" cy="898195"/>
            <a:chOff x="3662669" y="1330712"/>
            <a:chExt cx="1910567" cy="4703400"/>
          </a:xfrm>
        </p:grpSpPr>
        <p:sp>
          <p:nvSpPr>
            <p:cNvPr id="68" name="Google Shape;68;p15"/>
            <p:cNvSpPr/>
            <p:nvPr/>
          </p:nvSpPr>
          <p:spPr>
            <a:xfrm rot="-4687238">
              <a:off x="2302871" y="3571738"/>
              <a:ext cx="4759738" cy="221348"/>
            </a:xfrm>
            <a:prstGeom prst="parallelogram">
              <a:avLst>
                <a:gd name="adj" fmla="val 82402"/>
              </a:avLst>
            </a:prstGeom>
            <a:solidFill>
              <a:schemeClr val="l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9" name="Google Shape;69;p15"/>
            <p:cNvSpPr/>
            <p:nvPr/>
          </p:nvSpPr>
          <p:spPr>
            <a:xfrm rot="1759657" flipH="1">
              <a:off x="3993059" y="1758319"/>
              <a:ext cx="1522654" cy="632927"/>
            </a:xfrm>
            <a:prstGeom prst="homePlate">
              <a:avLst>
                <a:gd name="adj" fmla="val 50000"/>
              </a:avLst>
            </a:prstGeom>
            <a:solidFill>
              <a:schemeClr val="l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0" name="Google Shape;70;p15"/>
            <p:cNvSpPr/>
            <p:nvPr/>
          </p:nvSpPr>
          <p:spPr>
            <a:xfrm rot="2589473" flipH="1">
              <a:off x="3559604" y="2764108"/>
              <a:ext cx="1999529" cy="489209"/>
            </a:xfrm>
            <a:prstGeom prst="homePlate">
              <a:avLst>
                <a:gd name="adj" fmla="val 50000"/>
              </a:avLst>
            </a:prstGeom>
            <a:solidFill>
              <a:schemeClr val="l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pic>
        <p:nvPicPr>
          <p:cNvPr id="71" name="Google Shape;71;p15"/>
          <p:cNvPicPr preferRelativeResize="0"/>
          <p:nvPr/>
        </p:nvPicPr>
        <p:blipFill rotWithShape="1">
          <a:blip r:embed="rId3">
            <a:alphaModFix amt="86000"/>
          </a:blip>
          <a:srcRect l="19104" r="21839"/>
          <a:stretch/>
        </p:blipFill>
        <p:spPr>
          <a:xfrm flipH="1">
            <a:off x="2476500" y="3757100"/>
            <a:ext cx="727375" cy="123167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p:cSld name="BLANK_1_1">
    <p:spTree>
      <p:nvGrpSpPr>
        <p:cNvPr id="1" name="Shape 72"/>
        <p:cNvGrpSpPr/>
        <p:nvPr/>
      </p:nvGrpSpPr>
      <p:grpSpPr>
        <a:xfrm>
          <a:off x="0" y="0"/>
          <a:ext cx="0" cy="0"/>
          <a:chOff x="0" y="0"/>
          <a:chExt cx="0" cy="0"/>
        </a:xfrm>
      </p:grpSpPr>
      <p:sp>
        <p:nvSpPr>
          <p:cNvPr id="73" name="Google Shape;73;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3.xml"/><Relationship Id="rId1" Type="http://schemas.openxmlformats.org/officeDocument/2006/relationships/slideLayout" Target="../slideLayouts/slideLayout13.xml"/><Relationship Id="rId5" Type="http://schemas.openxmlformats.org/officeDocument/2006/relationships/hyperlink" Target="https://www.fbi.gov/how-we-can-help-you/scams-and-safety/common-frauds-and-scams/elder-fraud" TargetMode="Externa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hyperlink" Target="https://www.fbi.gov/how-we-can-help-you/scams-and-safety/common-frauds-and-scams/elder-fraud" TargetMode="Externa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hyperlink" Target="https://www.fbi.gov/how-we-can-help-you/scams-and-safety/common-frauds-and-scams/elder-fraud" TargetMode="External"/><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hyperlink" Target="https://www.fbi.gov/how-we-can-help-you/scams-and-safety/common-frauds-and-scams/elder-fraud" TargetMode="Externa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9.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0.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47.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8.xml"/><Relationship Id="rId1" Type="http://schemas.openxmlformats.org/officeDocument/2006/relationships/slideLayout" Target="../slideLayouts/slideLayout13.xml"/><Relationship Id="rId4" Type="http://schemas.openxmlformats.org/officeDocument/2006/relationships/image" Target="../media/image17.jpg"/></Relationships>
</file>

<file path=ppt/slides/_rels/slide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9.xml"/><Relationship Id="rId1" Type="http://schemas.openxmlformats.org/officeDocument/2006/relationships/slideLayout" Target="../slideLayouts/slideLayout13.xml"/><Relationship Id="rId4" Type="http://schemas.openxmlformats.org/officeDocument/2006/relationships/image" Target="../media/image17.jpg"/></Relationships>
</file>

<file path=ppt/slides/_rels/slide5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6.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5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7.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5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8.xml"/><Relationship Id="rId1" Type="http://schemas.openxmlformats.org/officeDocument/2006/relationships/slideLayout" Target="../slideLayouts/slideLayout13.xml"/><Relationship Id="rId5" Type="http://schemas.openxmlformats.org/officeDocument/2006/relationships/image" Target="../media/image21.png"/><Relationship Id="rId4" Type="http://schemas.openxmlformats.org/officeDocument/2006/relationships/image" Target="../media/image15.png"/></Relationships>
</file>

<file path=ppt/slides/_rels/slide5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9.xml"/><Relationship Id="rId1" Type="http://schemas.openxmlformats.org/officeDocument/2006/relationships/slideLayout" Target="../slideLayouts/slideLayout13.xml"/><Relationship Id="rId5" Type="http://schemas.openxmlformats.org/officeDocument/2006/relationships/image" Target="../media/image21.png"/><Relationship Id="rId4" Type="http://schemas.openxmlformats.org/officeDocument/2006/relationships/image" Target="../media/image15.png"/></Relationships>
</file>

<file path=ppt/slides/_rels/slide6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0.xml"/><Relationship Id="rId1" Type="http://schemas.openxmlformats.org/officeDocument/2006/relationships/slideLayout" Target="../slideLayouts/slideLayout13.xml"/><Relationship Id="rId5" Type="http://schemas.openxmlformats.org/officeDocument/2006/relationships/image" Target="../media/image21.png"/><Relationship Id="rId4" Type="http://schemas.openxmlformats.org/officeDocument/2006/relationships/image" Target="../media/image15.png"/></Relationships>
</file>

<file path=ppt/slides/_rels/slide6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1.xml"/><Relationship Id="rId1" Type="http://schemas.openxmlformats.org/officeDocument/2006/relationships/slideLayout" Target="../slideLayouts/slideLayout1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5.png"/></Relationships>
</file>

<file path=ppt/slides/_rels/slide6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2.xml"/><Relationship Id="rId1" Type="http://schemas.openxmlformats.org/officeDocument/2006/relationships/slideLayout" Target="../slideLayouts/slideLayout1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5.png"/></Relationships>
</file>

<file path=ppt/slides/_rels/slide6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3.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6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4.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0.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7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1.xml"/><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25.png"/><Relationship Id="rId4" Type="http://schemas.openxmlformats.org/officeDocument/2006/relationships/image" Target="../media/image24.png"/></Relationships>
</file>

<file path=ppt/slides/_rels/slide7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2.xml"/><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25.png"/><Relationship Id="rId4" Type="http://schemas.openxmlformats.org/officeDocument/2006/relationships/image" Target="../media/image24.png"/></Relationships>
</file>

<file path=ppt/slides/_rels/slide7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3.xml"/><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25.png"/><Relationship Id="rId4" Type="http://schemas.openxmlformats.org/officeDocument/2006/relationships/image" Target="../media/image24.png"/></Relationships>
</file>

<file path=ppt/slides/_rels/slide7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4.xml"/><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25.png"/><Relationship Id="rId4" Type="http://schemas.openxmlformats.org/officeDocument/2006/relationships/image" Target="../media/image24.png"/></Relationships>
</file>

<file path=ppt/slides/_rels/slide7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5.xml"/><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25.png"/><Relationship Id="rId4" Type="http://schemas.openxmlformats.org/officeDocument/2006/relationships/image" Target="../media/image24.png"/></Relationships>
</file>

<file path=ppt/slides/_rels/slide7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6.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8.xml"/><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25.png"/><Relationship Id="rId4" Type="http://schemas.openxmlformats.org/officeDocument/2006/relationships/image" Target="../media/image15.png"/></Relationships>
</file>

<file path=ppt/slides/_rels/slide7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0.png"/><Relationship Id="rId7" Type="http://schemas.openxmlformats.org/officeDocument/2006/relationships/image" Target="../media/image22.png"/><Relationship Id="rId2" Type="http://schemas.openxmlformats.org/officeDocument/2006/relationships/notesSlide" Target="../notesSlides/notesSlide79.xml"/><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25.png"/><Relationship Id="rId4" Type="http://schemas.openxmlformats.org/officeDocument/2006/relationships/image" Target="../media/image15.png"/></Relationships>
</file>

<file path=ppt/slides/_rels/slide8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0.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2.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3.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a:spLocks noGrp="1"/>
          </p:cNvSpPr>
          <p:nvPr>
            <p:ph type="ctrTitle" idx="4294967295"/>
          </p:nvPr>
        </p:nvSpPr>
        <p:spPr>
          <a:xfrm>
            <a:off x="371475" y="299975"/>
            <a:ext cx="8397600" cy="20526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2900" b="1"/>
              <a:t>Age-Related Differences in Neural Responses during the Ultimatum Game </a:t>
            </a:r>
            <a:endParaRPr sz="2900" b="1"/>
          </a:p>
        </p:txBody>
      </p:sp>
      <p:sp>
        <p:nvSpPr>
          <p:cNvPr id="79" name="Google Shape;79;p17"/>
          <p:cNvSpPr txBox="1">
            <a:spLocks noGrp="1"/>
          </p:cNvSpPr>
          <p:nvPr>
            <p:ph type="subTitle" idx="4294967295"/>
          </p:nvPr>
        </p:nvSpPr>
        <p:spPr>
          <a:xfrm>
            <a:off x="371475" y="2259700"/>
            <a:ext cx="5452500" cy="79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Yi “Jen” Yang</a:t>
            </a:r>
            <a:endParaRPr sz="1700">
              <a:solidFill>
                <a:schemeClr val="dk1"/>
              </a:solidFill>
            </a:endParaRPr>
          </a:p>
          <a:p>
            <a:pPr marL="0" lvl="0" indent="0" algn="l" rtl="0">
              <a:spcBef>
                <a:spcPts val="0"/>
              </a:spcBef>
              <a:spcAft>
                <a:spcPts val="0"/>
              </a:spcAft>
              <a:buNone/>
            </a:pPr>
            <a:r>
              <a:rPr lang="en" sz="1700">
                <a:solidFill>
                  <a:schemeClr val="dk1"/>
                </a:solidFill>
              </a:rPr>
              <a:t>Neuroeconomics Lab (PI: David V. Smith)</a:t>
            </a:r>
            <a:endParaRPr sz="1700">
              <a:solidFill>
                <a:schemeClr val="dk1"/>
              </a:solidFill>
            </a:endParaRPr>
          </a:p>
          <a:p>
            <a:pPr marL="0" lvl="0" indent="0" algn="l" rtl="0">
              <a:spcBef>
                <a:spcPts val="0"/>
              </a:spcBef>
              <a:spcAft>
                <a:spcPts val="0"/>
              </a:spcAft>
              <a:buNone/>
            </a:pPr>
            <a:r>
              <a:rPr lang="en" sz="1700">
                <a:solidFill>
                  <a:schemeClr val="dk1"/>
                </a:solidFill>
              </a:rPr>
              <a:t>Temple University</a:t>
            </a:r>
            <a:endParaRPr sz="1700">
              <a:solidFill>
                <a:schemeClr val="dk1"/>
              </a:solidFill>
            </a:endParaRPr>
          </a:p>
          <a:p>
            <a:pPr marL="0" lvl="0" indent="0" algn="l" rtl="0">
              <a:spcBef>
                <a:spcPts val="0"/>
              </a:spcBef>
              <a:spcAft>
                <a:spcPts val="0"/>
              </a:spcAft>
              <a:buNone/>
            </a:pPr>
            <a:r>
              <a:rPr lang="en" sz="1700">
                <a:solidFill>
                  <a:schemeClr val="dk1"/>
                </a:solidFill>
              </a:rPr>
              <a:t>4.26.2025</a:t>
            </a:r>
            <a:endParaRPr sz="1700">
              <a:solidFill>
                <a:schemeClr val="dk1"/>
              </a:solidFill>
            </a:endParaRPr>
          </a:p>
        </p:txBody>
      </p:sp>
      <p:sp>
        <p:nvSpPr>
          <p:cNvPr id="80" name="Google Shape;80;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8"/>
          <p:cNvSpPr/>
          <p:nvPr/>
        </p:nvSpPr>
        <p:spPr>
          <a:xfrm>
            <a:off x="433300" y="321751"/>
            <a:ext cx="8277300" cy="4531200"/>
          </a:xfrm>
          <a:prstGeom prst="rect">
            <a:avLst/>
          </a:prstGeom>
          <a:solidFill>
            <a:srgbClr val="F0F0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6" name="Google Shape;86;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a:t>
            </a:fld>
            <a:endParaRPr/>
          </a:p>
        </p:txBody>
      </p:sp>
      <p:grpSp>
        <p:nvGrpSpPr>
          <p:cNvPr id="87" name="Google Shape;87;p18"/>
          <p:cNvGrpSpPr/>
          <p:nvPr/>
        </p:nvGrpSpPr>
        <p:grpSpPr>
          <a:xfrm>
            <a:off x="997350" y="1107300"/>
            <a:ext cx="2608512" cy="2719200"/>
            <a:chOff x="855363" y="1107300"/>
            <a:chExt cx="2608512" cy="2719200"/>
          </a:xfrm>
        </p:grpSpPr>
        <p:sp>
          <p:nvSpPr>
            <p:cNvPr id="88" name="Google Shape;88;p18"/>
            <p:cNvSpPr/>
            <p:nvPr/>
          </p:nvSpPr>
          <p:spPr>
            <a:xfrm>
              <a:off x="855375" y="1107300"/>
              <a:ext cx="2608500" cy="2719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89" name="Google Shape;89;p18"/>
            <p:cNvPicPr preferRelativeResize="0"/>
            <p:nvPr/>
          </p:nvPicPr>
          <p:blipFill rotWithShape="1">
            <a:blip r:embed="rId3">
              <a:alphaModFix/>
            </a:blip>
            <a:srcRect l="5370" t="5220" r="8012" b="-5220"/>
            <a:stretch/>
          </p:blipFill>
          <p:spPr>
            <a:xfrm>
              <a:off x="855363" y="1646100"/>
              <a:ext cx="2598601" cy="1659500"/>
            </a:xfrm>
            <a:prstGeom prst="rect">
              <a:avLst/>
            </a:prstGeom>
            <a:noFill/>
            <a:ln>
              <a:noFill/>
            </a:ln>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9"/>
          <p:cNvSpPr/>
          <p:nvPr/>
        </p:nvSpPr>
        <p:spPr>
          <a:xfrm>
            <a:off x="433300" y="321751"/>
            <a:ext cx="8277300" cy="4531200"/>
          </a:xfrm>
          <a:prstGeom prst="rect">
            <a:avLst/>
          </a:prstGeom>
          <a:solidFill>
            <a:srgbClr val="F0F0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 name="Google Shape;95;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a:t>
            </a:fld>
            <a:endParaRPr/>
          </a:p>
        </p:txBody>
      </p:sp>
      <p:sp>
        <p:nvSpPr>
          <p:cNvPr id="96" name="Google Shape;96;p19"/>
          <p:cNvSpPr txBox="1"/>
          <p:nvPr/>
        </p:nvSpPr>
        <p:spPr>
          <a:xfrm>
            <a:off x="1990637" y="3260750"/>
            <a:ext cx="15399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rPr>
              <a:t>Trapped Buddy</a:t>
            </a:r>
            <a:endParaRPr sz="1800">
              <a:solidFill>
                <a:schemeClr val="dk1"/>
              </a:solidFill>
            </a:endParaRPr>
          </a:p>
        </p:txBody>
      </p:sp>
      <p:sp>
        <p:nvSpPr>
          <p:cNvPr id="97" name="Google Shape;97;p19"/>
          <p:cNvSpPr txBox="1"/>
          <p:nvPr/>
        </p:nvSpPr>
        <p:spPr>
          <a:xfrm>
            <a:off x="997362" y="1252500"/>
            <a:ext cx="15399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rPr>
              <a:t>Saving</a:t>
            </a:r>
            <a:endParaRPr sz="1800">
              <a:solidFill>
                <a:schemeClr val="dk1"/>
              </a:solidFill>
            </a:endParaRPr>
          </a:p>
          <a:p>
            <a:pPr marL="0" lvl="0" indent="0" algn="ctr" rtl="0">
              <a:spcBef>
                <a:spcPts val="0"/>
              </a:spcBef>
              <a:spcAft>
                <a:spcPts val="0"/>
              </a:spcAft>
              <a:buNone/>
            </a:pPr>
            <a:r>
              <a:rPr lang="en" sz="1800">
                <a:solidFill>
                  <a:schemeClr val="dk1"/>
                </a:solidFill>
              </a:rPr>
              <a:t>Hero</a:t>
            </a:r>
            <a:endParaRPr sz="1800">
              <a:solidFill>
                <a:schemeClr val="dk1"/>
              </a:solidFill>
            </a:endParaRPr>
          </a:p>
        </p:txBody>
      </p:sp>
      <p:grpSp>
        <p:nvGrpSpPr>
          <p:cNvPr id="98" name="Google Shape;98;p19"/>
          <p:cNvGrpSpPr/>
          <p:nvPr/>
        </p:nvGrpSpPr>
        <p:grpSpPr>
          <a:xfrm>
            <a:off x="997350" y="1107300"/>
            <a:ext cx="2608512" cy="2719200"/>
            <a:chOff x="855363" y="1107300"/>
            <a:chExt cx="2608512" cy="2719200"/>
          </a:xfrm>
        </p:grpSpPr>
        <p:sp>
          <p:nvSpPr>
            <p:cNvPr id="99" name="Google Shape;99;p19"/>
            <p:cNvSpPr/>
            <p:nvPr/>
          </p:nvSpPr>
          <p:spPr>
            <a:xfrm>
              <a:off x="855375" y="1107300"/>
              <a:ext cx="2608500" cy="2719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00" name="Google Shape;100;p19"/>
            <p:cNvPicPr preferRelativeResize="0"/>
            <p:nvPr/>
          </p:nvPicPr>
          <p:blipFill rotWithShape="1">
            <a:blip r:embed="rId3">
              <a:alphaModFix/>
            </a:blip>
            <a:srcRect l="5370" t="5220" r="8012" b="-5220"/>
            <a:stretch/>
          </p:blipFill>
          <p:spPr>
            <a:xfrm>
              <a:off x="855363" y="1646100"/>
              <a:ext cx="2598601" cy="1659500"/>
            </a:xfrm>
            <a:prstGeom prst="rect">
              <a:avLst/>
            </a:prstGeom>
            <a:noFill/>
            <a:ln>
              <a:noFill/>
            </a:ln>
          </p:spPr>
        </p:pic>
      </p:grpSp>
      <p:grpSp>
        <p:nvGrpSpPr>
          <p:cNvPr id="101" name="Google Shape;101;p19"/>
          <p:cNvGrpSpPr/>
          <p:nvPr/>
        </p:nvGrpSpPr>
        <p:grpSpPr>
          <a:xfrm>
            <a:off x="997362" y="1252500"/>
            <a:ext cx="2533175" cy="2401850"/>
            <a:chOff x="855375" y="1252500"/>
            <a:chExt cx="2533175" cy="2401850"/>
          </a:xfrm>
        </p:grpSpPr>
        <p:sp>
          <p:nvSpPr>
            <p:cNvPr id="102" name="Google Shape;102;p19"/>
            <p:cNvSpPr txBox="1"/>
            <p:nvPr/>
          </p:nvSpPr>
          <p:spPr>
            <a:xfrm>
              <a:off x="855375" y="1252500"/>
              <a:ext cx="15399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rPr>
                <a:t>Saving</a:t>
              </a:r>
              <a:endParaRPr sz="1800">
                <a:solidFill>
                  <a:schemeClr val="dk1"/>
                </a:solidFill>
              </a:endParaRPr>
            </a:p>
            <a:p>
              <a:pPr marL="0" lvl="0" indent="0" algn="ctr" rtl="0">
                <a:spcBef>
                  <a:spcPts val="0"/>
                </a:spcBef>
                <a:spcAft>
                  <a:spcPts val="0"/>
                </a:spcAft>
                <a:buNone/>
              </a:pPr>
              <a:r>
                <a:rPr lang="en" sz="1800">
                  <a:solidFill>
                    <a:schemeClr val="dk1"/>
                  </a:solidFill>
                </a:rPr>
                <a:t>Hero</a:t>
              </a:r>
              <a:endParaRPr sz="1800">
                <a:solidFill>
                  <a:schemeClr val="dk1"/>
                </a:solidFill>
              </a:endParaRPr>
            </a:p>
          </p:txBody>
        </p:sp>
        <p:sp>
          <p:nvSpPr>
            <p:cNvPr id="103" name="Google Shape;103;p19"/>
            <p:cNvSpPr txBox="1"/>
            <p:nvPr/>
          </p:nvSpPr>
          <p:spPr>
            <a:xfrm>
              <a:off x="1848650" y="3260750"/>
              <a:ext cx="15399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rPr>
                <a:t>Trapped Buddy</a:t>
              </a:r>
              <a:endParaRPr sz="1800">
                <a:solidFill>
                  <a:schemeClr val="dk1"/>
                </a:solidFil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0"/>
          <p:cNvSpPr/>
          <p:nvPr/>
        </p:nvSpPr>
        <p:spPr>
          <a:xfrm>
            <a:off x="433300" y="321751"/>
            <a:ext cx="8277300" cy="4531200"/>
          </a:xfrm>
          <a:prstGeom prst="rect">
            <a:avLst/>
          </a:prstGeom>
          <a:solidFill>
            <a:srgbClr val="F0F0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 name="Google Shape;109;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a:t>
            </a:fld>
            <a:endParaRPr/>
          </a:p>
        </p:txBody>
      </p:sp>
      <p:grpSp>
        <p:nvGrpSpPr>
          <p:cNvPr id="110" name="Google Shape;110;p20"/>
          <p:cNvGrpSpPr/>
          <p:nvPr/>
        </p:nvGrpSpPr>
        <p:grpSpPr>
          <a:xfrm>
            <a:off x="997350" y="1107300"/>
            <a:ext cx="7149288" cy="2719200"/>
            <a:chOff x="855363" y="1107300"/>
            <a:chExt cx="7149288" cy="2719200"/>
          </a:xfrm>
        </p:grpSpPr>
        <p:grpSp>
          <p:nvGrpSpPr>
            <p:cNvPr id="111" name="Google Shape;111;p20"/>
            <p:cNvGrpSpPr/>
            <p:nvPr/>
          </p:nvGrpSpPr>
          <p:grpSpPr>
            <a:xfrm>
              <a:off x="855363" y="1107300"/>
              <a:ext cx="2608512" cy="2719200"/>
              <a:chOff x="855363" y="1107300"/>
              <a:chExt cx="2608512" cy="2719200"/>
            </a:xfrm>
          </p:grpSpPr>
          <p:sp>
            <p:nvSpPr>
              <p:cNvPr id="112" name="Google Shape;112;p20"/>
              <p:cNvSpPr/>
              <p:nvPr/>
            </p:nvSpPr>
            <p:spPr>
              <a:xfrm>
                <a:off x="855375" y="1107300"/>
                <a:ext cx="2608500" cy="2719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13" name="Google Shape;113;p20"/>
              <p:cNvPicPr preferRelativeResize="0"/>
              <p:nvPr/>
            </p:nvPicPr>
            <p:blipFill rotWithShape="1">
              <a:blip r:embed="rId3">
                <a:alphaModFix/>
              </a:blip>
              <a:srcRect l="5370" t="5220" r="8012" b="-5220"/>
              <a:stretch/>
            </p:blipFill>
            <p:spPr>
              <a:xfrm>
                <a:off x="855363" y="1646100"/>
                <a:ext cx="2598601" cy="1659500"/>
              </a:xfrm>
              <a:prstGeom prst="rect">
                <a:avLst/>
              </a:prstGeom>
              <a:noFill/>
              <a:ln>
                <a:noFill/>
              </a:ln>
            </p:spPr>
          </p:pic>
          <p:sp>
            <p:nvSpPr>
              <p:cNvPr id="114" name="Google Shape;114;p20"/>
              <p:cNvSpPr txBox="1"/>
              <p:nvPr/>
            </p:nvSpPr>
            <p:spPr>
              <a:xfrm>
                <a:off x="855375" y="1252500"/>
                <a:ext cx="15399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rPr>
                  <a:t>Saving</a:t>
                </a:r>
                <a:endParaRPr sz="1800">
                  <a:solidFill>
                    <a:schemeClr val="dk1"/>
                  </a:solidFill>
                </a:endParaRPr>
              </a:p>
              <a:p>
                <a:pPr marL="0" lvl="0" indent="0" algn="ctr" rtl="0">
                  <a:spcBef>
                    <a:spcPts val="0"/>
                  </a:spcBef>
                  <a:spcAft>
                    <a:spcPts val="0"/>
                  </a:spcAft>
                  <a:buNone/>
                </a:pPr>
                <a:r>
                  <a:rPr lang="en" sz="1800">
                    <a:solidFill>
                      <a:schemeClr val="dk1"/>
                    </a:solidFill>
                  </a:rPr>
                  <a:t>Hero</a:t>
                </a:r>
                <a:endParaRPr sz="1800">
                  <a:solidFill>
                    <a:schemeClr val="dk1"/>
                  </a:solidFill>
                </a:endParaRPr>
              </a:p>
            </p:txBody>
          </p:sp>
          <p:sp>
            <p:nvSpPr>
              <p:cNvPr id="115" name="Google Shape;115;p20"/>
              <p:cNvSpPr txBox="1"/>
              <p:nvPr/>
            </p:nvSpPr>
            <p:spPr>
              <a:xfrm>
                <a:off x="1848650" y="3260750"/>
                <a:ext cx="15399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rPr>
                  <a:t>Trapped Buddy</a:t>
                </a:r>
                <a:endParaRPr sz="1800">
                  <a:solidFill>
                    <a:schemeClr val="dk1"/>
                  </a:solidFill>
                </a:endParaRPr>
              </a:p>
            </p:txBody>
          </p:sp>
        </p:grpSp>
        <p:grpSp>
          <p:nvGrpSpPr>
            <p:cNvPr id="116" name="Google Shape;116;p20"/>
            <p:cNvGrpSpPr/>
            <p:nvPr/>
          </p:nvGrpSpPr>
          <p:grpSpPr>
            <a:xfrm>
              <a:off x="5396150" y="1107300"/>
              <a:ext cx="2608500" cy="2719200"/>
              <a:chOff x="4325975" y="1212150"/>
              <a:chExt cx="2608500" cy="2719200"/>
            </a:xfrm>
          </p:grpSpPr>
          <p:sp>
            <p:nvSpPr>
              <p:cNvPr id="117" name="Google Shape;117;p20"/>
              <p:cNvSpPr/>
              <p:nvPr/>
            </p:nvSpPr>
            <p:spPr>
              <a:xfrm>
                <a:off x="4325975" y="1212150"/>
                <a:ext cx="2608500" cy="27192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18" name="Google Shape;118;p20" descr="Helping Hand&quot; Images – Browse 64,765 Stock Photos, Vectors, and Video |  Adobe Stock"/>
              <p:cNvPicPr preferRelativeResize="0"/>
              <p:nvPr/>
            </p:nvPicPr>
            <p:blipFill>
              <a:blip r:embed="rId4">
                <a:alphaModFix/>
              </a:blip>
              <a:stretch>
                <a:fillRect/>
              </a:stretch>
            </p:blipFill>
            <p:spPr>
              <a:xfrm>
                <a:off x="4325975" y="1841636"/>
                <a:ext cx="2608500" cy="1659450"/>
              </a:xfrm>
              <a:prstGeom prst="rect">
                <a:avLst/>
              </a:prstGeom>
              <a:noFill/>
              <a:ln>
                <a:noFill/>
              </a:ln>
            </p:spPr>
          </p:pic>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1"/>
          <p:cNvSpPr/>
          <p:nvPr/>
        </p:nvSpPr>
        <p:spPr>
          <a:xfrm>
            <a:off x="433300" y="321751"/>
            <a:ext cx="8277300" cy="4531200"/>
          </a:xfrm>
          <a:prstGeom prst="rect">
            <a:avLst/>
          </a:prstGeom>
          <a:solidFill>
            <a:srgbClr val="F0F0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4" name="Google Shape;124;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a:t>
            </a:fld>
            <a:endParaRPr/>
          </a:p>
        </p:txBody>
      </p:sp>
      <p:grpSp>
        <p:nvGrpSpPr>
          <p:cNvPr id="125" name="Google Shape;125;p21"/>
          <p:cNvGrpSpPr/>
          <p:nvPr/>
        </p:nvGrpSpPr>
        <p:grpSpPr>
          <a:xfrm>
            <a:off x="997350" y="1052941"/>
            <a:ext cx="7149288" cy="2851184"/>
            <a:chOff x="855363" y="1052941"/>
            <a:chExt cx="7149288" cy="2851184"/>
          </a:xfrm>
        </p:grpSpPr>
        <p:grpSp>
          <p:nvGrpSpPr>
            <p:cNvPr id="126" name="Google Shape;126;p21"/>
            <p:cNvGrpSpPr/>
            <p:nvPr/>
          </p:nvGrpSpPr>
          <p:grpSpPr>
            <a:xfrm>
              <a:off x="855363" y="1107300"/>
              <a:ext cx="2608512" cy="2719200"/>
              <a:chOff x="855363" y="1107300"/>
              <a:chExt cx="2608512" cy="2719200"/>
            </a:xfrm>
          </p:grpSpPr>
          <p:sp>
            <p:nvSpPr>
              <p:cNvPr id="127" name="Google Shape;127;p21"/>
              <p:cNvSpPr/>
              <p:nvPr/>
            </p:nvSpPr>
            <p:spPr>
              <a:xfrm>
                <a:off x="855375" y="1107300"/>
                <a:ext cx="2608500" cy="2719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28" name="Google Shape;128;p21"/>
              <p:cNvPicPr preferRelativeResize="0"/>
              <p:nvPr/>
            </p:nvPicPr>
            <p:blipFill rotWithShape="1">
              <a:blip r:embed="rId3">
                <a:alphaModFix/>
              </a:blip>
              <a:srcRect l="5370" t="5220" r="8012" b="-5220"/>
              <a:stretch/>
            </p:blipFill>
            <p:spPr>
              <a:xfrm>
                <a:off x="855363" y="1646100"/>
                <a:ext cx="2598601" cy="1659500"/>
              </a:xfrm>
              <a:prstGeom prst="rect">
                <a:avLst/>
              </a:prstGeom>
              <a:noFill/>
              <a:ln>
                <a:noFill/>
              </a:ln>
            </p:spPr>
          </p:pic>
          <p:sp>
            <p:nvSpPr>
              <p:cNvPr id="129" name="Google Shape;129;p21"/>
              <p:cNvSpPr txBox="1"/>
              <p:nvPr/>
            </p:nvSpPr>
            <p:spPr>
              <a:xfrm>
                <a:off x="855375" y="1252500"/>
                <a:ext cx="15399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rPr>
                  <a:t>Saving</a:t>
                </a:r>
                <a:endParaRPr sz="1800">
                  <a:solidFill>
                    <a:schemeClr val="dk1"/>
                  </a:solidFill>
                </a:endParaRPr>
              </a:p>
              <a:p>
                <a:pPr marL="0" lvl="0" indent="0" algn="ctr" rtl="0">
                  <a:spcBef>
                    <a:spcPts val="0"/>
                  </a:spcBef>
                  <a:spcAft>
                    <a:spcPts val="0"/>
                  </a:spcAft>
                  <a:buNone/>
                </a:pPr>
                <a:r>
                  <a:rPr lang="en" sz="1800">
                    <a:solidFill>
                      <a:schemeClr val="dk1"/>
                    </a:solidFill>
                  </a:rPr>
                  <a:t>Hero</a:t>
                </a:r>
                <a:endParaRPr sz="1800">
                  <a:solidFill>
                    <a:schemeClr val="dk1"/>
                  </a:solidFill>
                </a:endParaRPr>
              </a:p>
            </p:txBody>
          </p:sp>
          <p:sp>
            <p:nvSpPr>
              <p:cNvPr id="130" name="Google Shape;130;p21"/>
              <p:cNvSpPr txBox="1"/>
              <p:nvPr/>
            </p:nvSpPr>
            <p:spPr>
              <a:xfrm>
                <a:off x="1848650" y="3260750"/>
                <a:ext cx="15399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rPr>
                  <a:t>Trapped Buddy</a:t>
                </a:r>
                <a:endParaRPr sz="1800">
                  <a:solidFill>
                    <a:schemeClr val="dk1"/>
                  </a:solidFill>
                </a:endParaRPr>
              </a:p>
            </p:txBody>
          </p:sp>
        </p:grpSp>
        <p:grpSp>
          <p:nvGrpSpPr>
            <p:cNvPr id="131" name="Google Shape;131;p21"/>
            <p:cNvGrpSpPr/>
            <p:nvPr/>
          </p:nvGrpSpPr>
          <p:grpSpPr>
            <a:xfrm>
              <a:off x="5385250" y="1052941"/>
              <a:ext cx="2619400" cy="2851184"/>
              <a:chOff x="5385250" y="1052941"/>
              <a:chExt cx="2619400" cy="2851184"/>
            </a:xfrm>
          </p:grpSpPr>
          <p:grpSp>
            <p:nvGrpSpPr>
              <p:cNvPr id="132" name="Google Shape;132;p21"/>
              <p:cNvGrpSpPr/>
              <p:nvPr/>
            </p:nvGrpSpPr>
            <p:grpSpPr>
              <a:xfrm>
                <a:off x="5396150" y="1107300"/>
                <a:ext cx="2608500" cy="2719200"/>
                <a:chOff x="4325975" y="1212150"/>
                <a:chExt cx="2608500" cy="2719200"/>
              </a:xfrm>
            </p:grpSpPr>
            <p:sp>
              <p:nvSpPr>
                <p:cNvPr id="133" name="Google Shape;133;p21"/>
                <p:cNvSpPr/>
                <p:nvPr/>
              </p:nvSpPr>
              <p:spPr>
                <a:xfrm>
                  <a:off x="4325975" y="1212150"/>
                  <a:ext cx="2608500" cy="27192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34" name="Google Shape;134;p21" descr="Helping Hand&quot; Images – Browse 64,765 Stock Photos, Vectors, and Video |  Adobe Stock"/>
                <p:cNvPicPr preferRelativeResize="0"/>
                <p:nvPr/>
              </p:nvPicPr>
              <p:blipFill>
                <a:blip r:embed="rId4">
                  <a:alphaModFix/>
                </a:blip>
                <a:stretch>
                  <a:fillRect/>
                </a:stretch>
              </p:blipFill>
              <p:spPr>
                <a:xfrm>
                  <a:off x="4325975" y="1841636"/>
                  <a:ext cx="2608500" cy="1659450"/>
                </a:xfrm>
                <a:prstGeom prst="rect">
                  <a:avLst/>
                </a:prstGeom>
                <a:noFill/>
                <a:ln>
                  <a:noFill/>
                </a:ln>
              </p:spPr>
            </p:pic>
          </p:grpSp>
          <p:sp>
            <p:nvSpPr>
              <p:cNvPr id="135" name="Google Shape;135;p21"/>
              <p:cNvSpPr txBox="1"/>
              <p:nvPr/>
            </p:nvSpPr>
            <p:spPr>
              <a:xfrm>
                <a:off x="5385250" y="1052941"/>
                <a:ext cx="1333800" cy="440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FF0000"/>
                    </a:solidFill>
                  </a:rPr>
                  <a:t>Exploited Victim</a:t>
                </a:r>
                <a:endParaRPr sz="1800" b="1">
                  <a:solidFill>
                    <a:srgbClr val="FF0000"/>
                  </a:solidFill>
                </a:endParaRPr>
              </a:p>
            </p:txBody>
          </p:sp>
          <p:sp>
            <p:nvSpPr>
              <p:cNvPr id="136" name="Google Shape;136;p21"/>
              <p:cNvSpPr txBox="1"/>
              <p:nvPr/>
            </p:nvSpPr>
            <p:spPr>
              <a:xfrm>
                <a:off x="6314850" y="3164325"/>
                <a:ext cx="1539900" cy="73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FF0000"/>
                    </a:solidFill>
                  </a:rPr>
                  <a:t>Scammer</a:t>
                </a:r>
                <a:endParaRPr sz="1800" b="1">
                  <a:solidFill>
                    <a:srgbClr val="FF0000"/>
                  </a:solidFill>
                </a:endParaRPr>
              </a:p>
              <a:p>
                <a:pPr marL="0" lvl="0" indent="0" algn="ctr" rtl="0">
                  <a:spcBef>
                    <a:spcPts val="0"/>
                  </a:spcBef>
                  <a:spcAft>
                    <a:spcPts val="0"/>
                  </a:spcAft>
                  <a:buNone/>
                </a:pPr>
                <a:r>
                  <a:rPr lang="en" sz="1800" b="1">
                    <a:solidFill>
                      <a:srgbClr val="FF0000"/>
                    </a:solidFill>
                  </a:rPr>
                  <a:t>in Disguise</a:t>
                </a:r>
                <a:endParaRPr sz="1800" b="1">
                  <a:solidFill>
                    <a:srgbClr val="FF0000"/>
                  </a:solidFill>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2"/>
          <p:cNvSpPr/>
          <p:nvPr/>
        </p:nvSpPr>
        <p:spPr>
          <a:xfrm>
            <a:off x="433300" y="321751"/>
            <a:ext cx="8277300" cy="4531200"/>
          </a:xfrm>
          <a:prstGeom prst="rect">
            <a:avLst/>
          </a:prstGeom>
          <a:solidFill>
            <a:srgbClr val="F0F0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2" name="Google Shape;142;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a:t>
            </a:fld>
            <a:endParaRPr/>
          </a:p>
        </p:txBody>
      </p:sp>
      <p:grpSp>
        <p:nvGrpSpPr>
          <p:cNvPr id="143" name="Google Shape;143;p22"/>
          <p:cNvGrpSpPr/>
          <p:nvPr/>
        </p:nvGrpSpPr>
        <p:grpSpPr>
          <a:xfrm>
            <a:off x="997350" y="1107300"/>
            <a:ext cx="2608512" cy="2719200"/>
            <a:chOff x="855363" y="1107300"/>
            <a:chExt cx="2608512" cy="2719200"/>
          </a:xfrm>
        </p:grpSpPr>
        <p:sp>
          <p:nvSpPr>
            <p:cNvPr id="144" name="Google Shape;144;p22"/>
            <p:cNvSpPr/>
            <p:nvPr/>
          </p:nvSpPr>
          <p:spPr>
            <a:xfrm>
              <a:off x="855375" y="1107300"/>
              <a:ext cx="2608500" cy="2719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45" name="Google Shape;145;p22"/>
            <p:cNvPicPr preferRelativeResize="0"/>
            <p:nvPr/>
          </p:nvPicPr>
          <p:blipFill rotWithShape="1">
            <a:blip r:embed="rId3">
              <a:alphaModFix/>
            </a:blip>
            <a:srcRect l="5370" t="5220" r="8012" b="-5220"/>
            <a:stretch/>
          </p:blipFill>
          <p:spPr>
            <a:xfrm>
              <a:off x="855363" y="1646100"/>
              <a:ext cx="2598601" cy="1659500"/>
            </a:xfrm>
            <a:prstGeom prst="rect">
              <a:avLst/>
            </a:prstGeom>
            <a:noFill/>
            <a:ln>
              <a:noFill/>
            </a:ln>
          </p:spPr>
        </p:pic>
        <p:sp>
          <p:nvSpPr>
            <p:cNvPr id="146" name="Google Shape;146;p22"/>
            <p:cNvSpPr txBox="1"/>
            <p:nvPr/>
          </p:nvSpPr>
          <p:spPr>
            <a:xfrm>
              <a:off x="855375" y="1252500"/>
              <a:ext cx="15399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rPr>
                <a:t>Saving</a:t>
              </a:r>
              <a:endParaRPr sz="1800">
                <a:solidFill>
                  <a:schemeClr val="dk1"/>
                </a:solidFill>
              </a:endParaRPr>
            </a:p>
            <a:p>
              <a:pPr marL="0" lvl="0" indent="0" algn="ctr" rtl="0">
                <a:spcBef>
                  <a:spcPts val="0"/>
                </a:spcBef>
                <a:spcAft>
                  <a:spcPts val="0"/>
                </a:spcAft>
                <a:buNone/>
              </a:pPr>
              <a:r>
                <a:rPr lang="en" sz="1800">
                  <a:solidFill>
                    <a:schemeClr val="dk1"/>
                  </a:solidFill>
                </a:rPr>
                <a:t>Hero</a:t>
              </a:r>
              <a:endParaRPr sz="1800">
                <a:solidFill>
                  <a:schemeClr val="dk1"/>
                </a:solidFill>
              </a:endParaRPr>
            </a:p>
          </p:txBody>
        </p:sp>
        <p:sp>
          <p:nvSpPr>
            <p:cNvPr id="147" name="Google Shape;147;p22"/>
            <p:cNvSpPr txBox="1"/>
            <p:nvPr/>
          </p:nvSpPr>
          <p:spPr>
            <a:xfrm>
              <a:off x="1848650" y="3260750"/>
              <a:ext cx="15399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rPr>
                <a:t>Trapped Buddy</a:t>
              </a:r>
              <a:endParaRPr sz="1800">
                <a:solidFill>
                  <a:schemeClr val="dk1"/>
                </a:solidFill>
              </a:endParaRPr>
            </a:p>
          </p:txBody>
        </p:sp>
      </p:grpSp>
      <p:grpSp>
        <p:nvGrpSpPr>
          <p:cNvPr id="148" name="Google Shape;148;p22"/>
          <p:cNvGrpSpPr/>
          <p:nvPr/>
        </p:nvGrpSpPr>
        <p:grpSpPr>
          <a:xfrm>
            <a:off x="5538091" y="1107300"/>
            <a:ext cx="2608558" cy="3134100"/>
            <a:chOff x="5538091" y="1107300"/>
            <a:chExt cx="2608558" cy="3134100"/>
          </a:xfrm>
        </p:grpSpPr>
        <p:grpSp>
          <p:nvGrpSpPr>
            <p:cNvPr id="149" name="Google Shape;149;p22"/>
            <p:cNvGrpSpPr/>
            <p:nvPr/>
          </p:nvGrpSpPr>
          <p:grpSpPr>
            <a:xfrm>
              <a:off x="5538100" y="1107300"/>
              <a:ext cx="2608549" cy="2740503"/>
              <a:chOff x="5399064" y="1107276"/>
              <a:chExt cx="2747577" cy="2886563"/>
            </a:xfrm>
          </p:grpSpPr>
          <p:grpSp>
            <p:nvGrpSpPr>
              <p:cNvPr id="150" name="Google Shape;150;p22"/>
              <p:cNvGrpSpPr/>
              <p:nvPr/>
            </p:nvGrpSpPr>
            <p:grpSpPr>
              <a:xfrm>
                <a:off x="5399064" y="1107276"/>
                <a:ext cx="2747577" cy="2864228"/>
                <a:chOff x="502619" y="383729"/>
                <a:chExt cx="3024300" cy="3152700"/>
              </a:xfrm>
            </p:grpSpPr>
            <p:sp>
              <p:nvSpPr>
                <p:cNvPr id="151" name="Google Shape;151;p22"/>
                <p:cNvSpPr/>
                <p:nvPr/>
              </p:nvSpPr>
              <p:spPr>
                <a:xfrm>
                  <a:off x="502619" y="383729"/>
                  <a:ext cx="3024300" cy="3152700"/>
                </a:xfrm>
                <a:prstGeom prst="rect">
                  <a:avLst/>
                </a:prstGeom>
                <a:solidFill>
                  <a:schemeClr val="lt1"/>
                </a:solid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52" name="Google Shape;152;p22"/>
                <p:cNvGrpSpPr/>
                <p:nvPr/>
              </p:nvGrpSpPr>
              <p:grpSpPr>
                <a:xfrm>
                  <a:off x="802675" y="514537"/>
                  <a:ext cx="2112950" cy="2432676"/>
                  <a:chOff x="125600" y="1964450"/>
                  <a:chExt cx="2112950" cy="2432676"/>
                </a:xfrm>
              </p:grpSpPr>
              <p:pic>
                <p:nvPicPr>
                  <p:cNvPr id="153" name="Google Shape;153;p22"/>
                  <p:cNvPicPr preferRelativeResize="0"/>
                  <p:nvPr/>
                </p:nvPicPr>
                <p:blipFill>
                  <a:blip r:embed="rId4">
                    <a:alphaModFix/>
                  </a:blip>
                  <a:stretch>
                    <a:fillRect/>
                  </a:stretch>
                </p:blipFill>
                <p:spPr>
                  <a:xfrm>
                    <a:off x="125600" y="1964450"/>
                    <a:ext cx="2112950" cy="2432676"/>
                  </a:xfrm>
                  <a:prstGeom prst="rect">
                    <a:avLst/>
                  </a:prstGeom>
                  <a:noFill/>
                  <a:ln>
                    <a:noFill/>
                  </a:ln>
                </p:spPr>
              </p:pic>
              <p:sp>
                <p:nvSpPr>
                  <p:cNvPr id="154" name="Google Shape;154;p22"/>
                  <p:cNvSpPr/>
                  <p:nvPr/>
                </p:nvSpPr>
                <p:spPr>
                  <a:xfrm>
                    <a:off x="1807400" y="2571750"/>
                    <a:ext cx="309900" cy="347400"/>
                  </a:xfrm>
                  <a:prstGeom prst="ellipse">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155" name="Google Shape;155;p22"/>
                <p:cNvGrpSpPr/>
                <p:nvPr/>
              </p:nvGrpSpPr>
              <p:grpSpPr>
                <a:xfrm flipH="1">
                  <a:off x="1893500" y="2058982"/>
                  <a:ext cx="1140735" cy="1173799"/>
                  <a:chOff x="1842700" y="1384700"/>
                  <a:chExt cx="1007450" cy="1036650"/>
                </a:xfrm>
              </p:grpSpPr>
              <p:pic>
                <p:nvPicPr>
                  <p:cNvPr id="156" name="Google Shape;156;p22" descr="Free Vectors | scammer"/>
                  <p:cNvPicPr preferRelativeResize="0"/>
                  <p:nvPr/>
                </p:nvPicPr>
                <p:blipFill rotWithShape="1">
                  <a:blip r:embed="rId5">
                    <a:alphaModFix/>
                  </a:blip>
                  <a:srcRect l="21581" t="10482" r="10488"/>
                  <a:stretch/>
                </p:blipFill>
                <p:spPr>
                  <a:xfrm>
                    <a:off x="1842700" y="1424100"/>
                    <a:ext cx="1007450" cy="997250"/>
                  </a:xfrm>
                  <a:prstGeom prst="rect">
                    <a:avLst/>
                  </a:prstGeom>
                  <a:noFill/>
                  <a:ln>
                    <a:noFill/>
                  </a:ln>
                </p:spPr>
              </p:pic>
              <p:sp>
                <p:nvSpPr>
                  <p:cNvPr id="157" name="Google Shape;157;p22"/>
                  <p:cNvSpPr/>
                  <p:nvPr/>
                </p:nvSpPr>
                <p:spPr>
                  <a:xfrm>
                    <a:off x="2541475" y="1483275"/>
                    <a:ext cx="137700" cy="1872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8" name="Google Shape;158;p22"/>
                  <p:cNvSpPr txBox="1"/>
                  <p:nvPr/>
                </p:nvSpPr>
                <p:spPr>
                  <a:xfrm>
                    <a:off x="2435645" y="1384700"/>
                    <a:ext cx="3204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b="1">
                        <a:solidFill>
                          <a:schemeClr val="dk2"/>
                        </a:solidFill>
                      </a:rPr>
                      <a:t>$$</a:t>
                    </a:r>
                    <a:endParaRPr sz="800" b="1">
                      <a:solidFill>
                        <a:schemeClr val="dk2"/>
                      </a:solidFill>
                    </a:endParaRPr>
                  </a:p>
                </p:txBody>
              </p:sp>
            </p:grpSp>
          </p:grpSp>
          <p:sp>
            <p:nvSpPr>
              <p:cNvPr id="159" name="Google Shape;159;p22"/>
              <p:cNvSpPr/>
              <p:nvPr/>
            </p:nvSpPr>
            <p:spPr>
              <a:xfrm rot="8100000" flipH="1">
                <a:off x="6683455" y="2537599"/>
                <a:ext cx="1101390" cy="1249882"/>
              </a:xfrm>
              <a:prstGeom prst="wedgeEllipseCallout">
                <a:avLst>
                  <a:gd name="adj1" fmla="val -20833"/>
                  <a:gd name="adj2" fmla="val 62500"/>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60" name="Google Shape;160;p22"/>
            <p:cNvSpPr txBox="1"/>
            <p:nvPr/>
          </p:nvSpPr>
          <p:spPr>
            <a:xfrm>
              <a:off x="5538091" y="3847800"/>
              <a:ext cx="26085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FF0000"/>
                  </a:solidFill>
                </a:rPr>
                <a:t>Grandparent Scam</a:t>
              </a:r>
              <a:endParaRPr sz="1800" b="1">
                <a:solidFill>
                  <a:srgbClr val="FF0000"/>
                </a:solidFil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a:t>
            </a:fld>
            <a:endParaRPr/>
          </a:p>
        </p:txBody>
      </p:sp>
      <p:sp>
        <p:nvSpPr>
          <p:cNvPr id="166" name="Google Shape;166;p23"/>
          <p:cNvSpPr txBox="1"/>
          <p:nvPr/>
        </p:nvSpPr>
        <p:spPr>
          <a:xfrm>
            <a:off x="-44300" y="4663225"/>
            <a:ext cx="7155000" cy="47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100">
                <a:solidFill>
                  <a:schemeClr val="dk2"/>
                </a:solidFill>
              </a:rPr>
              <a:t>https://www.ncoa.org/article/top-5-financial-scams-targeting-older-adults/</a:t>
            </a:r>
            <a:endParaRPr sz="1100">
              <a:solidFill>
                <a:schemeClr val="dk2"/>
              </a:solidFill>
            </a:endParaRPr>
          </a:p>
          <a:p>
            <a:pPr marL="0" marR="0" lvl="0" indent="0" algn="l" rtl="0">
              <a:lnSpc>
                <a:spcPct val="100000"/>
              </a:lnSpc>
              <a:spcBef>
                <a:spcPts val="0"/>
              </a:spcBef>
              <a:spcAft>
                <a:spcPts val="0"/>
              </a:spcAft>
              <a:buNone/>
            </a:pPr>
            <a:endParaRPr sz="1100">
              <a:solidFill>
                <a:schemeClr val="dk2"/>
              </a:solidFill>
            </a:endParaRPr>
          </a:p>
        </p:txBody>
      </p:sp>
      <p:sp>
        <p:nvSpPr>
          <p:cNvPr id="167" name="Google Shape;167;p23"/>
          <p:cNvSpPr txBox="1"/>
          <p:nvPr/>
        </p:nvSpPr>
        <p:spPr>
          <a:xfrm>
            <a:off x="275850" y="623425"/>
            <a:ext cx="8745300" cy="110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200" b="1">
                <a:solidFill>
                  <a:srgbClr val="FF0000"/>
                </a:solidFill>
              </a:rPr>
              <a:t>Impersonation scams</a:t>
            </a:r>
            <a:endParaRPr sz="3200" b="1">
              <a:solidFill>
                <a:srgbClr val="FF0000"/>
              </a:solidFill>
            </a:endParaRPr>
          </a:p>
          <a:p>
            <a:pPr marL="0" lvl="0" indent="0" algn="l" rtl="0">
              <a:spcBef>
                <a:spcPts val="0"/>
              </a:spcBef>
              <a:spcAft>
                <a:spcPts val="0"/>
              </a:spcAft>
              <a:buNone/>
            </a:pPr>
            <a:r>
              <a:rPr lang="en" sz="3200">
                <a:solidFill>
                  <a:schemeClr val="dk1"/>
                </a:solidFill>
              </a:rPr>
              <a:t>make up </a:t>
            </a:r>
            <a:r>
              <a:rPr lang="en" sz="3200" b="1">
                <a:solidFill>
                  <a:srgbClr val="FF0000"/>
                </a:solidFill>
              </a:rPr>
              <a:t>all</a:t>
            </a:r>
            <a:r>
              <a:rPr lang="en" sz="3200">
                <a:solidFill>
                  <a:schemeClr val="dk1"/>
                </a:solidFill>
              </a:rPr>
              <a:t> </a:t>
            </a:r>
            <a:r>
              <a:rPr lang="en" sz="3200" b="1">
                <a:solidFill>
                  <a:srgbClr val="FF0000"/>
                </a:solidFill>
              </a:rPr>
              <a:t>top 5 scams</a:t>
            </a:r>
            <a:r>
              <a:rPr lang="en" sz="3200">
                <a:solidFill>
                  <a:schemeClr val="dk1"/>
                </a:solidFill>
              </a:rPr>
              <a:t> targeting </a:t>
            </a:r>
            <a:endParaRPr sz="3200">
              <a:solidFill>
                <a:schemeClr val="dk1"/>
              </a:solidFill>
            </a:endParaRPr>
          </a:p>
          <a:p>
            <a:pPr marL="0" lvl="0" indent="0" algn="l" rtl="0">
              <a:spcBef>
                <a:spcPts val="0"/>
              </a:spcBef>
              <a:spcAft>
                <a:spcPts val="0"/>
              </a:spcAft>
              <a:buNone/>
            </a:pPr>
            <a:r>
              <a:rPr lang="en" sz="3200" b="1">
                <a:solidFill>
                  <a:schemeClr val="dk1"/>
                </a:solidFill>
              </a:rPr>
              <a:t>older adults</a:t>
            </a:r>
            <a:r>
              <a:rPr lang="en" sz="3200">
                <a:solidFill>
                  <a:schemeClr val="dk1"/>
                </a:solidFill>
              </a:rPr>
              <a:t>.</a:t>
            </a:r>
            <a:endParaRPr sz="3200">
              <a:solidFill>
                <a:schemeClr val="dk1"/>
              </a:solidFill>
            </a:endParaRPr>
          </a:p>
          <a:p>
            <a:pPr marL="0" lvl="0" indent="0" algn="l" rtl="0">
              <a:spcBef>
                <a:spcPts val="0"/>
              </a:spcBef>
              <a:spcAft>
                <a:spcPts val="0"/>
              </a:spcAft>
              <a:buNone/>
            </a:pPr>
            <a:endParaRPr sz="2800">
              <a:solidFill>
                <a:schemeClr val="dk1"/>
              </a:solidFill>
            </a:endParaRPr>
          </a:p>
          <a:p>
            <a:pPr marL="0" marR="0" lvl="0" indent="0" algn="l" rtl="0">
              <a:lnSpc>
                <a:spcPct val="100000"/>
              </a:lnSpc>
              <a:spcBef>
                <a:spcPts val="0"/>
              </a:spcBef>
              <a:spcAft>
                <a:spcPts val="0"/>
              </a:spcAft>
              <a:buNone/>
            </a:pPr>
            <a:endParaRPr sz="28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a:t>
            </a:fld>
            <a:endParaRPr/>
          </a:p>
        </p:txBody>
      </p:sp>
      <p:sp>
        <p:nvSpPr>
          <p:cNvPr id="173" name="Google Shape;173;p24"/>
          <p:cNvSpPr txBox="1"/>
          <p:nvPr/>
        </p:nvSpPr>
        <p:spPr>
          <a:xfrm>
            <a:off x="579600" y="2416775"/>
            <a:ext cx="7984800" cy="123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200" b="1">
                <a:solidFill>
                  <a:srgbClr val="FF0000"/>
                </a:solidFill>
              </a:rPr>
              <a:t>Elder scam victims</a:t>
            </a:r>
            <a:endParaRPr sz="3200">
              <a:solidFill>
                <a:schemeClr val="dk1"/>
              </a:solidFill>
            </a:endParaRPr>
          </a:p>
          <a:p>
            <a:pPr marL="0" lvl="0" indent="0" algn="l" rtl="0">
              <a:spcBef>
                <a:spcPts val="0"/>
              </a:spcBef>
              <a:spcAft>
                <a:spcPts val="0"/>
              </a:spcAft>
              <a:buNone/>
            </a:pPr>
            <a:r>
              <a:rPr lang="en" sz="2800">
                <a:solidFill>
                  <a:schemeClr val="dk1"/>
                </a:solidFill>
              </a:rPr>
              <a:t>lose</a:t>
            </a:r>
            <a:r>
              <a:rPr lang="en" sz="3200">
                <a:solidFill>
                  <a:schemeClr val="dk1"/>
                </a:solidFill>
              </a:rPr>
              <a:t> </a:t>
            </a:r>
            <a:r>
              <a:rPr lang="en" sz="3200" b="1">
                <a:solidFill>
                  <a:srgbClr val="FF0000"/>
                </a:solidFill>
              </a:rPr>
              <a:t>$8 billion</a:t>
            </a:r>
            <a:r>
              <a:rPr lang="en" sz="3200">
                <a:solidFill>
                  <a:schemeClr val="dk1"/>
                </a:solidFill>
              </a:rPr>
              <a:t> </a:t>
            </a:r>
            <a:r>
              <a:rPr lang="en" sz="2800">
                <a:solidFill>
                  <a:schemeClr val="dk1"/>
                </a:solidFill>
              </a:rPr>
              <a:t>a year</a:t>
            </a:r>
            <a:r>
              <a:rPr lang="en" sz="3200">
                <a:solidFill>
                  <a:schemeClr val="dk1"/>
                </a:solidFill>
              </a:rPr>
              <a:t> </a:t>
            </a:r>
            <a:r>
              <a:rPr lang="en" sz="2800">
                <a:solidFill>
                  <a:schemeClr val="dk1"/>
                </a:solidFill>
              </a:rPr>
              <a:t>to</a:t>
            </a:r>
            <a:r>
              <a:rPr lang="en" sz="3200">
                <a:solidFill>
                  <a:schemeClr val="dk1"/>
                </a:solidFill>
              </a:rPr>
              <a:t> </a:t>
            </a:r>
            <a:r>
              <a:rPr lang="en" sz="3200" b="1">
                <a:solidFill>
                  <a:srgbClr val="FF0000"/>
                </a:solidFill>
              </a:rPr>
              <a:t>strangers</a:t>
            </a:r>
            <a:r>
              <a:rPr lang="en" sz="3200">
                <a:solidFill>
                  <a:schemeClr val="dk1"/>
                </a:solidFill>
              </a:rPr>
              <a:t>.</a:t>
            </a:r>
            <a:endParaRPr sz="3200">
              <a:solidFill>
                <a:schemeClr val="dk1"/>
              </a:solidFill>
            </a:endParaRPr>
          </a:p>
        </p:txBody>
      </p:sp>
      <p:sp>
        <p:nvSpPr>
          <p:cNvPr id="174" name="Google Shape;174;p24"/>
          <p:cNvSpPr txBox="1"/>
          <p:nvPr/>
        </p:nvSpPr>
        <p:spPr>
          <a:xfrm>
            <a:off x="275850" y="623425"/>
            <a:ext cx="8745300" cy="160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200" b="1">
                <a:solidFill>
                  <a:srgbClr val="FF0000"/>
                </a:solidFill>
              </a:rPr>
              <a:t>Impersonation scams</a:t>
            </a:r>
            <a:endParaRPr sz="3200" b="1">
              <a:solidFill>
                <a:srgbClr val="FF0000"/>
              </a:solidFill>
            </a:endParaRPr>
          </a:p>
          <a:p>
            <a:pPr marL="0" lvl="0" indent="0" algn="l" rtl="0">
              <a:spcBef>
                <a:spcPts val="0"/>
              </a:spcBef>
              <a:spcAft>
                <a:spcPts val="0"/>
              </a:spcAft>
              <a:buNone/>
            </a:pPr>
            <a:r>
              <a:rPr lang="en" sz="3200">
                <a:solidFill>
                  <a:schemeClr val="dk1"/>
                </a:solidFill>
              </a:rPr>
              <a:t>make up </a:t>
            </a:r>
            <a:r>
              <a:rPr lang="en" sz="3200" b="1">
                <a:solidFill>
                  <a:srgbClr val="FF0000"/>
                </a:solidFill>
              </a:rPr>
              <a:t>all</a:t>
            </a:r>
            <a:r>
              <a:rPr lang="en" sz="3200">
                <a:solidFill>
                  <a:schemeClr val="dk1"/>
                </a:solidFill>
              </a:rPr>
              <a:t> </a:t>
            </a:r>
            <a:r>
              <a:rPr lang="en" sz="3200" b="1">
                <a:solidFill>
                  <a:srgbClr val="FF0000"/>
                </a:solidFill>
              </a:rPr>
              <a:t>top 5 scams</a:t>
            </a:r>
            <a:r>
              <a:rPr lang="en" sz="3200">
                <a:solidFill>
                  <a:schemeClr val="dk1"/>
                </a:solidFill>
              </a:rPr>
              <a:t> targeting </a:t>
            </a:r>
            <a:endParaRPr sz="3200">
              <a:solidFill>
                <a:schemeClr val="dk1"/>
              </a:solidFill>
            </a:endParaRPr>
          </a:p>
          <a:p>
            <a:pPr marL="0" lvl="0" indent="0" algn="l" rtl="0">
              <a:spcBef>
                <a:spcPts val="0"/>
              </a:spcBef>
              <a:spcAft>
                <a:spcPts val="0"/>
              </a:spcAft>
              <a:buNone/>
            </a:pPr>
            <a:r>
              <a:rPr lang="en" sz="3200" b="1">
                <a:solidFill>
                  <a:schemeClr val="dk1"/>
                </a:solidFill>
              </a:rPr>
              <a:t>older adults</a:t>
            </a:r>
            <a:r>
              <a:rPr lang="en" sz="3200">
                <a:solidFill>
                  <a:schemeClr val="dk1"/>
                </a:solidFill>
              </a:rPr>
              <a:t>.</a:t>
            </a:r>
            <a:endParaRPr sz="2800">
              <a:solidFill>
                <a:schemeClr val="dk1"/>
              </a:solidFill>
            </a:endParaRPr>
          </a:p>
        </p:txBody>
      </p:sp>
      <p:sp>
        <p:nvSpPr>
          <p:cNvPr id="175" name="Google Shape;175;p24"/>
          <p:cNvSpPr txBox="1"/>
          <p:nvPr/>
        </p:nvSpPr>
        <p:spPr>
          <a:xfrm>
            <a:off x="-44300" y="4663225"/>
            <a:ext cx="7155000" cy="47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100">
                <a:solidFill>
                  <a:schemeClr val="dk2"/>
                </a:solidFill>
              </a:rPr>
              <a:t>https://www.ncoa.org/article/top-5-financial-scams-targeting-older-adults/</a:t>
            </a:r>
            <a:endParaRPr sz="1100">
              <a:solidFill>
                <a:schemeClr val="dk2"/>
              </a:solidFill>
            </a:endParaRPr>
          </a:p>
          <a:p>
            <a:pPr marL="0" marR="0" lvl="0" indent="0" algn="l" rtl="0">
              <a:lnSpc>
                <a:spcPct val="100000"/>
              </a:lnSpc>
              <a:spcBef>
                <a:spcPts val="0"/>
              </a:spcBef>
              <a:spcAft>
                <a:spcPts val="0"/>
              </a:spcAft>
              <a:buNone/>
            </a:pPr>
            <a:r>
              <a:rPr lang="en" sz="1100">
                <a:solidFill>
                  <a:schemeClr val="dk2"/>
                </a:solidFill>
              </a:rPr>
              <a:t>https://states.aarp.org/colorado/aarp-report-28-3-billion-a-year-stolen-from-adults-60</a:t>
            </a:r>
            <a:endParaRPr sz="1100">
              <a:solidFill>
                <a:schemeClr val="dk2"/>
              </a:solidFill>
            </a:endParaRPr>
          </a:p>
          <a:p>
            <a:pPr marL="0" marR="0" lvl="0" indent="0" algn="l" rtl="0">
              <a:lnSpc>
                <a:spcPct val="100000"/>
              </a:lnSpc>
              <a:spcBef>
                <a:spcPts val="0"/>
              </a:spcBef>
              <a:spcAft>
                <a:spcPts val="0"/>
              </a:spcAft>
              <a:buNone/>
            </a:pPr>
            <a:endParaRPr sz="11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a:t>
            </a:fld>
            <a:endParaRPr/>
          </a:p>
        </p:txBody>
      </p:sp>
      <p:sp>
        <p:nvSpPr>
          <p:cNvPr id="181" name="Google Shape;181;p25"/>
          <p:cNvSpPr txBox="1"/>
          <p:nvPr/>
        </p:nvSpPr>
        <p:spPr>
          <a:xfrm>
            <a:off x="579600" y="2416775"/>
            <a:ext cx="7984800" cy="123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200" b="1">
                <a:solidFill>
                  <a:srgbClr val="FF0000"/>
                </a:solidFill>
              </a:rPr>
              <a:t>Elder scam victims</a:t>
            </a:r>
            <a:endParaRPr sz="3200">
              <a:solidFill>
                <a:schemeClr val="dk1"/>
              </a:solidFill>
            </a:endParaRPr>
          </a:p>
          <a:p>
            <a:pPr marL="0" lvl="0" indent="0" algn="l" rtl="0">
              <a:spcBef>
                <a:spcPts val="0"/>
              </a:spcBef>
              <a:spcAft>
                <a:spcPts val="0"/>
              </a:spcAft>
              <a:buNone/>
            </a:pPr>
            <a:r>
              <a:rPr lang="en" sz="2800">
                <a:solidFill>
                  <a:schemeClr val="dk1"/>
                </a:solidFill>
              </a:rPr>
              <a:t>lose</a:t>
            </a:r>
            <a:r>
              <a:rPr lang="en" sz="3200">
                <a:solidFill>
                  <a:schemeClr val="dk1"/>
                </a:solidFill>
              </a:rPr>
              <a:t> </a:t>
            </a:r>
            <a:r>
              <a:rPr lang="en" sz="3200" b="1">
                <a:solidFill>
                  <a:srgbClr val="FF0000"/>
                </a:solidFill>
              </a:rPr>
              <a:t>$8 billion</a:t>
            </a:r>
            <a:r>
              <a:rPr lang="en" sz="3200">
                <a:solidFill>
                  <a:schemeClr val="dk1"/>
                </a:solidFill>
              </a:rPr>
              <a:t> </a:t>
            </a:r>
            <a:r>
              <a:rPr lang="en" sz="2800">
                <a:solidFill>
                  <a:schemeClr val="dk1"/>
                </a:solidFill>
              </a:rPr>
              <a:t>a year</a:t>
            </a:r>
            <a:r>
              <a:rPr lang="en" sz="3200">
                <a:solidFill>
                  <a:schemeClr val="dk1"/>
                </a:solidFill>
              </a:rPr>
              <a:t> </a:t>
            </a:r>
            <a:r>
              <a:rPr lang="en" sz="2800">
                <a:solidFill>
                  <a:schemeClr val="dk1"/>
                </a:solidFill>
              </a:rPr>
              <a:t>to</a:t>
            </a:r>
            <a:r>
              <a:rPr lang="en" sz="3200">
                <a:solidFill>
                  <a:schemeClr val="dk1"/>
                </a:solidFill>
              </a:rPr>
              <a:t> </a:t>
            </a:r>
            <a:r>
              <a:rPr lang="en" sz="3200" b="1">
                <a:solidFill>
                  <a:srgbClr val="FF0000"/>
                </a:solidFill>
              </a:rPr>
              <a:t>strangers</a:t>
            </a:r>
            <a:r>
              <a:rPr lang="en" sz="3200">
                <a:solidFill>
                  <a:schemeClr val="dk1"/>
                </a:solidFill>
              </a:rPr>
              <a:t>.</a:t>
            </a:r>
            <a:endParaRPr sz="3200">
              <a:solidFill>
                <a:schemeClr val="dk1"/>
              </a:solidFill>
            </a:endParaRPr>
          </a:p>
        </p:txBody>
      </p:sp>
      <p:sp>
        <p:nvSpPr>
          <p:cNvPr id="182" name="Google Shape;182;p25"/>
          <p:cNvSpPr txBox="1"/>
          <p:nvPr/>
        </p:nvSpPr>
        <p:spPr>
          <a:xfrm>
            <a:off x="275850" y="623425"/>
            <a:ext cx="8745300" cy="160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200" b="1">
                <a:solidFill>
                  <a:srgbClr val="FF0000"/>
                </a:solidFill>
              </a:rPr>
              <a:t>Impersonation scams</a:t>
            </a:r>
            <a:endParaRPr sz="3200" b="1">
              <a:solidFill>
                <a:srgbClr val="FF0000"/>
              </a:solidFill>
            </a:endParaRPr>
          </a:p>
          <a:p>
            <a:pPr marL="0" lvl="0" indent="0" algn="l" rtl="0">
              <a:spcBef>
                <a:spcPts val="0"/>
              </a:spcBef>
              <a:spcAft>
                <a:spcPts val="0"/>
              </a:spcAft>
              <a:buNone/>
            </a:pPr>
            <a:r>
              <a:rPr lang="en" sz="3200">
                <a:solidFill>
                  <a:schemeClr val="dk1"/>
                </a:solidFill>
              </a:rPr>
              <a:t>make up </a:t>
            </a:r>
            <a:r>
              <a:rPr lang="en" sz="3200" b="1">
                <a:solidFill>
                  <a:srgbClr val="FF0000"/>
                </a:solidFill>
              </a:rPr>
              <a:t>all</a:t>
            </a:r>
            <a:r>
              <a:rPr lang="en" sz="3200">
                <a:solidFill>
                  <a:schemeClr val="dk1"/>
                </a:solidFill>
              </a:rPr>
              <a:t> </a:t>
            </a:r>
            <a:r>
              <a:rPr lang="en" sz="3200" b="1">
                <a:solidFill>
                  <a:srgbClr val="FF0000"/>
                </a:solidFill>
              </a:rPr>
              <a:t>top 5 scams</a:t>
            </a:r>
            <a:r>
              <a:rPr lang="en" sz="3200">
                <a:solidFill>
                  <a:schemeClr val="dk1"/>
                </a:solidFill>
              </a:rPr>
              <a:t> targeting </a:t>
            </a:r>
            <a:endParaRPr sz="3200">
              <a:solidFill>
                <a:schemeClr val="dk1"/>
              </a:solidFill>
            </a:endParaRPr>
          </a:p>
          <a:p>
            <a:pPr marL="0" lvl="0" indent="0" algn="l" rtl="0">
              <a:spcBef>
                <a:spcPts val="0"/>
              </a:spcBef>
              <a:spcAft>
                <a:spcPts val="0"/>
              </a:spcAft>
              <a:buNone/>
            </a:pPr>
            <a:r>
              <a:rPr lang="en" sz="3200" b="1">
                <a:solidFill>
                  <a:schemeClr val="dk1"/>
                </a:solidFill>
              </a:rPr>
              <a:t>older adults</a:t>
            </a:r>
            <a:r>
              <a:rPr lang="en" sz="3200">
                <a:solidFill>
                  <a:schemeClr val="dk1"/>
                </a:solidFill>
              </a:rPr>
              <a:t>.</a:t>
            </a:r>
            <a:endParaRPr sz="2800">
              <a:solidFill>
                <a:schemeClr val="dk1"/>
              </a:solidFill>
            </a:endParaRPr>
          </a:p>
        </p:txBody>
      </p:sp>
      <p:sp>
        <p:nvSpPr>
          <p:cNvPr id="183" name="Google Shape;183;p25"/>
          <p:cNvSpPr txBox="1"/>
          <p:nvPr/>
        </p:nvSpPr>
        <p:spPr>
          <a:xfrm>
            <a:off x="740300" y="3424375"/>
            <a:ext cx="3381600" cy="470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i="1">
                <a:solidFill>
                  <a:srgbClr val="9E9E9E"/>
                </a:solidFill>
              </a:rPr>
              <a:t>NIA 2024 budget</a:t>
            </a:r>
            <a:endParaRPr sz="1800" i="1">
              <a:solidFill>
                <a:srgbClr val="9E9E9E"/>
              </a:solidFill>
            </a:endParaRPr>
          </a:p>
          <a:p>
            <a:pPr marL="0" lvl="0" indent="0" algn="ctr" rtl="0">
              <a:spcBef>
                <a:spcPts val="0"/>
              </a:spcBef>
              <a:spcAft>
                <a:spcPts val="0"/>
              </a:spcAft>
              <a:buNone/>
            </a:pPr>
            <a:r>
              <a:rPr lang="en" sz="1800" i="1">
                <a:solidFill>
                  <a:srgbClr val="9E9E9E"/>
                </a:solidFill>
              </a:rPr>
              <a:t>= $4.5 billion</a:t>
            </a:r>
            <a:endParaRPr sz="1800" i="1">
              <a:solidFill>
                <a:srgbClr val="9E9E9E"/>
              </a:solidFill>
            </a:endParaRPr>
          </a:p>
        </p:txBody>
      </p:sp>
      <p:sp>
        <p:nvSpPr>
          <p:cNvPr id="184" name="Google Shape;184;p25"/>
          <p:cNvSpPr txBox="1"/>
          <p:nvPr/>
        </p:nvSpPr>
        <p:spPr>
          <a:xfrm>
            <a:off x="-44300" y="4663225"/>
            <a:ext cx="7155000" cy="47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rgbClr val="666666"/>
                </a:solidFill>
              </a:rPr>
              <a:t>https://www.ncoa.org/article/top-5-financial-scams-targeting-older-adults/</a:t>
            </a:r>
            <a:endParaRPr sz="1100">
              <a:solidFill>
                <a:srgbClr val="666666"/>
              </a:solidFill>
            </a:endParaRPr>
          </a:p>
          <a:p>
            <a:pPr marL="0" marR="0" lvl="0" indent="0" algn="l" rtl="0">
              <a:lnSpc>
                <a:spcPct val="100000"/>
              </a:lnSpc>
              <a:spcBef>
                <a:spcPts val="0"/>
              </a:spcBef>
              <a:spcAft>
                <a:spcPts val="0"/>
              </a:spcAft>
              <a:buNone/>
            </a:pPr>
            <a:r>
              <a:rPr lang="en" sz="1100">
                <a:solidFill>
                  <a:srgbClr val="666666"/>
                </a:solidFill>
              </a:rPr>
              <a:t>https://states.aarp.org/colorado/aarp-report-28-3-billion-a-year-stolen-from-adults-60</a:t>
            </a:r>
            <a:endParaRPr sz="1100">
              <a:solidFill>
                <a:srgbClr val="666666"/>
              </a:solidFill>
            </a:endParaRPr>
          </a:p>
          <a:p>
            <a:pPr marL="0" marR="0" lvl="0" indent="0" algn="l" rtl="0">
              <a:lnSpc>
                <a:spcPct val="100000"/>
              </a:lnSpc>
              <a:spcBef>
                <a:spcPts val="0"/>
              </a:spcBef>
              <a:spcAft>
                <a:spcPts val="0"/>
              </a:spcAft>
              <a:buNone/>
            </a:pPr>
            <a:endParaRPr sz="1100">
              <a:solidFill>
                <a:srgbClr val="666666"/>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a:t>
            </a:fld>
            <a:endParaRPr/>
          </a:p>
        </p:txBody>
      </p:sp>
      <p:sp>
        <p:nvSpPr>
          <p:cNvPr id="190" name="Google Shape;190;p26"/>
          <p:cNvSpPr txBox="1"/>
          <p:nvPr/>
        </p:nvSpPr>
        <p:spPr>
          <a:xfrm>
            <a:off x="-10375" y="147650"/>
            <a:ext cx="9144000" cy="9588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r>
              <a:rPr lang="en" sz="2800" b="1">
                <a:solidFill>
                  <a:schemeClr val="dk1"/>
                </a:solidFill>
              </a:rPr>
              <a:t>Why older adults?</a:t>
            </a:r>
            <a:endParaRPr sz="2800" b="1">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a:t>
            </a:fld>
            <a:endParaRPr/>
          </a:p>
        </p:txBody>
      </p:sp>
      <p:sp>
        <p:nvSpPr>
          <p:cNvPr id="196" name="Google Shape;196;p27"/>
          <p:cNvSpPr txBox="1"/>
          <p:nvPr/>
        </p:nvSpPr>
        <p:spPr>
          <a:xfrm>
            <a:off x="-10375" y="147650"/>
            <a:ext cx="9144000" cy="9588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r>
              <a:rPr lang="en" sz="2800" b="1">
                <a:solidFill>
                  <a:schemeClr val="dk1"/>
                </a:solidFill>
              </a:rPr>
              <a:t>Why older adults?</a:t>
            </a:r>
            <a:endParaRPr sz="2800" b="1">
              <a:solidFill>
                <a:schemeClr val="dk1"/>
              </a:solidFill>
            </a:endParaRPr>
          </a:p>
        </p:txBody>
      </p:sp>
      <p:pic>
        <p:nvPicPr>
          <p:cNvPr id="197" name="Google Shape;197;p27" descr="Toxic Positivity: Don't Always Look on the Bright Side | Psychology Today"/>
          <p:cNvPicPr preferRelativeResize="0"/>
          <p:nvPr/>
        </p:nvPicPr>
        <p:blipFill rotWithShape="1">
          <a:blip r:embed="rId3">
            <a:alphaModFix/>
          </a:blip>
          <a:srcRect t="13016" b="16925"/>
          <a:stretch/>
        </p:blipFill>
        <p:spPr>
          <a:xfrm>
            <a:off x="623875" y="2197910"/>
            <a:ext cx="2144041" cy="1125639"/>
          </a:xfrm>
          <a:prstGeom prst="rect">
            <a:avLst/>
          </a:prstGeom>
          <a:noFill/>
          <a:ln>
            <a:noFill/>
          </a:ln>
        </p:spPr>
      </p:pic>
      <p:pic>
        <p:nvPicPr>
          <p:cNvPr id="198" name="Google Shape;198;p27"/>
          <p:cNvPicPr preferRelativeResize="0"/>
          <p:nvPr/>
        </p:nvPicPr>
        <p:blipFill>
          <a:blip r:embed="rId4">
            <a:alphaModFix/>
          </a:blip>
          <a:stretch>
            <a:fillRect/>
          </a:stretch>
        </p:blipFill>
        <p:spPr>
          <a:xfrm>
            <a:off x="623875" y="969175"/>
            <a:ext cx="2144049" cy="1125646"/>
          </a:xfrm>
          <a:prstGeom prst="rect">
            <a:avLst/>
          </a:prstGeom>
          <a:noFill/>
          <a:ln>
            <a:noFill/>
          </a:ln>
        </p:spPr>
      </p:pic>
      <p:sp>
        <p:nvSpPr>
          <p:cNvPr id="199" name="Google Shape;199;p27"/>
          <p:cNvSpPr txBox="1"/>
          <p:nvPr/>
        </p:nvSpPr>
        <p:spPr>
          <a:xfrm>
            <a:off x="-44300" y="4485500"/>
            <a:ext cx="7155000" cy="6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Carstensen et al. (1999), American Psychologist</a:t>
            </a:r>
            <a:endParaRPr sz="11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205" name="Google Shape;205;p28"/>
          <p:cNvSpPr txBox="1"/>
          <p:nvPr/>
        </p:nvSpPr>
        <p:spPr>
          <a:xfrm>
            <a:off x="-10375" y="147650"/>
            <a:ext cx="9144000" cy="9588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r>
              <a:rPr lang="en" sz="2800" b="1">
                <a:solidFill>
                  <a:schemeClr val="dk1"/>
                </a:solidFill>
              </a:rPr>
              <a:t>Why older adults?</a:t>
            </a:r>
            <a:endParaRPr sz="2800" b="1">
              <a:solidFill>
                <a:schemeClr val="dk1"/>
              </a:solidFill>
            </a:endParaRPr>
          </a:p>
        </p:txBody>
      </p:sp>
      <p:pic>
        <p:nvPicPr>
          <p:cNvPr id="206" name="Google Shape;206;p28" descr="Toxic Positivity: Don't Always Look on the Bright Side | Psychology Today"/>
          <p:cNvPicPr preferRelativeResize="0"/>
          <p:nvPr/>
        </p:nvPicPr>
        <p:blipFill rotWithShape="1">
          <a:blip r:embed="rId3">
            <a:alphaModFix/>
          </a:blip>
          <a:srcRect t="13016" b="16925"/>
          <a:stretch/>
        </p:blipFill>
        <p:spPr>
          <a:xfrm>
            <a:off x="623875" y="2197910"/>
            <a:ext cx="2144041" cy="1125639"/>
          </a:xfrm>
          <a:prstGeom prst="rect">
            <a:avLst/>
          </a:prstGeom>
          <a:noFill/>
          <a:ln>
            <a:noFill/>
          </a:ln>
        </p:spPr>
      </p:pic>
      <p:pic>
        <p:nvPicPr>
          <p:cNvPr id="207" name="Google Shape;207;p28"/>
          <p:cNvPicPr preferRelativeResize="0"/>
          <p:nvPr/>
        </p:nvPicPr>
        <p:blipFill>
          <a:blip r:embed="rId4">
            <a:alphaModFix/>
          </a:blip>
          <a:stretch>
            <a:fillRect/>
          </a:stretch>
        </p:blipFill>
        <p:spPr>
          <a:xfrm>
            <a:off x="623875" y="969175"/>
            <a:ext cx="2144049" cy="1125646"/>
          </a:xfrm>
          <a:prstGeom prst="rect">
            <a:avLst/>
          </a:prstGeom>
          <a:noFill/>
          <a:ln>
            <a:noFill/>
          </a:ln>
        </p:spPr>
      </p:pic>
      <p:sp>
        <p:nvSpPr>
          <p:cNvPr id="208" name="Google Shape;208;p28"/>
          <p:cNvSpPr txBox="1"/>
          <p:nvPr/>
        </p:nvSpPr>
        <p:spPr>
          <a:xfrm>
            <a:off x="-44300" y="4485500"/>
            <a:ext cx="7155000" cy="6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Carstensen et al. (1999), American Psychologist</a:t>
            </a:r>
            <a:endParaRPr sz="11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sp>
        <p:nvSpPr>
          <p:cNvPr id="214" name="Google Shape;214;p29"/>
          <p:cNvSpPr txBox="1"/>
          <p:nvPr/>
        </p:nvSpPr>
        <p:spPr>
          <a:xfrm>
            <a:off x="-10375" y="147650"/>
            <a:ext cx="9144000" cy="9588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r>
              <a:rPr lang="en" sz="2800" b="1">
                <a:solidFill>
                  <a:schemeClr val="dk1"/>
                </a:solidFill>
              </a:rPr>
              <a:t>Why older adults?</a:t>
            </a:r>
            <a:endParaRPr sz="2800" b="1">
              <a:solidFill>
                <a:schemeClr val="dk1"/>
              </a:solidFill>
            </a:endParaRPr>
          </a:p>
        </p:txBody>
      </p:sp>
      <p:pic>
        <p:nvPicPr>
          <p:cNvPr id="215" name="Google Shape;215;p29" descr="Toxic Positivity: Don't Always Look on the Bright Side | Psychology Today"/>
          <p:cNvPicPr preferRelativeResize="0"/>
          <p:nvPr/>
        </p:nvPicPr>
        <p:blipFill rotWithShape="1">
          <a:blip r:embed="rId3">
            <a:alphaModFix/>
          </a:blip>
          <a:srcRect t="13016" b="16925"/>
          <a:stretch/>
        </p:blipFill>
        <p:spPr>
          <a:xfrm>
            <a:off x="623875" y="2197910"/>
            <a:ext cx="2144041" cy="1125639"/>
          </a:xfrm>
          <a:prstGeom prst="rect">
            <a:avLst/>
          </a:prstGeom>
          <a:noFill/>
          <a:ln>
            <a:noFill/>
          </a:ln>
        </p:spPr>
      </p:pic>
      <p:sp>
        <p:nvSpPr>
          <p:cNvPr id="216" name="Google Shape;216;p29"/>
          <p:cNvSpPr txBox="1"/>
          <p:nvPr/>
        </p:nvSpPr>
        <p:spPr>
          <a:xfrm>
            <a:off x="422401" y="3250125"/>
            <a:ext cx="2547000" cy="604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highlight>
                  <a:srgbClr val="FFFFFF"/>
                </a:highlight>
              </a:rPr>
              <a:t>“Seniors are often targeted because they tend to be trusting and polite.”</a:t>
            </a:r>
            <a:endParaRPr sz="1800">
              <a:solidFill>
                <a:schemeClr val="dk1"/>
              </a:solidFill>
            </a:endParaRPr>
          </a:p>
        </p:txBody>
      </p:sp>
      <p:pic>
        <p:nvPicPr>
          <p:cNvPr id="217" name="Google Shape;217;p29"/>
          <p:cNvPicPr preferRelativeResize="0"/>
          <p:nvPr/>
        </p:nvPicPr>
        <p:blipFill>
          <a:blip r:embed="rId4">
            <a:alphaModFix/>
          </a:blip>
          <a:stretch>
            <a:fillRect/>
          </a:stretch>
        </p:blipFill>
        <p:spPr>
          <a:xfrm>
            <a:off x="623875" y="969175"/>
            <a:ext cx="2144049" cy="1125646"/>
          </a:xfrm>
          <a:prstGeom prst="rect">
            <a:avLst/>
          </a:prstGeom>
          <a:noFill/>
          <a:ln>
            <a:noFill/>
          </a:ln>
        </p:spPr>
      </p:pic>
      <p:sp>
        <p:nvSpPr>
          <p:cNvPr id="218" name="Google Shape;218;p29"/>
          <p:cNvSpPr txBox="1"/>
          <p:nvPr/>
        </p:nvSpPr>
        <p:spPr>
          <a:xfrm>
            <a:off x="-44300" y="4485500"/>
            <a:ext cx="7155000" cy="6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Carstensen et al. (1999), American Psychologist</a:t>
            </a:r>
            <a:endParaRPr/>
          </a:p>
          <a:p>
            <a:pPr marL="0" marR="0" lvl="0" indent="0" algn="l" rtl="0">
              <a:lnSpc>
                <a:spcPct val="100000"/>
              </a:lnSpc>
              <a:spcBef>
                <a:spcPts val="0"/>
              </a:spcBef>
              <a:spcAft>
                <a:spcPts val="0"/>
              </a:spcAft>
              <a:buNone/>
            </a:pPr>
            <a:r>
              <a:rPr lang="en" sz="1100" u="sng">
                <a:solidFill>
                  <a:schemeClr val="hlink"/>
                </a:solidFill>
                <a:hlinkClick r:id="rId5"/>
              </a:rPr>
              <a:t>https://www.fbi.gov/how-we-can-help-you/scams-and-safety/common-frauds-and-scams/elder-fraud#</a:t>
            </a:r>
            <a:endParaRPr sz="1100" b="1">
              <a:solidFill>
                <a:schemeClr val="dk1"/>
              </a:solidFill>
            </a:endParaRPr>
          </a:p>
          <a:p>
            <a:pPr marL="0" lvl="0" indent="0" algn="l" rtl="0">
              <a:spcBef>
                <a:spcPts val="0"/>
              </a:spcBef>
              <a:spcAft>
                <a:spcPts val="0"/>
              </a:spcAft>
              <a:buNone/>
            </a:pPr>
            <a:endParaRPr sz="11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14</a:t>
            </a:fld>
            <a:endParaRPr/>
          </a:p>
        </p:txBody>
      </p:sp>
      <p:sp>
        <p:nvSpPr>
          <p:cNvPr id="224" name="Google Shape;224;p30"/>
          <p:cNvSpPr txBox="1"/>
          <p:nvPr/>
        </p:nvSpPr>
        <p:spPr>
          <a:xfrm>
            <a:off x="-10375" y="147650"/>
            <a:ext cx="9144000" cy="9588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r>
              <a:rPr lang="en" sz="2800" b="1">
                <a:solidFill>
                  <a:schemeClr val="dk1"/>
                </a:solidFill>
              </a:rPr>
              <a:t>Why older adults?</a:t>
            </a:r>
            <a:endParaRPr sz="2800" b="1">
              <a:solidFill>
                <a:schemeClr val="dk1"/>
              </a:solidFill>
            </a:endParaRPr>
          </a:p>
        </p:txBody>
      </p:sp>
      <p:pic>
        <p:nvPicPr>
          <p:cNvPr id="225" name="Google Shape;225;p30" descr="Toxic Positivity: Don't Always Look on the Bright Side | Psychology Today"/>
          <p:cNvPicPr preferRelativeResize="0"/>
          <p:nvPr/>
        </p:nvPicPr>
        <p:blipFill rotWithShape="1">
          <a:blip r:embed="rId3">
            <a:alphaModFix/>
          </a:blip>
          <a:srcRect t="13016" b="16925"/>
          <a:stretch/>
        </p:blipFill>
        <p:spPr>
          <a:xfrm>
            <a:off x="623875" y="2197910"/>
            <a:ext cx="2144041" cy="1125639"/>
          </a:xfrm>
          <a:prstGeom prst="rect">
            <a:avLst/>
          </a:prstGeom>
          <a:noFill/>
          <a:ln>
            <a:noFill/>
          </a:ln>
        </p:spPr>
      </p:pic>
      <p:sp>
        <p:nvSpPr>
          <p:cNvPr id="226" name="Google Shape;226;p30"/>
          <p:cNvSpPr txBox="1"/>
          <p:nvPr/>
        </p:nvSpPr>
        <p:spPr>
          <a:xfrm>
            <a:off x="422401" y="3250125"/>
            <a:ext cx="2547000" cy="604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highlight>
                  <a:srgbClr val="FFFFFF"/>
                </a:highlight>
              </a:rPr>
              <a:t>“Seniors are often targeted because they tend to be trusting and polite.”</a:t>
            </a:r>
            <a:endParaRPr sz="1800">
              <a:solidFill>
                <a:schemeClr val="dk1"/>
              </a:solidFill>
            </a:endParaRPr>
          </a:p>
        </p:txBody>
      </p:sp>
      <p:pic>
        <p:nvPicPr>
          <p:cNvPr id="227" name="Google Shape;227;p30"/>
          <p:cNvPicPr preferRelativeResize="0"/>
          <p:nvPr/>
        </p:nvPicPr>
        <p:blipFill>
          <a:blip r:embed="rId4">
            <a:alphaModFix/>
          </a:blip>
          <a:stretch>
            <a:fillRect/>
          </a:stretch>
        </p:blipFill>
        <p:spPr>
          <a:xfrm>
            <a:off x="623875" y="969175"/>
            <a:ext cx="2144049" cy="1125646"/>
          </a:xfrm>
          <a:prstGeom prst="rect">
            <a:avLst/>
          </a:prstGeom>
          <a:noFill/>
          <a:ln>
            <a:noFill/>
          </a:ln>
        </p:spPr>
      </p:pic>
      <p:sp>
        <p:nvSpPr>
          <p:cNvPr id="228" name="Google Shape;228;p30"/>
          <p:cNvSpPr txBox="1"/>
          <p:nvPr/>
        </p:nvSpPr>
        <p:spPr>
          <a:xfrm>
            <a:off x="-44300" y="4485500"/>
            <a:ext cx="7155000" cy="6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Carstensen et al. (1999), American Psychologist</a:t>
            </a:r>
            <a:endParaRPr/>
          </a:p>
          <a:p>
            <a:pPr marL="0" marR="0" lvl="0" indent="0" algn="l" rtl="0">
              <a:lnSpc>
                <a:spcPct val="100000"/>
              </a:lnSpc>
              <a:spcBef>
                <a:spcPts val="0"/>
              </a:spcBef>
              <a:spcAft>
                <a:spcPts val="0"/>
              </a:spcAft>
              <a:buNone/>
            </a:pPr>
            <a:r>
              <a:rPr lang="en" sz="1100" u="sng">
                <a:solidFill>
                  <a:schemeClr val="hlink"/>
                </a:solidFill>
                <a:hlinkClick r:id="rId5"/>
              </a:rPr>
              <a:t>https://www.fbi.gov/how-we-can-help-you/scams-and-safety/common-frauds-and-scams/elder-fraud#</a:t>
            </a:r>
            <a:endParaRPr sz="1100" b="1">
              <a:solidFill>
                <a:schemeClr val="dk1"/>
              </a:solidFill>
            </a:endParaRPr>
          </a:p>
          <a:p>
            <a:pPr marL="0" lvl="0" indent="0" algn="l" rtl="0">
              <a:spcBef>
                <a:spcPts val="0"/>
              </a:spcBef>
              <a:spcAft>
                <a:spcPts val="0"/>
              </a:spcAft>
              <a:buNone/>
            </a:pPr>
            <a:r>
              <a:rPr lang="en" sz="1100">
                <a:solidFill>
                  <a:schemeClr val="dk1"/>
                </a:solidFill>
              </a:rPr>
              <a:t>Yang et al. (2025), Communications Psychology (accepted in principle)</a:t>
            </a:r>
            <a:endParaRPr sz="11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15</a:t>
            </a:fld>
            <a:endParaRPr/>
          </a:p>
        </p:txBody>
      </p:sp>
      <p:sp>
        <p:nvSpPr>
          <p:cNvPr id="234" name="Google Shape;234;p31"/>
          <p:cNvSpPr txBox="1"/>
          <p:nvPr/>
        </p:nvSpPr>
        <p:spPr>
          <a:xfrm>
            <a:off x="-10375" y="147650"/>
            <a:ext cx="9144000" cy="9588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r>
              <a:rPr lang="en" sz="2800" b="1">
                <a:solidFill>
                  <a:schemeClr val="dk1"/>
                </a:solidFill>
              </a:rPr>
              <a:t>Why older adults?</a:t>
            </a:r>
            <a:endParaRPr sz="2800" b="1">
              <a:solidFill>
                <a:schemeClr val="dk1"/>
              </a:solidFill>
            </a:endParaRPr>
          </a:p>
        </p:txBody>
      </p:sp>
      <p:pic>
        <p:nvPicPr>
          <p:cNvPr id="235" name="Google Shape;235;p31" descr="Toxic Positivity: Don't Always Look on the Bright Side | Psychology Today"/>
          <p:cNvPicPr preferRelativeResize="0"/>
          <p:nvPr/>
        </p:nvPicPr>
        <p:blipFill rotWithShape="1">
          <a:blip r:embed="rId3">
            <a:alphaModFix/>
          </a:blip>
          <a:srcRect t="13016" b="16925"/>
          <a:stretch/>
        </p:blipFill>
        <p:spPr>
          <a:xfrm>
            <a:off x="623875" y="2197910"/>
            <a:ext cx="2144041" cy="1125639"/>
          </a:xfrm>
          <a:prstGeom prst="rect">
            <a:avLst/>
          </a:prstGeom>
          <a:noFill/>
          <a:ln>
            <a:noFill/>
          </a:ln>
        </p:spPr>
      </p:pic>
      <p:sp>
        <p:nvSpPr>
          <p:cNvPr id="236" name="Google Shape;236;p31"/>
          <p:cNvSpPr txBox="1"/>
          <p:nvPr/>
        </p:nvSpPr>
        <p:spPr>
          <a:xfrm>
            <a:off x="422401" y="3250125"/>
            <a:ext cx="2547000" cy="604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highlight>
                  <a:srgbClr val="FFFFFF"/>
                </a:highlight>
              </a:rPr>
              <a:t>“Seniors are often targeted because they tend to be trusting and polite.”</a:t>
            </a:r>
            <a:endParaRPr sz="1800">
              <a:solidFill>
                <a:schemeClr val="dk1"/>
              </a:solidFill>
            </a:endParaRPr>
          </a:p>
        </p:txBody>
      </p:sp>
      <p:pic>
        <p:nvPicPr>
          <p:cNvPr id="237" name="Google Shape;237;p31"/>
          <p:cNvPicPr preferRelativeResize="0"/>
          <p:nvPr/>
        </p:nvPicPr>
        <p:blipFill>
          <a:blip r:embed="rId4">
            <a:alphaModFix/>
          </a:blip>
          <a:stretch>
            <a:fillRect/>
          </a:stretch>
        </p:blipFill>
        <p:spPr>
          <a:xfrm>
            <a:off x="623875" y="969175"/>
            <a:ext cx="2144049" cy="1125646"/>
          </a:xfrm>
          <a:prstGeom prst="rect">
            <a:avLst/>
          </a:prstGeom>
          <a:noFill/>
          <a:ln>
            <a:noFill/>
          </a:ln>
        </p:spPr>
      </p:pic>
      <p:grpSp>
        <p:nvGrpSpPr>
          <p:cNvPr id="238" name="Google Shape;238;p31"/>
          <p:cNvGrpSpPr/>
          <p:nvPr/>
        </p:nvGrpSpPr>
        <p:grpSpPr>
          <a:xfrm>
            <a:off x="4282261" y="783809"/>
            <a:ext cx="3536347" cy="3256289"/>
            <a:chOff x="2638293" y="866725"/>
            <a:chExt cx="3306233" cy="3044399"/>
          </a:xfrm>
        </p:grpSpPr>
        <p:pic>
          <p:nvPicPr>
            <p:cNvPr id="239" name="Google Shape;239;p31"/>
            <p:cNvPicPr preferRelativeResize="0"/>
            <p:nvPr/>
          </p:nvPicPr>
          <p:blipFill rotWithShape="1">
            <a:blip r:embed="rId5">
              <a:alphaModFix/>
            </a:blip>
            <a:srcRect l="8809" t="4098" b="10511"/>
            <a:stretch/>
          </p:blipFill>
          <p:spPr>
            <a:xfrm>
              <a:off x="3018925" y="866725"/>
              <a:ext cx="2925601" cy="2739374"/>
            </a:xfrm>
            <a:prstGeom prst="rect">
              <a:avLst/>
            </a:prstGeom>
            <a:noFill/>
            <a:ln>
              <a:noFill/>
            </a:ln>
          </p:spPr>
        </p:pic>
        <p:grpSp>
          <p:nvGrpSpPr>
            <p:cNvPr id="240" name="Google Shape;240;p31"/>
            <p:cNvGrpSpPr/>
            <p:nvPr/>
          </p:nvGrpSpPr>
          <p:grpSpPr>
            <a:xfrm>
              <a:off x="2638293" y="1111975"/>
              <a:ext cx="3226606" cy="2799149"/>
              <a:chOff x="2638293" y="1111975"/>
              <a:chExt cx="3226606" cy="2799149"/>
            </a:xfrm>
          </p:grpSpPr>
          <p:sp>
            <p:nvSpPr>
              <p:cNvPr id="241" name="Google Shape;241;p31"/>
              <p:cNvSpPr txBox="1"/>
              <p:nvPr/>
            </p:nvSpPr>
            <p:spPr>
              <a:xfrm rot="-5400000">
                <a:off x="1693743" y="2056525"/>
                <a:ext cx="22827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highlight>
                      <a:schemeClr val="lt1"/>
                    </a:highlight>
                  </a:rPr>
                  <a:t>Self-reported</a:t>
                </a:r>
                <a:endParaRPr b="1">
                  <a:solidFill>
                    <a:schemeClr val="dk1"/>
                  </a:solidFill>
                  <a:highlight>
                    <a:schemeClr val="lt1"/>
                  </a:highlight>
                </a:endParaRPr>
              </a:p>
              <a:p>
                <a:pPr marL="0" lvl="0" indent="0" algn="ctr" rtl="0">
                  <a:spcBef>
                    <a:spcPts val="0"/>
                  </a:spcBef>
                  <a:spcAft>
                    <a:spcPts val="0"/>
                  </a:spcAft>
                  <a:buNone/>
                </a:pPr>
                <a:r>
                  <a:rPr lang="en" b="1">
                    <a:solidFill>
                      <a:schemeClr val="dk1"/>
                    </a:solidFill>
                    <a:highlight>
                      <a:schemeClr val="lt1"/>
                    </a:highlight>
                  </a:rPr>
                  <a:t>Financial Exploitation</a:t>
                </a:r>
                <a:endParaRPr b="1">
                  <a:solidFill>
                    <a:schemeClr val="dk1"/>
                  </a:solidFill>
                  <a:highlight>
                    <a:schemeClr val="lt1"/>
                  </a:highlight>
                </a:endParaRPr>
              </a:p>
            </p:txBody>
          </p:sp>
          <p:grpSp>
            <p:nvGrpSpPr>
              <p:cNvPr id="242" name="Google Shape;242;p31"/>
              <p:cNvGrpSpPr/>
              <p:nvPr/>
            </p:nvGrpSpPr>
            <p:grpSpPr>
              <a:xfrm>
                <a:off x="3130309" y="3606098"/>
                <a:ext cx="2734590" cy="305026"/>
                <a:chOff x="3130309" y="3606098"/>
                <a:chExt cx="2734590" cy="305026"/>
              </a:xfrm>
            </p:grpSpPr>
            <p:sp>
              <p:nvSpPr>
                <p:cNvPr id="243" name="Google Shape;243;p31"/>
                <p:cNvSpPr txBox="1"/>
                <p:nvPr/>
              </p:nvSpPr>
              <p:spPr>
                <a:xfrm>
                  <a:off x="3130309" y="3606100"/>
                  <a:ext cx="996600" cy="15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highlight>
                        <a:schemeClr val="lt1"/>
                      </a:highlight>
                    </a:rPr>
                    <a:t>lower</a:t>
                  </a:r>
                  <a:endParaRPr sz="1200">
                    <a:solidFill>
                      <a:schemeClr val="dk1"/>
                    </a:solidFill>
                    <a:highlight>
                      <a:schemeClr val="lt1"/>
                    </a:highlight>
                  </a:endParaRPr>
                </a:p>
              </p:txBody>
            </p:sp>
            <p:sp>
              <p:nvSpPr>
                <p:cNvPr id="244" name="Google Shape;244;p31"/>
                <p:cNvSpPr txBox="1"/>
                <p:nvPr/>
              </p:nvSpPr>
              <p:spPr>
                <a:xfrm>
                  <a:off x="4868299" y="3606098"/>
                  <a:ext cx="996600" cy="15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highlight>
                        <a:schemeClr val="lt1"/>
                      </a:highlight>
                    </a:rPr>
                    <a:t>higher</a:t>
                  </a:r>
                  <a:endParaRPr sz="1200">
                    <a:solidFill>
                      <a:schemeClr val="dk1"/>
                    </a:solidFill>
                    <a:highlight>
                      <a:schemeClr val="lt1"/>
                    </a:highlight>
                  </a:endParaRPr>
                </a:p>
              </p:txBody>
            </p:sp>
            <p:sp>
              <p:nvSpPr>
                <p:cNvPr id="245" name="Google Shape;245;p31"/>
                <p:cNvSpPr txBox="1"/>
                <p:nvPr/>
              </p:nvSpPr>
              <p:spPr>
                <a:xfrm>
                  <a:off x="3691950" y="3722724"/>
                  <a:ext cx="1656900" cy="188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highlight>
                        <a:schemeClr val="lt1"/>
                      </a:highlight>
                    </a:rPr>
                    <a:t>Persuadability</a:t>
                  </a:r>
                  <a:endParaRPr b="1">
                    <a:solidFill>
                      <a:schemeClr val="dk1"/>
                    </a:solidFill>
                    <a:highlight>
                      <a:schemeClr val="lt1"/>
                    </a:highlight>
                  </a:endParaRPr>
                </a:p>
              </p:txBody>
            </p:sp>
          </p:grpSp>
        </p:grpSp>
      </p:grpSp>
      <p:sp>
        <p:nvSpPr>
          <p:cNvPr id="246" name="Google Shape;246;p31"/>
          <p:cNvSpPr txBox="1"/>
          <p:nvPr/>
        </p:nvSpPr>
        <p:spPr>
          <a:xfrm>
            <a:off x="-44300" y="4485500"/>
            <a:ext cx="7155000" cy="6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Carstensen et al. (1999), American Psychologist</a:t>
            </a:r>
            <a:endParaRPr/>
          </a:p>
          <a:p>
            <a:pPr marL="0" marR="0" lvl="0" indent="0" algn="l" rtl="0">
              <a:lnSpc>
                <a:spcPct val="100000"/>
              </a:lnSpc>
              <a:spcBef>
                <a:spcPts val="0"/>
              </a:spcBef>
              <a:spcAft>
                <a:spcPts val="0"/>
              </a:spcAft>
              <a:buNone/>
            </a:pPr>
            <a:r>
              <a:rPr lang="en" sz="1100" u="sng">
                <a:solidFill>
                  <a:schemeClr val="hlink"/>
                </a:solidFill>
                <a:hlinkClick r:id="rId6"/>
              </a:rPr>
              <a:t>https://www.fbi.gov/how-we-can-help-you/scams-and-safety/common-frauds-and-scams/elder-fraud#</a:t>
            </a:r>
            <a:endParaRPr sz="1100" b="1">
              <a:solidFill>
                <a:schemeClr val="dk1"/>
              </a:solidFill>
            </a:endParaRPr>
          </a:p>
          <a:p>
            <a:pPr marL="0" lvl="0" indent="0" algn="l" rtl="0">
              <a:spcBef>
                <a:spcPts val="0"/>
              </a:spcBef>
              <a:spcAft>
                <a:spcPts val="0"/>
              </a:spcAft>
              <a:buNone/>
            </a:pPr>
            <a:r>
              <a:rPr lang="en" sz="1100">
                <a:solidFill>
                  <a:schemeClr val="dk1"/>
                </a:solidFill>
              </a:rPr>
              <a:t>Yang et al. (2025), Communications Psychology (accepted in principle)</a:t>
            </a:r>
            <a:endParaRPr sz="11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16</a:t>
            </a:fld>
            <a:endParaRPr/>
          </a:p>
        </p:txBody>
      </p:sp>
      <p:sp>
        <p:nvSpPr>
          <p:cNvPr id="252" name="Google Shape;252;p32"/>
          <p:cNvSpPr txBox="1"/>
          <p:nvPr/>
        </p:nvSpPr>
        <p:spPr>
          <a:xfrm>
            <a:off x="-10375" y="147650"/>
            <a:ext cx="9144000" cy="9588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r>
              <a:rPr lang="en" sz="2800" b="1">
                <a:solidFill>
                  <a:schemeClr val="dk1"/>
                </a:solidFill>
              </a:rPr>
              <a:t>Why older adults?</a:t>
            </a:r>
            <a:endParaRPr sz="2800" b="1">
              <a:solidFill>
                <a:schemeClr val="dk1"/>
              </a:solidFill>
            </a:endParaRPr>
          </a:p>
        </p:txBody>
      </p:sp>
      <p:pic>
        <p:nvPicPr>
          <p:cNvPr id="253" name="Google Shape;253;p32" descr="Toxic Positivity: Don't Always Look on the Bright Side | Psychology Today"/>
          <p:cNvPicPr preferRelativeResize="0"/>
          <p:nvPr/>
        </p:nvPicPr>
        <p:blipFill rotWithShape="1">
          <a:blip r:embed="rId3">
            <a:alphaModFix/>
          </a:blip>
          <a:srcRect t="13016" b="16925"/>
          <a:stretch/>
        </p:blipFill>
        <p:spPr>
          <a:xfrm>
            <a:off x="623875" y="2197910"/>
            <a:ext cx="2144041" cy="1125639"/>
          </a:xfrm>
          <a:prstGeom prst="rect">
            <a:avLst/>
          </a:prstGeom>
          <a:noFill/>
          <a:ln>
            <a:noFill/>
          </a:ln>
        </p:spPr>
      </p:pic>
      <p:sp>
        <p:nvSpPr>
          <p:cNvPr id="254" name="Google Shape;254;p32"/>
          <p:cNvSpPr txBox="1"/>
          <p:nvPr/>
        </p:nvSpPr>
        <p:spPr>
          <a:xfrm>
            <a:off x="422401" y="3250125"/>
            <a:ext cx="2547000" cy="604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highlight>
                  <a:srgbClr val="FFFFFF"/>
                </a:highlight>
              </a:rPr>
              <a:t>“Seniors are often targeted because they tend to be trusting and polite.”</a:t>
            </a:r>
            <a:endParaRPr sz="1800">
              <a:solidFill>
                <a:schemeClr val="dk1"/>
              </a:solidFill>
            </a:endParaRPr>
          </a:p>
        </p:txBody>
      </p:sp>
      <p:pic>
        <p:nvPicPr>
          <p:cNvPr id="255" name="Google Shape;255;p32"/>
          <p:cNvPicPr preferRelativeResize="0"/>
          <p:nvPr/>
        </p:nvPicPr>
        <p:blipFill>
          <a:blip r:embed="rId4">
            <a:alphaModFix/>
          </a:blip>
          <a:stretch>
            <a:fillRect/>
          </a:stretch>
        </p:blipFill>
        <p:spPr>
          <a:xfrm>
            <a:off x="623875" y="969175"/>
            <a:ext cx="2144049" cy="1125646"/>
          </a:xfrm>
          <a:prstGeom prst="rect">
            <a:avLst/>
          </a:prstGeom>
          <a:noFill/>
          <a:ln>
            <a:noFill/>
          </a:ln>
        </p:spPr>
      </p:pic>
      <p:sp>
        <p:nvSpPr>
          <p:cNvPr id="256" name="Google Shape;256;p32"/>
          <p:cNvSpPr txBox="1"/>
          <p:nvPr/>
        </p:nvSpPr>
        <p:spPr>
          <a:xfrm>
            <a:off x="367800" y="4086325"/>
            <a:ext cx="8408400" cy="4701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dk1"/>
                </a:solidFill>
                <a:highlight>
                  <a:schemeClr val="lt1"/>
                </a:highlight>
              </a:rPr>
              <a:t>Age-related changes in social information processing</a:t>
            </a:r>
            <a:endParaRPr sz="2400" b="1" i="1">
              <a:solidFill>
                <a:schemeClr val="dk1"/>
              </a:solidFill>
              <a:highlight>
                <a:schemeClr val="lt1"/>
              </a:highlight>
            </a:endParaRPr>
          </a:p>
        </p:txBody>
      </p:sp>
      <p:sp>
        <p:nvSpPr>
          <p:cNvPr id="257" name="Google Shape;257;p32"/>
          <p:cNvSpPr txBox="1"/>
          <p:nvPr/>
        </p:nvSpPr>
        <p:spPr>
          <a:xfrm>
            <a:off x="-44300" y="4485500"/>
            <a:ext cx="7155000" cy="6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Carstensen et al. (1999), American Psychologist</a:t>
            </a:r>
            <a:endParaRPr/>
          </a:p>
          <a:p>
            <a:pPr marL="0" marR="0" lvl="0" indent="0" algn="l" rtl="0">
              <a:lnSpc>
                <a:spcPct val="100000"/>
              </a:lnSpc>
              <a:spcBef>
                <a:spcPts val="0"/>
              </a:spcBef>
              <a:spcAft>
                <a:spcPts val="0"/>
              </a:spcAft>
              <a:buNone/>
            </a:pPr>
            <a:r>
              <a:rPr lang="en" sz="1100" u="sng">
                <a:solidFill>
                  <a:schemeClr val="hlink"/>
                </a:solidFill>
                <a:hlinkClick r:id="rId5"/>
              </a:rPr>
              <a:t>https://www.fbi.gov/how-we-can-help-you/scams-and-safety/common-frauds-and-scams/elder-fraud#</a:t>
            </a:r>
            <a:endParaRPr sz="1100" b="1">
              <a:solidFill>
                <a:schemeClr val="dk1"/>
              </a:solidFill>
            </a:endParaRPr>
          </a:p>
          <a:p>
            <a:pPr marL="0" lvl="0" indent="0" algn="l" rtl="0">
              <a:spcBef>
                <a:spcPts val="0"/>
              </a:spcBef>
              <a:spcAft>
                <a:spcPts val="0"/>
              </a:spcAft>
              <a:buNone/>
            </a:pPr>
            <a:r>
              <a:rPr lang="en" sz="1100">
                <a:solidFill>
                  <a:schemeClr val="dk1"/>
                </a:solidFill>
              </a:rPr>
              <a:t>Yang et al. (2025), Communications Psychology (accepted in principle)</a:t>
            </a:r>
            <a:endParaRPr sz="1100">
              <a:solidFill>
                <a:schemeClr val="dk2"/>
              </a:solidFill>
            </a:endParaRPr>
          </a:p>
        </p:txBody>
      </p:sp>
      <p:grpSp>
        <p:nvGrpSpPr>
          <p:cNvPr id="258" name="Google Shape;258;p32"/>
          <p:cNvGrpSpPr/>
          <p:nvPr/>
        </p:nvGrpSpPr>
        <p:grpSpPr>
          <a:xfrm>
            <a:off x="4282261" y="783809"/>
            <a:ext cx="3536346" cy="3256289"/>
            <a:chOff x="2638293" y="866725"/>
            <a:chExt cx="3306232" cy="3044399"/>
          </a:xfrm>
        </p:grpSpPr>
        <p:pic>
          <p:nvPicPr>
            <p:cNvPr id="259" name="Google Shape;259;p32"/>
            <p:cNvPicPr preferRelativeResize="0"/>
            <p:nvPr/>
          </p:nvPicPr>
          <p:blipFill rotWithShape="1">
            <a:blip r:embed="rId6">
              <a:alphaModFix/>
            </a:blip>
            <a:srcRect l="8809" t="4098" b="10511"/>
            <a:stretch/>
          </p:blipFill>
          <p:spPr>
            <a:xfrm>
              <a:off x="3018925" y="866725"/>
              <a:ext cx="2925600" cy="2739375"/>
            </a:xfrm>
            <a:prstGeom prst="rect">
              <a:avLst/>
            </a:prstGeom>
            <a:noFill/>
            <a:ln>
              <a:noFill/>
            </a:ln>
          </p:spPr>
        </p:pic>
        <p:grpSp>
          <p:nvGrpSpPr>
            <p:cNvPr id="260" name="Google Shape;260;p32"/>
            <p:cNvGrpSpPr/>
            <p:nvPr/>
          </p:nvGrpSpPr>
          <p:grpSpPr>
            <a:xfrm>
              <a:off x="2638293" y="1111975"/>
              <a:ext cx="3226606" cy="2799149"/>
              <a:chOff x="2638293" y="1111975"/>
              <a:chExt cx="3226606" cy="2799149"/>
            </a:xfrm>
          </p:grpSpPr>
          <p:sp>
            <p:nvSpPr>
              <p:cNvPr id="261" name="Google Shape;261;p32"/>
              <p:cNvSpPr txBox="1"/>
              <p:nvPr/>
            </p:nvSpPr>
            <p:spPr>
              <a:xfrm rot="-5400000">
                <a:off x="1693743" y="2056525"/>
                <a:ext cx="22827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highlight>
                      <a:schemeClr val="lt1"/>
                    </a:highlight>
                  </a:rPr>
                  <a:t>Self-reported</a:t>
                </a:r>
                <a:endParaRPr b="1">
                  <a:solidFill>
                    <a:schemeClr val="dk1"/>
                  </a:solidFill>
                  <a:highlight>
                    <a:schemeClr val="lt1"/>
                  </a:highlight>
                </a:endParaRPr>
              </a:p>
              <a:p>
                <a:pPr marL="0" lvl="0" indent="0" algn="ctr" rtl="0">
                  <a:spcBef>
                    <a:spcPts val="0"/>
                  </a:spcBef>
                  <a:spcAft>
                    <a:spcPts val="0"/>
                  </a:spcAft>
                  <a:buNone/>
                </a:pPr>
                <a:r>
                  <a:rPr lang="en" b="1">
                    <a:solidFill>
                      <a:schemeClr val="dk1"/>
                    </a:solidFill>
                    <a:highlight>
                      <a:schemeClr val="lt1"/>
                    </a:highlight>
                  </a:rPr>
                  <a:t>Financial Exploitation</a:t>
                </a:r>
                <a:endParaRPr b="1">
                  <a:solidFill>
                    <a:schemeClr val="dk1"/>
                  </a:solidFill>
                  <a:highlight>
                    <a:schemeClr val="lt1"/>
                  </a:highlight>
                </a:endParaRPr>
              </a:p>
            </p:txBody>
          </p:sp>
          <p:grpSp>
            <p:nvGrpSpPr>
              <p:cNvPr id="262" name="Google Shape;262;p32"/>
              <p:cNvGrpSpPr/>
              <p:nvPr/>
            </p:nvGrpSpPr>
            <p:grpSpPr>
              <a:xfrm>
                <a:off x="3130309" y="3606098"/>
                <a:ext cx="2734590" cy="305026"/>
                <a:chOff x="3130309" y="3606098"/>
                <a:chExt cx="2734590" cy="305026"/>
              </a:xfrm>
            </p:grpSpPr>
            <p:sp>
              <p:nvSpPr>
                <p:cNvPr id="263" name="Google Shape;263;p32"/>
                <p:cNvSpPr txBox="1"/>
                <p:nvPr/>
              </p:nvSpPr>
              <p:spPr>
                <a:xfrm>
                  <a:off x="3130309" y="3606100"/>
                  <a:ext cx="996600" cy="15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highlight>
                        <a:schemeClr val="lt1"/>
                      </a:highlight>
                    </a:rPr>
                    <a:t>lower</a:t>
                  </a:r>
                  <a:endParaRPr sz="1200">
                    <a:solidFill>
                      <a:schemeClr val="dk1"/>
                    </a:solidFill>
                    <a:highlight>
                      <a:schemeClr val="lt1"/>
                    </a:highlight>
                  </a:endParaRPr>
                </a:p>
              </p:txBody>
            </p:sp>
            <p:sp>
              <p:nvSpPr>
                <p:cNvPr id="264" name="Google Shape;264;p32"/>
                <p:cNvSpPr txBox="1"/>
                <p:nvPr/>
              </p:nvSpPr>
              <p:spPr>
                <a:xfrm>
                  <a:off x="4868299" y="3606098"/>
                  <a:ext cx="996600" cy="15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highlight>
                        <a:schemeClr val="lt1"/>
                      </a:highlight>
                    </a:rPr>
                    <a:t>higher</a:t>
                  </a:r>
                  <a:endParaRPr sz="1200">
                    <a:solidFill>
                      <a:schemeClr val="dk1"/>
                    </a:solidFill>
                    <a:highlight>
                      <a:schemeClr val="lt1"/>
                    </a:highlight>
                  </a:endParaRPr>
                </a:p>
              </p:txBody>
            </p:sp>
            <p:sp>
              <p:nvSpPr>
                <p:cNvPr id="265" name="Google Shape;265;p32"/>
                <p:cNvSpPr txBox="1"/>
                <p:nvPr/>
              </p:nvSpPr>
              <p:spPr>
                <a:xfrm>
                  <a:off x="3691950" y="3722724"/>
                  <a:ext cx="1656900" cy="188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highlight>
                        <a:schemeClr val="lt1"/>
                      </a:highlight>
                    </a:rPr>
                    <a:t>Persuadability</a:t>
                  </a:r>
                  <a:endParaRPr b="1">
                    <a:solidFill>
                      <a:schemeClr val="dk1"/>
                    </a:solidFill>
                    <a:highlight>
                      <a:schemeClr val="lt1"/>
                    </a:highlight>
                  </a:endParaRPr>
                </a:p>
              </p:txBody>
            </p:sp>
          </p:grpSp>
        </p:gr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17</a:t>
            </a:fld>
            <a:endParaRPr/>
          </a:p>
        </p:txBody>
      </p:sp>
      <p:pic>
        <p:nvPicPr>
          <p:cNvPr id="271" name="Google Shape;271;p33"/>
          <p:cNvPicPr preferRelativeResize="0"/>
          <p:nvPr/>
        </p:nvPicPr>
        <p:blipFill>
          <a:blip r:embed="rId3">
            <a:alphaModFix/>
          </a:blip>
          <a:stretch>
            <a:fillRect/>
          </a:stretch>
        </p:blipFill>
        <p:spPr>
          <a:xfrm>
            <a:off x="287425" y="1240402"/>
            <a:ext cx="2900076" cy="1450050"/>
          </a:xfrm>
          <a:prstGeom prst="rect">
            <a:avLst/>
          </a:prstGeom>
          <a:noFill/>
          <a:ln>
            <a:noFill/>
          </a:ln>
        </p:spPr>
      </p:pic>
      <p:sp>
        <p:nvSpPr>
          <p:cNvPr id="272" name="Google Shape;272;p33"/>
          <p:cNvSpPr txBox="1"/>
          <p:nvPr/>
        </p:nvSpPr>
        <p:spPr>
          <a:xfrm>
            <a:off x="-10375" y="147650"/>
            <a:ext cx="9144000" cy="9588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r>
              <a:rPr lang="en" sz="2800" b="1">
                <a:solidFill>
                  <a:schemeClr val="dk1"/>
                </a:solidFill>
              </a:rPr>
              <a:t>Why older adults?</a:t>
            </a:r>
            <a:endParaRPr sz="2800" b="1">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18</a:t>
            </a:fld>
            <a:endParaRPr/>
          </a:p>
        </p:txBody>
      </p:sp>
      <p:pic>
        <p:nvPicPr>
          <p:cNvPr id="278" name="Google Shape;278;p34"/>
          <p:cNvPicPr preferRelativeResize="0"/>
          <p:nvPr/>
        </p:nvPicPr>
        <p:blipFill>
          <a:blip r:embed="rId3">
            <a:alphaModFix/>
          </a:blip>
          <a:stretch>
            <a:fillRect/>
          </a:stretch>
        </p:blipFill>
        <p:spPr>
          <a:xfrm>
            <a:off x="287425" y="1240402"/>
            <a:ext cx="2900076" cy="1450050"/>
          </a:xfrm>
          <a:prstGeom prst="rect">
            <a:avLst/>
          </a:prstGeom>
          <a:noFill/>
          <a:ln>
            <a:noFill/>
          </a:ln>
        </p:spPr>
      </p:pic>
      <p:sp>
        <p:nvSpPr>
          <p:cNvPr id="279" name="Google Shape;279;p34"/>
          <p:cNvSpPr/>
          <p:nvPr/>
        </p:nvSpPr>
        <p:spPr>
          <a:xfrm>
            <a:off x="150225" y="1305103"/>
            <a:ext cx="5003400" cy="1450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80" name="Google Shape;280;p34"/>
          <p:cNvPicPr preferRelativeResize="0"/>
          <p:nvPr/>
        </p:nvPicPr>
        <p:blipFill rotWithShape="1">
          <a:blip r:embed="rId4">
            <a:alphaModFix/>
          </a:blip>
          <a:srcRect l="3409" t="81817" b="-458"/>
          <a:stretch/>
        </p:blipFill>
        <p:spPr>
          <a:xfrm>
            <a:off x="222850" y="1616600"/>
            <a:ext cx="4213499" cy="1268398"/>
          </a:xfrm>
          <a:prstGeom prst="rect">
            <a:avLst/>
          </a:prstGeom>
          <a:noFill/>
          <a:ln>
            <a:noFill/>
          </a:ln>
        </p:spPr>
      </p:pic>
      <p:sp>
        <p:nvSpPr>
          <p:cNvPr id="281" name="Google Shape;281;p34"/>
          <p:cNvSpPr txBox="1"/>
          <p:nvPr/>
        </p:nvSpPr>
        <p:spPr>
          <a:xfrm>
            <a:off x="401251" y="1041750"/>
            <a:ext cx="4044000" cy="520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00">
                <a:solidFill>
                  <a:srgbClr val="2E2E2E"/>
                </a:solidFill>
              </a:rPr>
              <a:t>mPFC-whole brain functional correlation reduction in older adults</a:t>
            </a:r>
            <a:endParaRPr sz="2100">
              <a:solidFill>
                <a:schemeClr val="dk1"/>
              </a:solidFill>
            </a:endParaRPr>
          </a:p>
        </p:txBody>
      </p:sp>
      <p:sp>
        <p:nvSpPr>
          <p:cNvPr id="282" name="Google Shape;282;p34"/>
          <p:cNvSpPr txBox="1"/>
          <p:nvPr/>
        </p:nvSpPr>
        <p:spPr>
          <a:xfrm>
            <a:off x="-44300" y="4663225"/>
            <a:ext cx="7155000" cy="47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100">
                <a:solidFill>
                  <a:schemeClr val="dk2"/>
                </a:solidFill>
              </a:rPr>
              <a:t>Andrews-Hanna et al. (2007), Neuron</a:t>
            </a:r>
            <a:endParaRPr sz="1100">
              <a:solidFill>
                <a:schemeClr val="dk2"/>
              </a:solidFill>
            </a:endParaRPr>
          </a:p>
          <a:p>
            <a:pPr marL="0" marR="0" lvl="0" indent="0" algn="l" rtl="0">
              <a:lnSpc>
                <a:spcPct val="100000"/>
              </a:lnSpc>
              <a:spcBef>
                <a:spcPts val="0"/>
              </a:spcBef>
              <a:spcAft>
                <a:spcPts val="0"/>
              </a:spcAft>
              <a:buNone/>
            </a:pPr>
            <a:endParaRPr sz="1100">
              <a:solidFill>
                <a:schemeClr val="dk2"/>
              </a:solidFill>
            </a:endParaRPr>
          </a:p>
        </p:txBody>
      </p:sp>
      <p:sp>
        <p:nvSpPr>
          <p:cNvPr id="283" name="Google Shape;283;p34"/>
          <p:cNvSpPr txBox="1"/>
          <p:nvPr/>
        </p:nvSpPr>
        <p:spPr>
          <a:xfrm>
            <a:off x="-10375" y="147650"/>
            <a:ext cx="9144000" cy="9588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r>
              <a:rPr lang="en" sz="2800" b="1">
                <a:solidFill>
                  <a:schemeClr val="dk1"/>
                </a:solidFill>
              </a:rPr>
              <a:t>Why older adults?</a:t>
            </a:r>
            <a:endParaRPr sz="2800" b="1">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19</a:t>
            </a:fld>
            <a:endParaRPr/>
          </a:p>
        </p:txBody>
      </p:sp>
      <p:pic>
        <p:nvPicPr>
          <p:cNvPr id="289" name="Google Shape;289;p35"/>
          <p:cNvPicPr preferRelativeResize="0"/>
          <p:nvPr/>
        </p:nvPicPr>
        <p:blipFill>
          <a:blip r:embed="rId3">
            <a:alphaModFix/>
          </a:blip>
          <a:stretch>
            <a:fillRect/>
          </a:stretch>
        </p:blipFill>
        <p:spPr>
          <a:xfrm>
            <a:off x="287425" y="1240402"/>
            <a:ext cx="2900076" cy="1450050"/>
          </a:xfrm>
          <a:prstGeom prst="rect">
            <a:avLst/>
          </a:prstGeom>
          <a:noFill/>
          <a:ln>
            <a:noFill/>
          </a:ln>
        </p:spPr>
      </p:pic>
      <p:sp>
        <p:nvSpPr>
          <p:cNvPr id="290" name="Google Shape;290;p35"/>
          <p:cNvSpPr/>
          <p:nvPr/>
        </p:nvSpPr>
        <p:spPr>
          <a:xfrm>
            <a:off x="150225" y="1305103"/>
            <a:ext cx="5003400" cy="1450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91" name="Google Shape;291;p35"/>
          <p:cNvPicPr preferRelativeResize="0"/>
          <p:nvPr/>
        </p:nvPicPr>
        <p:blipFill rotWithShape="1">
          <a:blip r:embed="rId4">
            <a:alphaModFix/>
          </a:blip>
          <a:srcRect l="3409" t="81817" b="-458"/>
          <a:stretch/>
        </p:blipFill>
        <p:spPr>
          <a:xfrm>
            <a:off x="222850" y="1616600"/>
            <a:ext cx="4213499" cy="1268398"/>
          </a:xfrm>
          <a:prstGeom prst="rect">
            <a:avLst/>
          </a:prstGeom>
          <a:noFill/>
          <a:ln>
            <a:noFill/>
          </a:ln>
        </p:spPr>
      </p:pic>
      <p:pic>
        <p:nvPicPr>
          <p:cNvPr id="292" name="Google Shape;292;p35" title="spreng_2017_DMN_ECN.png"/>
          <p:cNvPicPr preferRelativeResize="0"/>
          <p:nvPr/>
        </p:nvPicPr>
        <p:blipFill rotWithShape="1">
          <a:blip r:embed="rId5">
            <a:alphaModFix/>
          </a:blip>
          <a:srcRect b="2018"/>
          <a:stretch/>
        </p:blipFill>
        <p:spPr>
          <a:xfrm>
            <a:off x="4671209" y="1616588"/>
            <a:ext cx="4146478" cy="2765386"/>
          </a:xfrm>
          <a:prstGeom prst="rect">
            <a:avLst/>
          </a:prstGeom>
          <a:noFill/>
          <a:ln>
            <a:noFill/>
          </a:ln>
        </p:spPr>
      </p:pic>
      <p:sp>
        <p:nvSpPr>
          <p:cNvPr id="293" name="Google Shape;293;p35"/>
          <p:cNvSpPr txBox="1"/>
          <p:nvPr/>
        </p:nvSpPr>
        <p:spPr>
          <a:xfrm>
            <a:off x="4571997" y="1041750"/>
            <a:ext cx="4344900" cy="520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00">
                <a:solidFill>
                  <a:srgbClr val="2E2E2E"/>
                </a:solidFill>
                <a:highlight>
                  <a:srgbClr val="FFFFFF"/>
                </a:highlight>
              </a:rPr>
              <a:t>Financial exploitation-related</a:t>
            </a:r>
            <a:endParaRPr sz="1900">
              <a:solidFill>
                <a:srgbClr val="2E2E2E"/>
              </a:solidFill>
              <a:highlight>
                <a:srgbClr val="FFFFFF"/>
              </a:highlight>
            </a:endParaRPr>
          </a:p>
          <a:p>
            <a:pPr marL="0" lvl="0" indent="0" algn="ctr" rtl="0">
              <a:spcBef>
                <a:spcPts val="0"/>
              </a:spcBef>
              <a:spcAft>
                <a:spcPts val="0"/>
              </a:spcAft>
              <a:buNone/>
            </a:pPr>
            <a:r>
              <a:rPr lang="en" sz="1900">
                <a:solidFill>
                  <a:srgbClr val="2E2E2E"/>
                </a:solidFill>
                <a:highlight>
                  <a:srgbClr val="FFFFFF"/>
                </a:highlight>
              </a:rPr>
              <a:t>Network connectivity differences</a:t>
            </a:r>
            <a:endParaRPr sz="2100">
              <a:solidFill>
                <a:schemeClr val="dk1"/>
              </a:solidFill>
            </a:endParaRPr>
          </a:p>
        </p:txBody>
      </p:sp>
      <p:sp>
        <p:nvSpPr>
          <p:cNvPr id="294" name="Google Shape;294;p35"/>
          <p:cNvSpPr txBox="1"/>
          <p:nvPr/>
        </p:nvSpPr>
        <p:spPr>
          <a:xfrm>
            <a:off x="401251" y="1041750"/>
            <a:ext cx="4044000" cy="520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00">
                <a:solidFill>
                  <a:srgbClr val="2E2E2E"/>
                </a:solidFill>
              </a:rPr>
              <a:t>mPFC-whole brain functional correlation reduction in older adults</a:t>
            </a:r>
            <a:endParaRPr sz="2100">
              <a:solidFill>
                <a:schemeClr val="dk1"/>
              </a:solidFill>
            </a:endParaRPr>
          </a:p>
        </p:txBody>
      </p:sp>
      <p:sp>
        <p:nvSpPr>
          <p:cNvPr id="295" name="Google Shape;295;p35"/>
          <p:cNvSpPr txBox="1"/>
          <p:nvPr/>
        </p:nvSpPr>
        <p:spPr>
          <a:xfrm>
            <a:off x="-44300" y="4663225"/>
            <a:ext cx="7155000" cy="47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100">
                <a:solidFill>
                  <a:schemeClr val="dk2"/>
                </a:solidFill>
              </a:rPr>
              <a:t>Andrews-Hanna et al. (2007), Neuron</a:t>
            </a:r>
            <a:endParaRPr sz="1100">
              <a:solidFill>
                <a:schemeClr val="dk2"/>
              </a:solidFill>
            </a:endParaRPr>
          </a:p>
          <a:p>
            <a:pPr marL="0" marR="0" lvl="0" indent="0" algn="l" rtl="0">
              <a:lnSpc>
                <a:spcPct val="100000"/>
              </a:lnSpc>
              <a:spcBef>
                <a:spcPts val="0"/>
              </a:spcBef>
              <a:spcAft>
                <a:spcPts val="0"/>
              </a:spcAft>
              <a:buNone/>
            </a:pPr>
            <a:r>
              <a:rPr lang="en" sz="1100">
                <a:solidFill>
                  <a:schemeClr val="dk2"/>
                </a:solidFill>
              </a:rPr>
              <a:t>Spreng et al. (2017), Journal of Gerontology</a:t>
            </a:r>
            <a:endParaRPr sz="1100">
              <a:solidFill>
                <a:schemeClr val="dk2"/>
              </a:solidFill>
            </a:endParaRPr>
          </a:p>
          <a:p>
            <a:pPr marL="0" marR="0" lvl="0" indent="0" algn="l" rtl="0">
              <a:lnSpc>
                <a:spcPct val="100000"/>
              </a:lnSpc>
              <a:spcBef>
                <a:spcPts val="0"/>
              </a:spcBef>
              <a:spcAft>
                <a:spcPts val="0"/>
              </a:spcAft>
              <a:buNone/>
            </a:pPr>
            <a:endParaRPr sz="1100">
              <a:solidFill>
                <a:schemeClr val="dk2"/>
              </a:solidFill>
            </a:endParaRPr>
          </a:p>
        </p:txBody>
      </p:sp>
      <p:sp>
        <p:nvSpPr>
          <p:cNvPr id="296" name="Google Shape;296;p35"/>
          <p:cNvSpPr txBox="1"/>
          <p:nvPr/>
        </p:nvSpPr>
        <p:spPr>
          <a:xfrm>
            <a:off x="-10375" y="147650"/>
            <a:ext cx="9144000" cy="9588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r>
              <a:rPr lang="en" sz="2800" b="1">
                <a:solidFill>
                  <a:schemeClr val="dk1"/>
                </a:solidFill>
              </a:rPr>
              <a:t>Why older adults?</a:t>
            </a:r>
            <a:endParaRPr sz="2800" b="1">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20</a:t>
            </a:fld>
            <a:endParaRPr/>
          </a:p>
        </p:txBody>
      </p:sp>
      <p:pic>
        <p:nvPicPr>
          <p:cNvPr id="302" name="Google Shape;302;p36"/>
          <p:cNvPicPr preferRelativeResize="0"/>
          <p:nvPr/>
        </p:nvPicPr>
        <p:blipFill>
          <a:blip r:embed="rId3">
            <a:alphaModFix/>
          </a:blip>
          <a:stretch>
            <a:fillRect/>
          </a:stretch>
        </p:blipFill>
        <p:spPr>
          <a:xfrm>
            <a:off x="287425" y="1240402"/>
            <a:ext cx="2900076" cy="1450050"/>
          </a:xfrm>
          <a:prstGeom prst="rect">
            <a:avLst/>
          </a:prstGeom>
          <a:noFill/>
          <a:ln>
            <a:noFill/>
          </a:ln>
        </p:spPr>
      </p:pic>
      <p:sp>
        <p:nvSpPr>
          <p:cNvPr id="303" name="Google Shape;303;p36"/>
          <p:cNvSpPr/>
          <p:nvPr/>
        </p:nvSpPr>
        <p:spPr>
          <a:xfrm>
            <a:off x="150225" y="1305103"/>
            <a:ext cx="5003400" cy="1450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04" name="Google Shape;304;p36"/>
          <p:cNvPicPr preferRelativeResize="0"/>
          <p:nvPr/>
        </p:nvPicPr>
        <p:blipFill rotWithShape="1">
          <a:blip r:embed="rId4">
            <a:alphaModFix/>
          </a:blip>
          <a:srcRect l="3409" t="81817" b="-458"/>
          <a:stretch/>
        </p:blipFill>
        <p:spPr>
          <a:xfrm>
            <a:off x="222850" y="1616600"/>
            <a:ext cx="4213499" cy="1268398"/>
          </a:xfrm>
          <a:prstGeom prst="rect">
            <a:avLst/>
          </a:prstGeom>
          <a:noFill/>
          <a:ln>
            <a:noFill/>
          </a:ln>
        </p:spPr>
      </p:pic>
      <p:pic>
        <p:nvPicPr>
          <p:cNvPr id="305" name="Google Shape;305;p36" title="spreng_2017_DMN_ECN.png"/>
          <p:cNvPicPr preferRelativeResize="0"/>
          <p:nvPr/>
        </p:nvPicPr>
        <p:blipFill rotWithShape="1">
          <a:blip r:embed="rId5">
            <a:alphaModFix/>
          </a:blip>
          <a:srcRect b="2018"/>
          <a:stretch/>
        </p:blipFill>
        <p:spPr>
          <a:xfrm>
            <a:off x="4671209" y="1616588"/>
            <a:ext cx="4146478" cy="2765386"/>
          </a:xfrm>
          <a:prstGeom prst="rect">
            <a:avLst/>
          </a:prstGeom>
          <a:noFill/>
          <a:ln>
            <a:noFill/>
          </a:ln>
        </p:spPr>
      </p:pic>
      <p:sp>
        <p:nvSpPr>
          <p:cNvPr id="306" name="Google Shape;306;p36"/>
          <p:cNvSpPr txBox="1"/>
          <p:nvPr/>
        </p:nvSpPr>
        <p:spPr>
          <a:xfrm>
            <a:off x="4571997" y="1041750"/>
            <a:ext cx="4344900" cy="520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00">
                <a:solidFill>
                  <a:srgbClr val="2E2E2E"/>
                </a:solidFill>
                <a:highlight>
                  <a:srgbClr val="FFFFFF"/>
                </a:highlight>
              </a:rPr>
              <a:t>Financial exploitation-related</a:t>
            </a:r>
            <a:endParaRPr sz="1900">
              <a:solidFill>
                <a:srgbClr val="2E2E2E"/>
              </a:solidFill>
              <a:highlight>
                <a:srgbClr val="FFFFFF"/>
              </a:highlight>
            </a:endParaRPr>
          </a:p>
          <a:p>
            <a:pPr marL="0" lvl="0" indent="0" algn="ctr" rtl="0">
              <a:spcBef>
                <a:spcPts val="0"/>
              </a:spcBef>
              <a:spcAft>
                <a:spcPts val="0"/>
              </a:spcAft>
              <a:buNone/>
            </a:pPr>
            <a:r>
              <a:rPr lang="en" sz="1900">
                <a:solidFill>
                  <a:srgbClr val="2E2E2E"/>
                </a:solidFill>
                <a:highlight>
                  <a:srgbClr val="FFFFFF"/>
                </a:highlight>
              </a:rPr>
              <a:t>Network connectivity differences</a:t>
            </a:r>
            <a:endParaRPr sz="2100">
              <a:solidFill>
                <a:schemeClr val="dk1"/>
              </a:solidFill>
            </a:endParaRPr>
          </a:p>
        </p:txBody>
      </p:sp>
      <p:sp>
        <p:nvSpPr>
          <p:cNvPr id="307" name="Google Shape;307;p36"/>
          <p:cNvSpPr txBox="1"/>
          <p:nvPr/>
        </p:nvSpPr>
        <p:spPr>
          <a:xfrm>
            <a:off x="401251" y="1041750"/>
            <a:ext cx="4044000" cy="520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00">
                <a:solidFill>
                  <a:srgbClr val="2E2E2E"/>
                </a:solidFill>
              </a:rPr>
              <a:t>mPFC-whole brain functional correlation reduction in older adults</a:t>
            </a:r>
            <a:endParaRPr sz="2100">
              <a:solidFill>
                <a:schemeClr val="dk1"/>
              </a:solidFill>
            </a:endParaRPr>
          </a:p>
        </p:txBody>
      </p:sp>
      <p:sp>
        <p:nvSpPr>
          <p:cNvPr id="308" name="Google Shape;308;p36"/>
          <p:cNvSpPr txBox="1"/>
          <p:nvPr/>
        </p:nvSpPr>
        <p:spPr>
          <a:xfrm>
            <a:off x="389350" y="3624775"/>
            <a:ext cx="3880500" cy="7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400" b="1">
                <a:solidFill>
                  <a:schemeClr val="dk1"/>
                </a:solidFill>
                <a:highlight>
                  <a:schemeClr val="lt1"/>
                </a:highlight>
              </a:rPr>
              <a:t>Age-related changes in</a:t>
            </a:r>
            <a:endParaRPr sz="2400" b="1">
              <a:solidFill>
                <a:schemeClr val="dk1"/>
              </a:solidFill>
              <a:highlight>
                <a:schemeClr val="lt1"/>
              </a:highlight>
            </a:endParaRPr>
          </a:p>
          <a:p>
            <a:pPr marL="0" lvl="0" indent="0" algn="l" rtl="0">
              <a:spcBef>
                <a:spcPts val="0"/>
              </a:spcBef>
              <a:spcAft>
                <a:spcPts val="0"/>
              </a:spcAft>
              <a:buNone/>
            </a:pPr>
            <a:r>
              <a:rPr lang="en" sz="2400" b="1">
                <a:solidFill>
                  <a:schemeClr val="dk1"/>
                </a:solidFill>
                <a:highlight>
                  <a:schemeClr val="lt1"/>
                </a:highlight>
              </a:rPr>
              <a:t>network connectivity</a:t>
            </a:r>
            <a:endParaRPr sz="2400" b="1"/>
          </a:p>
        </p:txBody>
      </p:sp>
      <p:sp>
        <p:nvSpPr>
          <p:cNvPr id="309" name="Google Shape;309;p36"/>
          <p:cNvSpPr txBox="1"/>
          <p:nvPr/>
        </p:nvSpPr>
        <p:spPr>
          <a:xfrm>
            <a:off x="-44300" y="4663225"/>
            <a:ext cx="7155000" cy="47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100">
                <a:solidFill>
                  <a:schemeClr val="dk2"/>
                </a:solidFill>
              </a:rPr>
              <a:t>Andrews-Hanna et al. (2007), Neuron</a:t>
            </a:r>
            <a:endParaRPr sz="1100">
              <a:solidFill>
                <a:schemeClr val="dk2"/>
              </a:solidFill>
            </a:endParaRPr>
          </a:p>
          <a:p>
            <a:pPr marL="0" marR="0" lvl="0" indent="0" algn="l" rtl="0">
              <a:lnSpc>
                <a:spcPct val="100000"/>
              </a:lnSpc>
              <a:spcBef>
                <a:spcPts val="0"/>
              </a:spcBef>
              <a:spcAft>
                <a:spcPts val="0"/>
              </a:spcAft>
              <a:buNone/>
            </a:pPr>
            <a:r>
              <a:rPr lang="en" sz="1100">
                <a:solidFill>
                  <a:schemeClr val="dk2"/>
                </a:solidFill>
              </a:rPr>
              <a:t>Spreng et al. (2017), Journal of Gerontology</a:t>
            </a:r>
            <a:endParaRPr sz="1100">
              <a:solidFill>
                <a:schemeClr val="dk2"/>
              </a:solidFill>
            </a:endParaRPr>
          </a:p>
          <a:p>
            <a:pPr marL="0" marR="0" lvl="0" indent="0" algn="l" rtl="0">
              <a:lnSpc>
                <a:spcPct val="100000"/>
              </a:lnSpc>
              <a:spcBef>
                <a:spcPts val="0"/>
              </a:spcBef>
              <a:spcAft>
                <a:spcPts val="0"/>
              </a:spcAft>
              <a:buNone/>
            </a:pPr>
            <a:endParaRPr sz="1100">
              <a:solidFill>
                <a:schemeClr val="dk2"/>
              </a:solidFill>
            </a:endParaRPr>
          </a:p>
        </p:txBody>
      </p:sp>
      <p:sp>
        <p:nvSpPr>
          <p:cNvPr id="310" name="Google Shape;310;p36"/>
          <p:cNvSpPr txBox="1"/>
          <p:nvPr/>
        </p:nvSpPr>
        <p:spPr>
          <a:xfrm>
            <a:off x="-10375" y="147650"/>
            <a:ext cx="9144000" cy="9588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r>
              <a:rPr lang="en" sz="2800" b="1">
                <a:solidFill>
                  <a:schemeClr val="dk1"/>
                </a:solidFill>
              </a:rPr>
              <a:t>Why older adults?</a:t>
            </a:r>
            <a:endParaRPr sz="2800" b="1">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21</a:t>
            </a:fld>
            <a:endParaRPr/>
          </a:p>
        </p:txBody>
      </p:sp>
      <p:sp>
        <p:nvSpPr>
          <p:cNvPr id="316" name="Google Shape;316;p37"/>
          <p:cNvSpPr txBox="1"/>
          <p:nvPr/>
        </p:nvSpPr>
        <p:spPr>
          <a:xfrm>
            <a:off x="-44300" y="4663225"/>
            <a:ext cx="7155000" cy="470100"/>
          </a:xfrm>
          <a:prstGeom prst="rect">
            <a:avLst/>
          </a:prstGeom>
          <a:noFill/>
          <a:ln>
            <a:noFill/>
          </a:ln>
        </p:spPr>
        <p:txBody>
          <a:bodyPr spcFirstLastPara="1" wrap="square" lIns="91425" tIns="91425" rIns="91425" bIns="91425" anchor="t" anchorCtr="0">
            <a:noAutofit/>
          </a:bodyPr>
          <a:lstStyle/>
          <a:p>
            <a:pPr marL="279400" lvl="0" indent="-279400" algn="l" rtl="0">
              <a:lnSpc>
                <a:spcPct val="100000"/>
              </a:lnSpc>
              <a:spcBef>
                <a:spcPts val="0"/>
              </a:spcBef>
              <a:spcAft>
                <a:spcPts val="0"/>
              </a:spcAft>
              <a:buNone/>
            </a:pPr>
            <a:r>
              <a:rPr lang="en" sz="1100">
                <a:solidFill>
                  <a:schemeClr val="dk2"/>
                </a:solidFill>
              </a:rPr>
              <a:t>Harlé &amp; Sanfey (2012), Neuropsychologia</a:t>
            </a:r>
            <a:endParaRPr sz="1100">
              <a:solidFill>
                <a:schemeClr val="dk2"/>
              </a:solidFill>
            </a:endParaRPr>
          </a:p>
          <a:p>
            <a:pPr marL="0" lvl="0" indent="0" algn="l" rtl="0">
              <a:lnSpc>
                <a:spcPct val="100000"/>
              </a:lnSpc>
              <a:spcBef>
                <a:spcPts val="0"/>
              </a:spcBef>
              <a:spcAft>
                <a:spcPts val="0"/>
              </a:spcAft>
              <a:buNone/>
            </a:pPr>
            <a:endParaRPr sz="1100">
              <a:solidFill>
                <a:schemeClr val="dk2"/>
              </a:solidFill>
            </a:endParaRPr>
          </a:p>
          <a:p>
            <a:pPr marL="279400" lvl="0" indent="-279400" algn="l" rtl="0">
              <a:lnSpc>
                <a:spcPct val="100000"/>
              </a:lnSpc>
              <a:spcBef>
                <a:spcPts val="0"/>
              </a:spcBef>
              <a:spcAft>
                <a:spcPts val="0"/>
              </a:spcAft>
              <a:buNone/>
            </a:pPr>
            <a:endParaRPr sz="1100">
              <a:solidFill>
                <a:schemeClr val="dk2"/>
              </a:solidFill>
            </a:endParaRPr>
          </a:p>
        </p:txBody>
      </p:sp>
      <p:sp>
        <p:nvSpPr>
          <p:cNvPr id="317" name="Google Shape;317;p37"/>
          <p:cNvSpPr txBox="1"/>
          <p:nvPr/>
        </p:nvSpPr>
        <p:spPr>
          <a:xfrm>
            <a:off x="-10375" y="147650"/>
            <a:ext cx="8842800" cy="1127100"/>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None/>
            </a:pPr>
            <a:r>
              <a:rPr lang="en" sz="2800" b="1">
                <a:solidFill>
                  <a:schemeClr val="dk1"/>
                </a:solidFill>
              </a:rPr>
              <a:t>Fairness-related social decision-making</a:t>
            </a:r>
            <a:endParaRPr sz="2800" b="1">
              <a:solidFill>
                <a:schemeClr val="dk1"/>
              </a:solidFill>
            </a:endParaRPr>
          </a:p>
          <a:p>
            <a:pPr marL="457200" marR="0" lvl="0" indent="0" algn="l" rtl="0">
              <a:lnSpc>
                <a:spcPct val="100000"/>
              </a:lnSpc>
              <a:spcBef>
                <a:spcPts val="0"/>
              </a:spcBef>
              <a:spcAft>
                <a:spcPts val="0"/>
              </a:spcAft>
              <a:buNone/>
            </a:pPr>
            <a:endParaRPr sz="2800" b="1">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22</a:t>
            </a:fld>
            <a:endParaRPr/>
          </a:p>
        </p:txBody>
      </p:sp>
      <p:sp>
        <p:nvSpPr>
          <p:cNvPr id="323" name="Google Shape;323;p38"/>
          <p:cNvSpPr txBox="1"/>
          <p:nvPr/>
        </p:nvSpPr>
        <p:spPr>
          <a:xfrm>
            <a:off x="-44300" y="4663225"/>
            <a:ext cx="7155000" cy="470100"/>
          </a:xfrm>
          <a:prstGeom prst="rect">
            <a:avLst/>
          </a:prstGeom>
          <a:noFill/>
          <a:ln>
            <a:noFill/>
          </a:ln>
        </p:spPr>
        <p:txBody>
          <a:bodyPr spcFirstLastPara="1" wrap="square" lIns="91425" tIns="91425" rIns="91425" bIns="91425" anchor="t" anchorCtr="0">
            <a:noAutofit/>
          </a:bodyPr>
          <a:lstStyle/>
          <a:p>
            <a:pPr marL="279400" lvl="0" indent="-279400" algn="l" rtl="0">
              <a:lnSpc>
                <a:spcPct val="100000"/>
              </a:lnSpc>
              <a:spcBef>
                <a:spcPts val="0"/>
              </a:spcBef>
              <a:spcAft>
                <a:spcPts val="0"/>
              </a:spcAft>
              <a:buNone/>
            </a:pPr>
            <a:r>
              <a:rPr lang="en" sz="1100">
                <a:solidFill>
                  <a:schemeClr val="dk2"/>
                </a:solidFill>
              </a:rPr>
              <a:t>Harlé &amp; Sanfey (2012), Neuropsychologia</a:t>
            </a:r>
            <a:endParaRPr sz="1100">
              <a:solidFill>
                <a:schemeClr val="dk2"/>
              </a:solidFill>
            </a:endParaRPr>
          </a:p>
          <a:p>
            <a:pPr marL="0" lvl="0" indent="0" algn="l" rtl="0">
              <a:lnSpc>
                <a:spcPct val="100000"/>
              </a:lnSpc>
              <a:spcBef>
                <a:spcPts val="0"/>
              </a:spcBef>
              <a:spcAft>
                <a:spcPts val="0"/>
              </a:spcAft>
              <a:buNone/>
            </a:pPr>
            <a:endParaRPr sz="1100">
              <a:solidFill>
                <a:schemeClr val="dk2"/>
              </a:solidFill>
            </a:endParaRPr>
          </a:p>
          <a:p>
            <a:pPr marL="279400" lvl="0" indent="-279400" algn="l" rtl="0">
              <a:lnSpc>
                <a:spcPct val="100000"/>
              </a:lnSpc>
              <a:spcBef>
                <a:spcPts val="0"/>
              </a:spcBef>
              <a:spcAft>
                <a:spcPts val="0"/>
              </a:spcAft>
              <a:buNone/>
            </a:pPr>
            <a:endParaRPr sz="1100">
              <a:solidFill>
                <a:schemeClr val="dk2"/>
              </a:solidFill>
            </a:endParaRPr>
          </a:p>
        </p:txBody>
      </p:sp>
      <p:sp>
        <p:nvSpPr>
          <p:cNvPr id="324" name="Google Shape;324;p38"/>
          <p:cNvSpPr txBox="1"/>
          <p:nvPr/>
        </p:nvSpPr>
        <p:spPr>
          <a:xfrm>
            <a:off x="-10375" y="147650"/>
            <a:ext cx="8842800" cy="1127100"/>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None/>
            </a:pPr>
            <a:r>
              <a:rPr lang="en" sz="2800" b="1">
                <a:solidFill>
                  <a:schemeClr val="dk1"/>
                </a:solidFill>
              </a:rPr>
              <a:t>Fairness-related social decision-making</a:t>
            </a:r>
            <a:endParaRPr sz="2800" b="1">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23</a:t>
            </a:fld>
            <a:endParaRPr/>
          </a:p>
        </p:txBody>
      </p:sp>
      <p:sp>
        <p:nvSpPr>
          <p:cNvPr id="330" name="Google Shape;330;p39"/>
          <p:cNvSpPr txBox="1"/>
          <p:nvPr/>
        </p:nvSpPr>
        <p:spPr>
          <a:xfrm>
            <a:off x="-44300" y="4663225"/>
            <a:ext cx="7155000" cy="470100"/>
          </a:xfrm>
          <a:prstGeom prst="rect">
            <a:avLst/>
          </a:prstGeom>
          <a:noFill/>
          <a:ln>
            <a:noFill/>
          </a:ln>
        </p:spPr>
        <p:txBody>
          <a:bodyPr spcFirstLastPara="1" wrap="square" lIns="91425" tIns="91425" rIns="91425" bIns="91425" anchor="t" anchorCtr="0">
            <a:noAutofit/>
          </a:bodyPr>
          <a:lstStyle/>
          <a:p>
            <a:pPr marL="279400" lvl="0" indent="-279400" algn="l" rtl="0">
              <a:lnSpc>
                <a:spcPct val="100000"/>
              </a:lnSpc>
              <a:spcBef>
                <a:spcPts val="0"/>
              </a:spcBef>
              <a:spcAft>
                <a:spcPts val="0"/>
              </a:spcAft>
              <a:buNone/>
            </a:pPr>
            <a:r>
              <a:rPr lang="en" sz="1100">
                <a:solidFill>
                  <a:schemeClr val="dk2"/>
                </a:solidFill>
              </a:rPr>
              <a:t>Harlé &amp; Sanfey (2012), Neuropsychologia</a:t>
            </a:r>
            <a:endParaRPr sz="1100">
              <a:solidFill>
                <a:schemeClr val="dk2"/>
              </a:solidFill>
            </a:endParaRPr>
          </a:p>
          <a:p>
            <a:pPr marL="279400" lvl="0" indent="-279400" algn="l" rtl="0">
              <a:lnSpc>
                <a:spcPct val="100000"/>
              </a:lnSpc>
              <a:spcBef>
                <a:spcPts val="0"/>
              </a:spcBef>
              <a:spcAft>
                <a:spcPts val="0"/>
              </a:spcAft>
              <a:buNone/>
            </a:pPr>
            <a:r>
              <a:rPr lang="en" sz="1100">
                <a:solidFill>
                  <a:schemeClr val="dk2"/>
                </a:solidFill>
              </a:rPr>
              <a:t>Batten et al. (2023), Nature Human Behavior</a:t>
            </a:r>
            <a:endParaRPr sz="1100">
              <a:solidFill>
                <a:schemeClr val="dk2"/>
              </a:solidFill>
            </a:endParaRPr>
          </a:p>
          <a:p>
            <a:pPr marL="279400" lvl="0" indent="-279400" algn="l" rtl="0">
              <a:lnSpc>
                <a:spcPct val="100000"/>
              </a:lnSpc>
              <a:spcBef>
                <a:spcPts val="0"/>
              </a:spcBef>
              <a:spcAft>
                <a:spcPts val="0"/>
              </a:spcAft>
              <a:buNone/>
            </a:pPr>
            <a:endParaRPr sz="1100">
              <a:solidFill>
                <a:schemeClr val="dk2"/>
              </a:solidFill>
            </a:endParaRPr>
          </a:p>
        </p:txBody>
      </p:sp>
      <p:sp>
        <p:nvSpPr>
          <p:cNvPr id="331" name="Google Shape;331;p39"/>
          <p:cNvSpPr txBox="1"/>
          <p:nvPr/>
        </p:nvSpPr>
        <p:spPr>
          <a:xfrm>
            <a:off x="-10375" y="147650"/>
            <a:ext cx="8842800" cy="1127100"/>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None/>
            </a:pPr>
            <a:r>
              <a:rPr lang="en" sz="2800" b="1">
                <a:solidFill>
                  <a:schemeClr val="dk1"/>
                </a:solidFill>
              </a:rPr>
              <a:t>Fairness-related social decision-making</a:t>
            </a:r>
            <a:endParaRPr sz="2800" b="1">
              <a:solidFill>
                <a:schemeClr val="dk1"/>
              </a:solidFill>
            </a:endParaRPr>
          </a:p>
        </p:txBody>
      </p:sp>
      <p:sp>
        <p:nvSpPr>
          <p:cNvPr id="332" name="Google Shape;332;p39"/>
          <p:cNvSpPr txBox="1"/>
          <p:nvPr/>
        </p:nvSpPr>
        <p:spPr>
          <a:xfrm>
            <a:off x="296700" y="817838"/>
            <a:ext cx="3047100" cy="55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b="1" i="1">
                <a:solidFill>
                  <a:schemeClr val="dk1"/>
                </a:solidFill>
                <a:latin typeface="Times New Roman"/>
                <a:ea typeface="Times New Roman"/>
                <a:cs typeface="Times New Roman"/>
                <a:sym typeface="Times New Roman"/>
              </a:rPr>
              <a:t>The Ultimatum Game</a:t>
            </a:r>
            <a:endParaRPr sz="2200" b="1" i="1">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24</a:t>
            </a:fld>
            <a:endParaRPr/>
          </a:p>
        </p:txBody>
      </p:sp>
      <p:sp>
        <p:nvSpPr>
          <p:cNvPr id="338" name="Google Shape;338;p40"/>
          <p:cNvSpPr txBox="1"/>
          <p:nvPr/>
        </p:nvSpPr>
        <p:spPr>
          <a:xfrm>
            <a:off x="-44300" y="4663225"/>
            <a:ext cx="7155000" cy="470100"/>
          </a:xfrm>
          <a:prstGeom prst="rect">
            <a:avLst/>
          </a:prstGeom>
          <a:noFill/>
          <a:ln>
            <a:noFill/>
          </a:ln>
        </p:spPr>
        <p:txBody>
          <a:bodyPr spcFirstLastPara="1" wrap="square" lIns="91425" tIns="91425" rIns="91425" bIns="91425" anchor="t" anchorCtr="0">
            <a:noAutofit/>
          </a:bodyPr>
          <a:lstStyle/>
          <a:p>
            <a:pPr marL="279400" lvl="0" indent="-279400" algn="l" rtl="0">
              <a:lnSpc>
                <a:spcPct val="100000"/>
              </a:lnSpc>
              <a:spcBef>
                <a:spcPts val="0"/>
              </a:spcBef>
              <a:spcAft>
                <a:spcPts val="0"/>
              </a:spcAft>
              <a:buNone/>
            </a:pPr>
            <a:r>
              <a:rPr lang="en" sz="1100">
                <a:solidFill>
                  <a:schemeClr val="dk2"/>
                </a:solidFill>
              </a:rPr>
              <a:t>Harlé &amp; Sanfey (2012), Neuropsychologia</a:t>
            </a:r>
            <a:endParaRPr sz="1100">
              <a:solidFill>
                <a:schemeClr val="dk2"/>
              </a:solidFill>
            </a:endParaRPr>
          </a:p>
          <a:p>
            <a:pPr marL="279400" lvl="0" indent="-279400" algn="l" rtl="0">
              <a:lnSpc>
                <a:spcPct val="100000"/>
              </a:lnSpc>
              <a:spcBef>
                <a:spcPts val="0"/>
              </a:spcBef>
              <a:spcAft>
                <a:spcPts val="0"/>
              </a:spcAft>
              <a:buNone/>
            </a:pPr>
            <a:r>
              <a:rPr lang="en" sz="1100">
                <a:solidFill>
                  <a:schemeClr val="dk2"/>
                </a:solidFill>
              </a:rPr>
              <a:t>Batten et al. (2023), Nature Human Behavior</a:t>
            </a:r>
            <a:endParaRPr sz="1100">
              <a:solidFill>
                <a:schemeClr val="dk2"/>
              </a:solidFill>
            </a:endParaRPr>
          </a:p>
          <a:p>
            <a:pPr marL="279400" lvl="0" indent="-279400" algn="l" rtl="0">
              <a:lnSpc>
                <a:spcPct val="100000"/>
              </a:lnSpc>
              <a:spcBef>
                <a:spcPts val="0"/>
              </a:spcBef>
              <a:spcAft>
                <a:spcPts val="0"/>
              </a:spcAft>
              <a:buNone/>
            </a:pPr>
            <a:endParaRPr sz="1100">
              <a:solidFill>
                <a:schemeClr val="dk2"/>
              </a:solidFill>
            </a:endParaRPr>
          </a:p>
        </p:txBody>
      </p:sp>
      <p:sp>
        <p:nvSpPr>
          <p:cNvPr id="339" name="Google Shape;339;p40"/>
          <p:cNvSpPr txBox="1"/>
          <p:nvPr/>
        </p:nvSpPr>
        <p:spPr>
          <a:xfrm>
            <a:off x="-10375" y="147650"/>
            <a:ext cx="8842800" cy="1127100"/>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None/>
            </a:pPr>
            <a:r>
              <a:rPr lang="en" sz="2800" b="1">
                <a:solidFill>
                  <a:schemeClr val="dk1"/>
                </a:solidFill>
              </a:rPr>
              <a:t>Fairness-related social decision-making</a:t>
            </a:r>
            <a:endParaRPr sz="2800" b="1">
              <a:solidFill>
                <a:schemeClr val="dk1"/>
              </a:solidFill>
            </a:endParaRPr>
          </a:p>
        </p:txBody>
      </p:sp>
      <p:sp>
        <p:nvSpPr>
          <p:cNvPr id="340" name="Google Shape;340;p40"/>
          <p:cNvSpPr txBox="1"/>
          <p:nvPr/>
        </p:nvSpPr>
        <p:spPr>
          <a:xfrm>
            <a:off x="296700" y="817838"/>
            <a:ext cx="3047100" cy="55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b="1" i="1">
                <a:solidFill>
                  <a:schemeClr val="dk1"/>
                </a:solidFill>
                <a:latin typeface="Times New Roman"/>
                <a:ea typeface="Times New Roman"/>
                <a:cs typeface="Times New Roman"/>
                <a:sym typeface="Times New Roman"/>
              </a:rPr>
              <a:t>The Ultimatum Game</a:t>
            </a:r>
            <a:endParaRPr sz="2200" b="1" i="1">
              <a:solidFill>
                <a:schemeClr val="dk1"/>
              </a:solidFill>
              <a:latin typeface="Times New Roman"/>
              <a:ea typeface="Times New Roman"/>
              <a:cs typeface="Times New Roman"/>
              <a:sym typeface="Times New Roman"/>
            </a:endParaRPr>
          </a:p>
        </p:txBody>
      </p:sp>
      <p:grpSp>
        <p:nvGrpSpPr>
          <p:cNvPr id="341" name="Google Shape;341;p40"/>
          <p:cNvGrpSpPr/>
          <p:nvPr/>
        </p:nvGrpSpPr>
        <p:grpSpPr>
          <a:xfrm>
            <a:off x="340975" y="1544600"/>
            <a:ext cx="5143501" cy="2446538"/>
            <a:chOff x="340975" y="1544600"/>
            <a:chExt cx="5143501" cy="2446538"/>
          </a:xfrm>
        </p:grpSpPr>
        <p:pic>
          <p:nvPicPr>
            <p:cNvPr id="342" name="Google Shape;342;p40"/>
            <p:cNvPicPr preferRelativeResize="0"/>
            <p:nvPr/>
          </p:nvPicPr>
          <p:blipFill rotWithShape="1">
            <a:blip r:embed="rId3">
              <a:alphaModFix/>
            </a:blip>
            <a:srcRect l="-1739" t="-5211" b="-6135"/>
            <a:stretch/>
          </p:blipFill>
          <p:spPr>
            <a:xfrm>
              <a:off x="340975" y="1761963"/>
              <a:ext cx="5143501" cy="2229175"/>
            </a:xfrm>
            <a:prstGeom prst="rect">
              <a:avLst/>
            </a:prstGeom>
            <a:noFill/>
            <a:ln w="19050" cap="flat" cmpd="sng">
              <a:solidFill>
                <a:srgbClr val="9E9E9E"/>
              </a:solidFill>
              <a:prstDash val="solid"/>
              <a:round/>
              <a:headEnd type="none" w="sm" len="sm"/>
              <a:tailEnd type="none" w="sm" len="sm"/>
            </a:ln>
          </p:spPr>
        </p:pic>
        <p:sp>
          <p:nvSpPr>
            <p:cNvPr id="343" name="Google Shape;343;p40"/>
            <p:cNvSpPr txBox="1"/>
            <p:nvPr/>
          </p:nvSpPr>
          <p:spPr>
            <a:xfrm>
              <a:off x="667275" y="1544600"/>
              <a:ext cx="1297200" cy="339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b="1">
                  <a:solidFill>
                    <a:schemeClr val="dk1"/>
                  </a:solidFill>
                </a:rPr>
                <a:t>Age effect</a:t>
              </a:r>
              <a:endParaRPr sz="1800" b="1">
                <a:solidFill>
                  <a:schemeClr val="dk1"/>
                </a:solidFill>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25</a:t>
            </a:fld>
            <a:endParaRPr/>
          </a:p>
        </p:txBody>
      </p:sp>
      <p:sp>
        <p:nvSpPr>
          <p:cNvPr id="349" name="Google Shape;349;p41"/>
          <p:cNvSpPr txBox="1"/>
          <p:nvPr/>
        </p:nvSpPr>
        <p:spPr>
          <a:xfrm>
            <a:off x="-44300" y="4663225"/>
            <a:ext cx="7155000" cy="470100"/>
          </a:xfrm>
          <a:prstGeom prst="rect">
            <a:avLst/>
          </a:prstGeom>
          <a:noFill/>
          <a:ln>
            <a:noFill/>
          </a:ln>
        </p:spPr>
        <p:txBody>
          <a:bodyPr spcFirstLastPara="1" wrap="square" lIns="91425" tIns="91425" rIns="91425" bIns="91425" anchor="t" anchorCtr="0">
            <a:noAutofit/>
          </a:bodyPr>
          <a:lstStyle/>
          <a:p>
            <a:pPr marL="279400" lvl="0" indent="-279400" algn="l" rtl="0">
              <a:lnSpc>
                <a:spcPct val="100000"/>
              </a:lnSpc>
              <a:spcBef>
                <a:spcPts val="0"/>
              </a:spcBef>
              <a:spcAft>
                <a:spcPts val="0"/>
              </a:spcAft>
              <a:buNone/>
            </a:pPr>
            <a:r>
              <a:rPr lang="en" sz="1100">
                <a:solidFill>
                  <a:schemeClr val="dk2"/>
                </a:solidFill>
              </a:rPr>
              <a:t>Harlé &amp; Sanfey (2012), Neuropsychologia</a:t>
            </a:r>
            <a:endParaRPr sz="1100">
              <a:solidFill>
                <a:schemeClr val="dk2"/>
              </a:solidFill>
            </a:endParaRPr>
          </a:p>
          <a:p>
            <a:pPr marL="279400" lvl="0" indent="-279400" algn="l" rtl="0">
              <a:lnSpc>
                <a:spcPct val="100000"/>
              </a:lnSpc>
              <a:spcBef>
                <a:spcPts val="0"/>
              </a:spcBef>
              <a:spcAft>
                <a:spcPts val="0"/>
              </a:spcAft>
              <a:buNone/>
            </a:pPr>
            <a:r>
              <a:rPr lang="en" sz="1100">
                <a:solidFill>
                  <a:schemeClr val="dk2"/>
                </a:solidFill>
              </a:rPr>
              <a:t>Batten et al. (2023), Nature Human Behavior</a:t>
            </a:r>
            <a:endParaRPr sz="1100">
              <a:solidFill>
                <a:schemeClr val="dk2"/>
              </a:solidFill>
            </a:endParaRPr>
          </a:p>
          <a:p>
            <a:pPr marL="279400" lvl="0" indent="-279400" algn="l" rtl="0">
              <a:lnSpc>
                <a:spcPct val="100000"/>
              </a:lnSpc>
              <a:spcBef>
                <a:spcPts val="0"/>
              </a:spcBef>
              <a:spcAft>
                <a:spcPts val="0"/>
              </a:spcAft>
              <a:buNone/>
            </a:pPr>
            <a:endParaRPr sz="1100">
              <a:solidFill>
                <a:schemeClr val="dk2"/>
              </a:solidFill>
            </a:endParaRPr>
          </a:p>
        </p:txBody>
      </p:sp>
      <p:sp>
        <p:nvSpPr>
          <p:cNvPr id="350" name="Google Shape;350;p41"/>
          <p:cNvSpPr txBox="1"/>
          <p:nvPr/>
        </p:nvSpPr>
        <p:spPr>
          <a:xfrm>
            <a:off x="-10375" y="147650"/>
            <a:ext cx="8842800" cy="1127100"/>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None/>
            </a:pPr>
            <a:r>
              <a:rPr lang="en" sz="2800" b="1">
                <a:solidFill>
                  <a:schemeClr val="dk1"/>
                </a:solidFill>
              </a:rPr>
              <a:t>Fairness-related social decision-making</a:t>
            </a:r>
            <a:endParaRPr sz="2800" b="1">
              <a:solidFill>
                <a:schemeClr val="dk1"/>
              </a:solidFill>
            </a:endParaRPr>
          </a:p>
        </p:txBody>
      </p:sp>
      <p:sp>
        <p:nvSpPr>
          <p:cNvPr id="351" name="Google Shape;351;p41"/>
          <p:cNvSpPr txBox="1"/>
          <p:nvPr/>
        </p:nvSpPr>
        <p:spPr>
          <a:xfrm>
            <a:off x="296700" y="817838"/>
            <a:ext cx="3047100" cy="55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b="1" i="1">
                <a:solidFill>
                  <a:schemeClr val="dk1"/>
                </a:solidFill>
                <a:latin typeface="Times New Roman"/>
                <a:ea typeface="Times New Roman"/>
                <a:cs typeface="Times New Roman"/>
                <a:sym typeface="Times New Roman"/>
              </a:rPr>
              <a:t>The Ultimatum Game</a:t>
            </a:r>
            <a:endParaRPr sz="2200" b="1" i="1">
              <a:solidFill>
                <a:schemeClr val="dk1"/>
              </a:solidFill>
              <a:latin typeface="Times New Roman"/>
              <a:ea typeface="Times New Roman"/>
              <a:cs typeface="Times New Roman"/>
              <a:sym typeface="Times New Roman"/>
            </a:endParaRPr>
          </a:p>
        </p:txBody>
      </p:sp>
      <p:grpSp>
        <p:nvGrpSpPr>
          <p:cNvPr id="352" name="Google Shape;352;p41"/>
          <p:cNvGrpSpPr/>
          <p:nvPr/>
        </p:nvGrpSpPr>
        <p:grpSpPr>
          <a:xfrm>
            <a:off x="340975" y="1544600"/>
            <a:ext cx="5143501" cy="2446538"/>
            <a:chOff x="340975" y="1544600"/>
            <a:chExt cx="5143501" cy="2446538"/>
          </a:xfrm>
        </p:grpSpPr>
        <p:pic>
          <p:nvPicPr>
            <p:cNvPr id="353" name="Google Shape;353;p41"/>
            <p:cNvPicPr preferRelativeResize="0"/>
            <p:nvPr/>
          </p:nvPicPr>
          <p:blipFill rotWithShape="1">
            <a:blip r:embed="rId3">
              <a:alphaModFix/>
            </a:blip>
            <a:srcRect l="-1739" t="-5211" b="-6135"/>
            <a:stretch/>
          </p:blipFill>
          <p:spPr>
            <a:xfrm>
              <a:off x="340975" y="1761963"/>
              <a:ext cx="5143501" cy="2229175"/>
            </a:xfrm>
            <a:prstGeom prst="rect">
              <a:avLst/>
            </a:prstGeom>
            <a:noFill/>
            <a:ln w="19050" cap="flat" cmpd="sng">
              <a:solidFill>
                <a:srgbClr val="9E9E9E"/>
              </a:solidFill>
              <a:prstDash val="solid"/>
              <a:round/>
              <a:headEnd type="none" w="sm" len="sm"/>
              <a:tailEnd type="none" w="sm" len="sm"/>
            </a:ln>
          </p:spPr>
        </p:pic>
        <p:sp>
          <p:nvSpPr>
            <p:cNvPr id="354" name="Google Shape;354;p41"/>
            <p:cNvSpPr txBox="1"/>
            <p:nvPr/>
          </p:nvSpPr>
          <p:spPr>
            <a:xfrm>
              <a:off x="667275" y="1544600"/>
              <a:ext cx="1297200" cy="339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b="1">
                  <a:solidFill>
                    <a:schemeClr val="dk1"/>
                  </a:solidFill>
                </a:rPr>
                <a:t>Age effect</a:t>
              </a:r>
              <a:endParaRPr sz="1800" b="1">
                <a:solidFill>
                  <a:schemeClr val="dk1"/>
                </a:solidFill>
              </a:endParaRPr>
            </a:p>
          </p:txBody>
        </p:sp>
      </p:grpSp>
      <p:grpSp>
        <p:nvGrpSpPr>
          <p:cNvPr id="355" name="Google Shape;355;p41"/>
          <p:cNvGrpSpPr/>
          <p:nvPr/>
        </p:nvGrpSpPr>
        <p:grpSpPr>
          <a:xfrm>
            <a:off x="5616650" y="1374642"/>
            <a:ext cx="3029907" cy="2787590"/>
            <a:chOff x="5616650" y="1605367"/>
            <a:chExt cx="3029907" cy="2787590"/>
          </a:xfrm>
        </p:grpSpPr>
        <p:pic>
          <p:nvPicPr>
            <p:cNvPr id="356" name="Google Shape;356;p41"/>
            <p:cNvPicPr preferRelativeResize="0"/>
            <p:nvPr/>
          </p:nvPicPr>
          <p:blipFill rotWithShape="1">
            <a:blip r:embed="rId4">
              <a:alphaModFix/>
            </a:blip>
            <a:srcRect t="14965" r="61151"/>
            <a:stretch/>
          </p:blipFill>
          <p:spPr>
            <a:xfrm>
              <a:off x="5616662" y="2066774"/>
              <a:ext cx="3029895" cy="2326183"/>
            </a:xfrm>
            <a:prstGeom prst="rect">
              <a:avLst/>
            </a:prstGeom>
            <a:noFill/>
            <a:ln>
              <a:noFill/>
            </a:ln>
          </p:spPr>
        </p:pic>
        <p:sp>
          <p:nvSpPr>
            <p:cNvPr id="357" name="Google Shape;357;p41"/>
            <p:cNvSpPr/>
            <p:nvPr/>
          </p:nvSpPr>
          <p:spPr>
            <a:xfrm>
              <a:off x="5616650" y="1831550"/>
              <a:ext cx="2991300" cy="2561400"/>
            </a:xfrm>
            <a:prstGeom prst="rect">
              <a:avLst/>
            </a:prstGeom>
            <a:noFill/>
            <a:ln w="19050" cap="flat" cmpd="sng">
              <a:solidFill>
                <a:srgbClr val="9E9E9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8" name="Google Shape;358;p41"/>
            <p:cNvSpPr txBox="1"/>
            <p:nvPr/>
          </p:nvSpPr>
          <p:spPr>
            <a:xfrm>
              <a:off x="5731500" y="1605367"/>
              <a:ext cx="2628000" cy="339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b="1">
                  <a:solidFill>
                    <a:schemeClr val="dk1"/>
                  </a:solidFill>
                </a:rPr>
                <a:t>Social context effect</a:t>
              </a:r>
              <a:endParaRPr sz="1800" b="1">
                <a:solidFill>
                  <a:schemeClr val="dk1"/>
                </a:solidFill>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26</a:t>
            </a:fld>
            <a:endParaRPr/>
          </a:p>
        </p:txBody>
      </p:sp>
      <p:sp>
        <p:nvSpPr>
          <p:cNvPr id="364" name="Google Shape;364;p42"/>
          <p:cNvSpPr txBox="1"/>
          <p:nvPr/>
        </p:nvSpPr>
        <p:spPr>
          <a:xfrm>
            <a:off x="-44300" y="4663225"/>
            <a:ext cx="7155000" cy="470100"/>
          </a:xfrm>
          <a:prstGeom prst="rect">
            <a:avLst/>
          </a:prstGeom>
          <a:noFill/>
          <a:ln>
            <a:noFill/>
          </a:ln>
        </p:spPr>
        <p:txBody>
          <a:bodyPr spcFirstLastPara="1" wrap="square" lIns="91425" tIns="91425" rIns="91425" bIns="91425" anchor="t" anchorCtr="0">
            <a:noAutofit/>
          </a:bodyPr>
          <a:lstStyle/>
          <a:p>
            <a:pPr marL="279400" lvl="0" indent="-279400" algn="l" rtl="0">
              <a:lnSpc>
                <a:spcPct val="100000"/>
              </a:lnSpc>
              <a:spcBef>
                <a:spcPts val="0"/>
              </a:spcBef>
              <a:spcAft>
                <a:spcPts val="0"/>
              </a:spcAft>
              <a:buNone/>
            </a:pPr>
            <a:r>
              <a:rPr lang="en" sz="1100">
                <a:solidFill>
                  <a:schemeClr val="dk2"/>
                </a:solidFill>
              </a:rPr>
              <a:t>Harlé &amp; Sanfey (2012), Neuropsychologia</a:t>
            </a:r>
            <a:endParaRPr sz="1100">
              <a:solidFill>
                <a:schemeClr val="dk2"/>
              </a:solidFill>
            </a:endParaRPr>
          </a:p>
          <a:p>
            <a:pPr marL="279400" lvl="0" indent="-279400" algn="l" rtl="0">
              <a:lnSpc>
                <a:spcPct val="100000"/>
              </a:lnSpc>
              <a:spcBef>
                <a:spcPts val="0"/>
              </a:spcBef>
              <a:spcAft>
                <a:spcPts val="0"/>
              </a:spcAft>
              <a:buNone/>
            </a:pPr>
            <a:r>
              <a:rPr lang="en" sz="1100">
                <a:solidFill>
                  <a:schemeClr val="dk2"/>
                </a:solidFill>
              </a:rPr>
              <a:t>Batten et al. (2023), Nature Human Behavior</a:t>
            </a:r>
            <a:endParaRPr sz="1100">
              <a:solidFill>
                <a:schemeClr val="dk2"/>
              </a:solidFill>
            </a:endParaRPr>
          </a:p>
          <a:p>
            <a:pPr marL="279400" lvl="0" indent="-279400" algn="l" rtl="0">
              <a:lnSpc>
                <a:spcPct val="100000"/>
              </a:lnSpc>
              <a:spcBef>
                <a:spcPts val="0"/>
              </a:spcBef>
              <a:spcAft>
                <a:spcPts val="0"/>
              </a:spcAft>
              <a:buNone/>
            </a:pPr>
            <a:endParaRPr sz="1100">
              <a:solidFill>
                <a:schemeClr val="dk2"/>
              </a:solidFill>
            </a:endParaRPr>
          </a:p>
        </p:txBody>
      </p:sp>
      <p:sp>
        <p:nvSpPr>
          <p:cNvPr id="365" name="Google Shape;365;p42"/>
          <p:cNvSpPr txBox="1"/>
          <p:nvPr/>
        </p:nvSpPr>
        <p:spPr>
          <a:xfrm>
            <a:off x="-10375" y="147650"/>
            <a:ext cx="8842800" cy="1127100"/>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None/>
            </a:pPr>
            <a:r>
              <a:rPr lang="en" sz="2800" b="1">
                <a:solidFill>
                  <a:schemeClr val="dk1"/>
                </a:solidFill>
              </a:rPr>
              <a:t>Fairness-related social decision-making</a:t>
            </a:r>
            <a:endParaRPr sz="2800" b="1">
              <a:solidFill>
                <a:schemeClr val="dk1"/>
              </a:solidFill>
            </a:endParaRPr>
          </a:p>
        </p:txBody>
      </p:sp>
      <p:sp>
        <p:nvSpPr>
          <p:cNvPr id="366" name="Google Shape;366;p42"/>
          <p:cNvSpPr txBox="1"/>
          <p:nvPr/>
        </p:nvSpPr>
        <p:spPr>
          <a:xfrm>
            <a:off x="296700" y="817838"/>
            <a:ext cx="3047100" cy="55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b="1" i="1">
                <a:solidFill>
                  <a:schemeClr val="dk1"/>
                </a:solidFill>
                <a:latin typeface="Times New Roman"/>
                <a:ea typeface="Times New Roman"/>
                <a:cs typeface="Times New Roman"/>
                <a:sym typeface="Times New Roman"/>
              </a:rPr>
              <a:t>The Ultimatum Game</a:t>
            </a:r>
            <a:endParaRPr sz="2200" b="1" i="1">
              <a:solidFill>
                <a:schemeClr val="dk1"/>
              </a:solidFill>
              <a:latin typeface="Times New Roman"/>
              <a:ea typeface="Times New Roman"/>
              <a:cs typeface="Times New Roman"/>
              <a:sym typeface="Times New Roman"/>
            </a:endParaRPr>
          </a:p>
        </p:txBody>
      </p:sp>
      <p:grpSp>
        <p:nvGrpSpPr>
          <p:cNvPr id="367" name="Google Shape;367;p42"/>
          <p:cNvGrpSpPr/>
          <p:nvPr/>
        </p:nvGrpSpPr>
        <p:grpSpPr>
          <a:xfrm>
            <a:off x="340975" y="1544600"/>
            <a:ext cx="5143501" cy="2446538"/>
            <a:chOff x="340975" y="1544600"/>
            <a:chExt cx="5143501" cy="2446538"/>
          </a:xfrm>
        </p:grpSpPr>
        <p:pic>
          <p:nvPicPr>
            <p:cNvPr id="368" name="Google Shape;368;p42"/>
            <p:cNvPicPr preferRelativeResize="0"/>
            <p:nvPr/>
          </p:nvPicPr>
          <p:blipFill rotWithShape="1">
            <a:blip r:embed="rId3">
              <a:alphaModFix/>
            </a:blip>
            <a:srcRect l="-1739" t="-5211" b="-6135"/>
            <a:stretch/>
          </p:blipFill>
          <p:spPr>
            <a:xfrm>
              <a:off x="340975" y="1761963"/>
              <a:ext cx="5143501" cy="2229175"/>
            </a:xfrm>
            <a:prstGeom prst="rect">
              <a:avLst/>
            </a:prstGeom>
            <a:noFill/>
            <a:ln w="19050" cap="flat" cmpd="sng">
              <a:solidFill>
                <a:srgbClr val="9E9E9E"/>
              </a:solidFill>
              <a:prstDash val="solid"/>
              <a:round/>
              <a:headEnd type="none" w="sm" len="sm"/>
              <a:tailEnd type="none" w="sm" len="sm"/>
            </a:ln>
          </p:spPr>
        </p:pic>
        <p:sp>
          <p:nvSpPr>
            <p:cNvPr id="369" name="Google Shape;369;p42"/>
            <p:cNvSpPr txBox="1"/>
            <p:nvPr/>
          </p:nvSpPr>
          <p:spPr>
            <a:xfrm>
              <a:off x="667275" y="1544600"/>
              <a:ext cx="1297200" cy="339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b="1">
                  <a:solidFill>
                    <a:schemeClr val="dk1"/>
                  </a:solidFill>
                </a:rPr>
                <a:t>Age effect</a:t>
              </a:r>
              <a:endParaRPr sz="1800" b="1">
                <a:solidFill>
                  <a:schemeClr val="dk1"/>
                </a:solidFill>
              </a:endParaRPr>
            </a:p>
          </p:txBody>
        </p:sp>
      </p:grpSp>
      <p:grpSp>
        <p:nvGrpSpPr>
          <p:cNvPr id="370" name="Google Shape;370;p42"/>
          <p:cNvGrpSpPr/>
          <p:nvPr/>
        </p:nvGrpSpPr>
        <p:grpSpPr>
          <a:xfrm>
            <a:off x="5616650" y="1374642"/>
            <a:ext cx="3029907" cy="2787590"/>
            <a:chOff x="5616650" y="1605367"/>
            <a:chExt cx="3029907" cy="2787590"/>
          </a:xfrm>
        </p:grpSpPr>
        <p:pic>
          <p:nvPicPr>
            <p:cNvPr id="371" name="Google Shape;371;p42"/>
            <p:cNvPicPr preferRelativeResize="0"/>
            <p:nvPr/>
          </p:nvPicPr>
          <p:blipFill rotWithShape="1">
            <a:blip r:embed="rId4">
              <a:alphaModFix/>
            </a:blip>
            <a:srcRect t="14965" r="61151"/>
            <a:stretch/>
          </p:blipFill>
          <p:spPr>
            <a:xfrm>
              <a:off x="5616662" y="2066774"/>
              <a:ext cx="3029895" cy="2326183"/>
            </a:xfrm>
            <a:prstGeom prst="rect">
              <a:avLst/>
            </a:prstGeom>
            <a:noFill/>
            <a:ln>
              <a:noFill/>
            </a:ln>
          </p:spPr>
        </p:pic>
        <p:sp>
          <p:nvSpPr>
            <p:cNvPr id="372" name="Google Shape;372;p42"/>
            <p:cNvSpPr/>
            <p:nvPr/>
          </p:nvSpPr>
          <p:spPr>
            <a:xfrm>
              <a:off x="5616650" y="1831550"/>
              <a:ext cx="2991300" cy="2561400"/>
            </a:xfrm>
            <a:prstGeom prst="rect">
              <a:avLst/>
            </a:prstGeom>
            <a:noFill/>
            <a:ln w="19050" cap="flat" cmpd="sng">
              <a:solidFill>
                <a:srgbClr val="9E9E9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3" name="Google Shape;373;p42"/>
            <p:cNvSpPr txBox="1"/>
            <p:nvPr/>
          </p:nvSpPr>
          <p:spPr>
            <a:xfrm>
              <a:off x="5731500" y="1605367"/>
              <a:ext cx="2628000" cy="339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b="1">
                  <a:solidFill>
                    <a:schemeClr val="dk1"/>
                  </a:solidFill>
                </a:rPr>
                <a:t>Social context effect</a:t>
              </a:r>
              <a:endParaRPr sz="1800" b="1">
                <a:solidFill>
                  <a:schemeClr val="dk1"/>
                </a:solidFill>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27</a:t>
            </a:fld>
            <a:endParaRPr/>
          </a:p>
        </p:txBody>
      </p:sp>
      <p:sp>
        <p:nvSpPr>
          <p:cNvPr id="379" name="Google Shape;379;p43"/>
          <p:cNvSpPr txBox="1"/>
          <p:nvPr/>
        </p:nvSpPr>
        <p:spPr>
          <a:xfrm>
            <a:off x="-44300" y="4663225"/>
            <a:ext cx="7155000" cy="470100"/>
          </a:xfrm>
          <a:prstGeom prst="rect">
            <a:avLst/>
          </a:prstGeom>
          <a:noFill/>
          <a:ln>
            <a:noFill/>
          </a:ln>
        </p:spPr>
        <p:txBody>
          <a:bodyPr spcFirstLastPara="1" wrap="square" lIns="91425" tIns="91425" rIns="91425" bIns="91425" anchor="t" anchorCtr="0">
            <a:noAutofit/>
          </a:bodyPr>
          <a:lstStyle/>
          <a:p>
            <a:pPr marL="279400" lvl="0" indent="-279400" algn="l" rtl="0">
              <a:lnSpc>
                <a:spcPct val="100000"/>
              </a:lnSpc>
              <a:spcBef>
                <a:spcPts val="0"/>
              </a:spcBef>
              <a:spcAft>
                <a:spcPts val="0"/>
              </a:spcAft>
              <a:buNone/>
            </a:pPr>
            <a:r>
              <a:rPr lang="en" sz="1100">
                <a:solidFill>
                  <a:schemeClr val="dk2"/>
                </a:solidFill>
              </a:rPr>
              <a:t>Harlé &amp; Sanfey (2012), Neuropsychologia</a:t>
            </a:r>
            <a:endParaRPr sz="1100">
              <a:solidFill>
                <a:schemeClr val="dk2"/>
              </a:solidFill>
            </a:endParaRPr>
          </a:p>
          <a:p>
            <a:pPr marL="279400" lvl="0" indent="-279400" algn="l" rtl="0">
              <a:lnSpc>
                <a:spcPct val="100000"/>
              </a:lnSpc>
              <a:spcBef>
                <a:spcPts val="0"/>
              </a:spcBef>
              <a:spcAft>
                <a:spcPts val="0"/>
              </a:spcAft>
              <a:buNone/>
            </a:pPr>
            <a:r>
              <a:rPr lang="en" sz="1100">
                <a:solidFill>
                  <a:schemeClr val="dk2"/>
                </a:solidFill>
              </a:rPr>
              <a:t>Batten et al. (2023), Nature Human Behavior</a:t>
            </a:r>
            <a:endParaRPr sz="1100">
              <a:solidFill>
                <a:schemeClr val="dk2"/>
              </a:solidFill>
            </a:endParaRPr>
          </a:p>
          <a:p>
            <a:pPr marL="279400" lvl="0" indent="-279400" algn="l" rtl="0">
              <a:lnSpc>
                <a:spcPct val="100000"/>
              </a:lnSpc>
              <a:spcBef>
                <a:spcPts val="0"/>
              </a:spcBef>
              <a:spcAft>
                <a:spcPts val="0"/>
              </a:spcAft>
              <a:buNone/>
            </a:pPr>
            <a:endParaRPr sz="1100">
              <a:solidFill>
                <a:schemeClr val="dk2"/>
              </a:solidFill>
            </a:endParaRPr>
          </a:p>
        </p:txBody>
      </p:sp>
      <p:sp>
        <p:nvSpPr>
          <p:cNvPr id="380" name="Google Shape;380;p43"/>
          <p:cNvSpPr txBox="1"/>
          <p:nvPr/>
        </p:nvSpPr>
        <p:spPr>
          <a:xfrm>
            <a:off x="-10375" y="147650"/>
            <a:ext cx="8842800" cy="1127100"/>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None/>
            </a:pPr>
            <a:r>
              <a:rPr lang="en" sz="2800" b="1">
                <a:solidFill>
                  <a:schemeClr val="dk1"/>
                </a:solidFill>
              </a:rPr>
              <a:t>Fairness-related social decision-making</a:t>
            </a:r>
            <a:endParaRPr sz="2800" b="1">
              <a:solidFill>
                <a:schemeClr val="dk1"/>
              </a:solidFill>
            </a:endParaRPr>
          </a:p>
        </p:txBody>
      </p:sp>
      <p:sp>
        <p:nvSpPr>
          <p:cNvPr id="381" name="Google Shape;381;p43"/>
          <p:cNvSpPr txBox="1"/>
          <p:nvPr/>
        </p:nvSpPr>
        <p:spPr>
          <a:xfrm>
            <a:off x="296700" y="817838"/>
            <a:ext cx="3047100" cy="55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b="1" i="1">
                <a:solidFill>
                  <a:schemeClr val="dk1"/>
                </a:solidFill>
                <a:latin typeface="Times New Roman"/>
                <a:ea typeface="Times New Roman"/>
                <a:cs typeface="Times New Roman"/>
                <a:sym typeface="Times New Roman"/>
              </a:rPr>
              <a:t>The Ultimatum Game</a:t>
            </a:r>
            <a:endParaRPr sz="2200" b="1" i="1">
              <a:solidFill>
                <a:schemeClr val="dk1"/>
              </a:solidFill>
              <a:latin typeface="Times New Roman"/>
              <a:ea typeface="Times New Roman"/>
              <a:cs typeface="Times New Roman"/>
              <a:sym typeface="Times New Roman"/>
            </a:endParaRPr>
          </a:p>
        </p:txBody>
      </p:sp>
      <p:grpSp>
        <p:nvGrpSpPr>
          <p:cNvPr id="382" name="Google Shape;382;p43"/>
          <p:cNvGrpSpPr/>
          <p:nvPr/>
        </p:nvGrpSpPr>
        <p:grpSpPr>
          <a:xfrm>
            <a:off x="340975" y="1544600"/>
            <a:ext cx="5143501" cy="2446538"/>
            <a:chOff x="340975" y="1544600"/>
            <a:chExt cx="5143501" cy="2446538"/>
          </a:xfrm>
        </p:grpSpPr>
        <p:pic>
          <p:nvPicPr>
            <p:cNvPr id="383" name="Google Shape;383;p43"/>
            <p:cNvPicPr preferRelativeResize="0"/>
            <p:nvPr/>
          </p:nvPicPr>
          <p:blipFill rotWithShape="1">
            <a:blip r:embed="rId3">
              <a:alphaModFix/>
            </a:blip>
            <a:srcRect l="-1739" t="-5211" b="-6135"/>
            <a:stretch/>
          </p:blipFill>
          <p:spPr>
            <a:xfrm>
              <a:off x="340975" y="1761963"/>
              <a:ext cx="5143501" cy="2229175"/>
            </a:xfrm>
            <a:prstGeom prst="rect">
              <a:avLst/>
            </a:prstGeom>
            <a:noFill/>
            <a:ln w="19050" cap="flat" cmpd="sng">
              <a:solidFill>
                <a:srgbClr val="9E9E9E"/>
              </a:solidFill>
              <a:prstDash val="solid"/>
              <a:round/>
              <a:headEnd type="none" w="sm" len="sm"/>
              <a:tailEnd type="none" w="sm" len="sm"/>
            </a:ln>
          </p:spPr>
        </p:pic>
        <p:sp>
          <p:nvSpPr>
            <p:cNvPr id="384" name="Google Shape;384;p43"/>
            <p:cNvSpPr txBox="1"/>
            <p:nvPr/>
          </p:nvSpPr>
          <p:spPr>
            <a:xfrm>
              <a:off x="667275" y="1544600"/>
              <a:ext cx="1297200" cy="339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b="1">
                  <a:solidFill>
                    <a:schemeClr val="dk1"/>
                  </a:solidFill>
                </a:rPr>
                <a:t>Age effect</a:t>
              </a:r>
              <a:endParaRPr sz="1800" b="1">
                <a:solidFill>
                  <a:schemeClr val="dk1"/>
                </a:solidFill>
              </a:endParaRPr>
            </a:p>
          </p:txBody>
        </p:sp>
      </p:grpSp>
      <p:grpSp>
        <p:nvGrpSpPr>
          <p:cNvPr id="385" name="Google Shape;385;p43"/>
          <p:cNvGrpSpPr/>
          <p:nvPr/>
        </p:nvGrpSpPr>
        <p:grpSpPr>
          <a:xfrm>
            <a:off x="5616650" y="1374642"/>
            <a:ext cx="3029907" cy="2787590"/>
            <a:chOff x="5616650" y="1605367"/>
            <a:chExt cx="3029907" cy="2787590"/>
          </a:xfrm>
        </p:grpSpPr>
        <p:pic>
          <p:nvPicPr>
            <p:cNvPr id="386" name="Google Shape;386;p43"/>
            <p:cNvPicPr preferRelativeResize="0"/>
            <p:nvPr/>
          </p:nvPicPr>
          <p:blipFill rotWithShape="1">
            <a:blip r:embed="rId4">
              <a:alphaModFix/>
            </a:blip>
            <a:srcRect t="14965" r="61151"/>
            <a:stretch/>
          </p:blipFill>
          <p:spPr>
            <a:xfrm>
              <a:off x="5616662" y="2066774"/>
              <a:ext cx="3029895" cy="2326183"/>
            </a:xfrm>
            <a:prstGeom prst="rect">
              <a:avLst/>
            </a:prstGeom>
            <a:noFill/>
            <a:ln>
              <a:noFill/>
            </a:ln>
          </p:spPr>
        </p:pic>
        <p:sp>
          <p:nvSpPr>
            <p:cNvPr id="387" name="Google Shape;387;p43"/>
            <p:cNvSpPr/>
            <p:nvPr/>
          </p:nvSpPr>
          <p:spPr>
            <a:xfrm>
              <a:off x="5616650" y="1831550"/>
              <a:ext cx="2991300" cy="2561400"/>
            </a:xfrm>
            <a:prstGeom prst="rect">
              <a:avLst/>
            </a:prstGeom>
            <a:noFill/>
            <a:ln w="19050" cap="flat" cmpd="sng">
              <a:solidFill>
                <a:srgbClr val="9E9E9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8" name="Google Shape;388;p43"/>
            <p:cNvSpPr txBox="1"/>
            <p:nvPr/>
          </p:nvSpPr>
          <p:spPr>
            <a:xfrm>
              <a:off x="5731500" y="1605367"/>
              <a:ext cx="2628000" cy="339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b="1">
                  <a:solidFill>
                    <a:schemeClr val="dk1"/>
                  </a:solidFill>
                </a:rPr>
                <a:t>Social context effect</a:t>
              </a:r>
              <a:endParaRPr sz="1800" b="1">
                <a:solidFill>
                  <a:schemeClr val="dk1"/>
                </a:solidFill>
              </a:endParaRPr>
            </a:p>
          </p:txBody>
        </p:sp>
      </p:grpSp>
      <p:grpSp>
        <p:nvGrpSpPr>
          <p:cNvPr id="389" name="Google Shape;389;p43"/>
          <p:cNvGrpSpPr/>
          <p:nvPr/>
        </p:nvGrpSpPr>
        <p:grpSpPr>
          <a:xfrm>
            <a:off x="4192600" y="1665259"/>
            <a:ext cx="2525400" cy="2455073"/>
            <a:chOff x="4082250" y="1723684"/>
            <a:chExt cx="2525400" cy="2455073"/>
          </a:xfrm>
        </p:grpSpPr>
        <p:sp>
          <p:nvSpPr>
            <p:cNvPr id="390" name="Google Shape;390;p43"/>
            <p:cNvSpPr txBox="1"/>
            <p:nvPr/>
          </p:nvSpPr>
          <p:spPr>
            <a:xfrm>
              <a:off x="4082250" y="3865857"/>
              <a:ext cx="2525400" cy="312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FF0000"/>
                  </a:solidFill>
                  <a:highlight>
                    <a:schemeClr val="lt1"/>
                  </a:highlight>
                </a:rPr>
                <a:t>Grandparent Scam</a:t>
              </a:r>
              <a:endParaRPr sz="1800" b="1">
                <a:solidFill>
                  <a:srgbClr val="FF0000"/>
                </a:solidFill>
                <a:highlight>
                  <a:schemeClr val="lt1"/>
                </a:highlight>
              </a:endParaRPr>
            </a:p>
          </p:txBody>
        </p:sp>
        <p:grpSp>
          <p:nvGrpSpPr>
            <p:cNvPr id="391" name="Google Shape;391;p43"/>
            <p:cNvGrpSpPr/>
            <p:nvPr/>
          </p:nvGrpSpPr>
          <p:grpSpPr>
            <a:xfrm>
              <a:off x="4308560" y="1723684"/>
              <a:ext cx="2073158" cy="2161176"/>
              <a:chOff x="502619" y="383729"/>
              <a:chExt cx="3024300" cy="3152700"/>
            </a:xfrm>
          </p:grpSpPr>
          <p:sp>
            <p:nvSpPr>
              <p:cNvPr id="392" name="Google Shape;392;p43"/>
              <p:cNvSpPr/>
              <p:nvPr/>
            </p:nvSpPr>
            <p:spPr>
              <a:xfrm>
                <a:off x="502619" y="383729"/>
                <a:ext cx="3024300" cy="3152700"/>
              </a:xfrm>
              <a:prstGeom prst="rect">
                <a:avLst/>
              </a:prstGeom>
              <a:solidFill>
                <a:schemeClr val="lt1"/>
              </a:solid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393" name="Google Shape;393;p43"/>
              <p:cNvGrpSpPr/>
              <p:nvPr/>
            </p:nvGrpSpPr>
            <p:grpSpPr>
              <a:xfrm>
                <a:off x="802675" y="514537"/>
                <a:ext cx="2112950" cy="2432676"/>
                <a:chOff x="125600" y="1964450"/>
                <a:chExt cx="2112950" cy="2432676"/>
              </a:xfrm>
            </p:grpSpPr>
            <p:pic>
              <p:nvPicPr>
                <p:cNvPr id="394" name="Google Shape;394;p43"/>
                <p:cNvPicPr preferRelativeResize="0"/>
                <p:nvPr/>
              </p:nvPicPr>
              <p:blipFill>
                <a:blip r:embed="rId5">
                  <a:alphaModFix/>
                </a:blip>
                <a:stretch>
                  <a:fillRect/>
                </a:stretch>
              </p:blipFill>
              <p:spPr>
                <a:xfrm>
                  <a:off x="125600" y="1964450"/>
                  <a:ext cx="2112950" cy="2432676"/>
                </a:xfrm>
                <a:prstGeom prst="rect">
                  <a:avLst/>
                </a:prstGeom>
                <a:noFill/>
                <a:ln>
                  <a:noFill/>
                </a:ln>
              </p:spPr>
            </p:pic>
            <p:sp>
              <p:nvSpPr>
                <p:cNvPr id="395" name="Google Shape;395;p43"/>
                <p:cNvSpPr/>
                <p:nvPr/>
              </p:nvSpPr>
              <p:spPr>
                <a:xfrm>
                  <a:off x="1807400" y="2571750"/>
                  <a:ext cx="309900" cy="347400"/>
                </a:xfrm>
                <a:prstGeom prst="ellipse">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396" name="Google Shape;396;p43"/>
              <p:cNvGrpSpPr/>
              <p:nvPr/>
            </p:nvGrpSpPr>
            <p:grpSpPr>
              <a:xfrm flipH="1">
                <a:off x="1893500" y="2058982"/>
                <a:ext cx="1140735" cy="1173799"/>
                <a:chOff x="1842700" y="1384700"/>
                <a:chExt cx="1007450" cy="1036650"/>
              </a:xfrm>
            </p:grpSpPr>
            <p:pic>
              <p:nvPicPr>
                <p:cNvPr id="397" name="Google Shape;397;p43" descr="Free Vectors | scammer"/>
                <p:cNvPicPr preferRelativeResize="0"/>
                <p:nvPr/>
              </p:nvPicPr>
              <p:blipFill rotWithShape="1">
                <a:blip r:embed="rId6">
                  <a:alphaModFix/>
                </a:blip>
                <a:srcRect l="21581" t="10482" r="10488"/>
                <a:stretch/>
              </p:blipFill>
              <p:spPr>
                <a:xfrm>
                  <a:off x="1842700" y="1424100"/>
                  <a:ext cx="1007450" cy="997250"/>
                </a:xfrm>
                <a:prstGeom prst="rect">
                  <a:avLst/>
                </a:prstGeom>
                <a:noFill/>
                <a:ln>
                  <a:noFill/>
                </a:ln>
              </p:spPr>
            </p:pic>
            <p:sp>
              <p:nvSpPr>
                <p:cNvPr id="398" name="Google Shape;398;p43"/>
                <p:cNvSpPr/>
                <p:nvPr/>
              </p:nvSpPr>
              <p:spPr>
                <a:xfrm>
                  <a:off x="2541475" y="1483275"/>
                  <a:ext cx="137700" cy="1872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9" name="Google Shape;399;p43"/>
                <p:cNvSpPr txBox="1"/>
                <p:nvPr/>
              </p:nvSpPr>
              <p:spPr>
                <a:xfrm>
                  <a:off x="2435645" y="1384700"/>
                  <a:ext cx="3204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b="1">
                      <a:solidFill>
                        <a:schemeClr val="dk2"/>
                      </a:solidFill>
                    </a:rPr>
                    <a:t>$</a:t>
                  </a:r>
                  <a:endParaRPr sz="800" b="1">
                    <a:solidFill>
                      <a:schemeClr val="dk2"/>
                    </a:solidFill>
                  </a:endParaRPr>
                </a:p>
              </p:txBody>
            </p:sp>
          </p:grpSp>
        </p:grpSp>
      </p:grpSp>
      <p:cxnSp>
        <p:nvCxnSpPr>
          <p:cNvPr id="400" name="Google Shape;400;p43"/>
          <p:cNvCxnSpPr/>
          <p:nvPr/>
        </p:nvCxnSpPr>
        <p:spPr>
          <a:xfrm>
            <a:off x="1671250" y="1906025"/>
            <a:ext cx="2996400" cy="1019700"/>
          </a:xfrm>
          <a:prstGeom prst="straightConnector1">
            <a:avLst/>
          </a:prstGeom>
          <a:noFill/>
          <a:ln w="19050" cap="flat" cmpd="sng">
            <a:solidFill>
              <a:srgbClr val="FF0000"/>
            </a:solidFill>
            <a:prstDash val="solid"/>
            <a:round/>
            <a:headEnd type="triangle" w="med" len="med"/>
            <a:tailEnd type="none" w="med" len="med"/>
          </a:ln>
        </p:spPr>
      </p:cxnSp>
      <p:cxnSp>
        <p:nvCxnSpPr>
          <p:cNvPr id="401" name="Google Shape;401;p43"/>
          <p:cNvCxnSpPr>
            <a:stCxn id="388" idx="2"/>
            <a:endCxn id="395" idx="6"/>
          </p:cNvCxnSpPr>
          <p:nvPr/>
        </p:nvCxnSpPr>
        <p:spPr>
          <a:xfrm flipH="1">
            <a:off x="5989800" y="1714542"/>
            <a:ext cx="1055700" cy="575700"/>
          </a:xfrm>
          <a:prstGeom prst="straightConnector1">
            <a:avLst/>
          </a:prstGeom>
          <a:noFill/>
          <a:ln w="19050" cap="flat" cmpd="sng">
            <a:solidFill>
              <a:srgbClr val="FF0000"/>
            </a:solidFill>
            <a:prstDash val="solid"/>
            <a:round/>
            <a:headEnd type="triangle" w="med" len="med"/>
            <a:tailEnd type="none" w="med" len="med"/>
          </a:ln>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28</a:t>
            </a:fld>
            <a:endParaRPr/>
          </a:p>
        </p:txBody>
      </p:sp>
      <p:sp>
        <p:nvSpPr>
          <p:cNvPr id="407" name="Google Shape;407;p44"/>
          <p:cNvSpPr txBox="1"/>
          <p:nvPr/>
        </p:nvSpPr>
        <p:spPr>
          <a:xfrm>
            <a:off x="-44300" y="4663225"/>
            <a:ext cx="7155000" cy="470100"/>
          </a:xfrm>
          <a:prstGeom prst="rect">
            <a:avLst/>
          </a:prstGeom>
          <a:noFill/>
          <a:ln>
            <a:noFill/>
          </a:ln>
        </p:spPr>
        <p:txBody>
          <a:bodyPr spcFirstLastPara="1" wrap="square" lIns="91425" tIns="91425" rIns="91425" bIns="91425" anchor="t" anchorCtr="0">
            <a:noAutofit/>
          </a:bodyPr>
          <a:lstStyle/>
          <a:p>
            <a:pPr marL="279400" lvl="0" indent="-279400" algn="l" rtl="0">
              <a:lnSpc>
                <a:spcPct val="100000"/>
              </a:lnSpc>
              <a:spcBef>
                <a:spcPts val="0"/>
              </a:spcBef>
              <a:spcAft>
                <a:spcPts val="0"/>
              </a:spcAft>
              <a:buNone/>
            </a:pPr>
            <a:r>
              <a:rPr lang="en" sz="1100">
                <a:solidFill>
                  <a:schemeClr val="dk2"/>
                </a:solidFill>
              </a:rPr>
              <a:t>Harlé &amp; Sanfey (2012), Neuropsychologia</a:t>
            </a:r>
            <a:endParaRPr sz="1100">
              <a:solidFill>
                <a:schemeClr val="dk2"/>
              </a:solidFill>
            </a:endParaRPr>
          </a:p>
          <a:p>
            <a:pPr marL="279400" lvl="0" indent="-279400" algn="l" rtl="0">
              <a:lnSpc>
                <a:spcPct val="100000"/>
              </a:lnSpc>
              <a:spcBef>
                <a:spcPts val="0"/>
              </a:spcBef>
              <a:spcAft>
                <a:spcPts val="0"/>
              </a:spcAft>
              <a:buNone/>
            </a:pPr>
            <a:r>
              <a:rPr lang="en" sz="1100">
                <a:solidFill>
                  <a:schemeClr val="dk2"/>
                </a:solidFill>
              </a:rPr>
              <a:t>Batten et al. (2023), Nature Human Behavior</a:t>
            </a:r>
            <a:endParaRPr sz="1100">
              <a:solidFill>
                <a:schemeClr val="dk2"/>
              </a:solidFill>
            </a:endParaRPr>
          </a:p>
          <a:p>
            <a:pPr marL="279400" lvl="0" indent="-279400" algn="l" rtl="0">
              <a:lnSpc>
                <a:spcPct val="100000"/>
              </a:lnSpc>
              <a:spcBef>
                <a:spcPts val="0"/>
              </a:spcBef>
              <a:spcAft>
                <a:spcPts val="0"/>
              </a:spcAft>
              <a:buNone/>
            </a:pPr>
            <a:endParaRPr sz="1100">
              <a:solidFill>
                <a:schemeClr val="dk2"/>
              </a:solidFill>
            </a:endParaRPr>
          </a:p>
        </p:txBody>
      </p:sp>
      <p:sp>
        <p:nvSpPr>
          <p:cNvPr id="408" name="Google Shape;408;p44"/>
          <p:cNvSpPr txBox="1"/>
          <p:nvPr/>
        </p:nvSpPr>
        <p:spPr>
          <a:xfrm>
            <a:off x="-10375" y="147650"/>
            <a:ext cx="8842800" cy="1127100"/>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None/>
            </a:pPr>
            <a:r>
              <a:rPr lang="en" sz="2800" b="1">
                <a:solidFill>
                  <a:schemeClr val="dk1"/>
                </a:solidFill>
              </a:rPr>
              <a:t>Fairness-related social decision-making</a:t>
            </a:r>
            <a:endParaRPr sz="2800" b="1">
              <a:solidFill>
                <a:schemeClr val="dk1"/>
              </a:solidFill>
            </a:endParaRPr>
          </a:p>
        </p:txBody>
      </p:sp>
      <p:sp>
        <p:nvSpPr>
          <p:cNvPr id="409" name="Google Shape;409;p44"/>
          <p:cNvSpPr txBox="1"/>
          <p:nvPr/>
        </p:nvSpPr>
        <p:spPr>
          <a:xfrm>
            <a:off x="296700" y="817838"/>
            <a:ext cx="3047100" cy="55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b="1" i="1">
                <a:solidFill>
                  <a:schemeClr val="dk1"/>
                </a:solidFill>
                <a:latin typeface="Times New Roman"/>
                <a:ea typeface="Times New Roman"/>
                <a:cs typeface="Times New Roman"/>
                <a:sym typeface="Times New Roman"/>
              </a:rPr>
              <a:t>The Ultimatum Game</a:t>
            </a:r>
            <a:endParaRPr sz="2200" b="1" i="1">
              <a:solidFill>
                <a:schemeClr val="dk1"/>
              </a:solidFill>
              <a:latin typeface="Times New Roman"/>
              <a:ea typeface="Times New Roman"/>
              <a:cs typeface="Times New Roman"/>
              <a:sym typeface="Times New Roman"/>
            </a:endParaRPr>
          </a:p>
        </p:txBody>
      </p:sp>
      <p:grpSp>
        <p:nvGrpSpPr>
          <p:cNvPr id="410" name="Google Shape;410;p44"/>
          <p:cNvGrpSpPr/>
          <p:nvPr/>
        </p:nvGrpSpPr>
        <p:grpSpPr>
          <a:xfrm>
            <a:off x="340975" y="1544600"/>
            <a:ext cx="5143501" cy="2446538"/>
            <a:chOff x="340975" y="1544600"/>
            <a:chExt cx="5143501" cy="2446538"/>
          </a:xfrm>
        </p:grpSpPr>
        <p:pic>
          <p:nvPicPr>
            <p:cNvPr id="411" name="Google Shape;411;p44"/>
            <p:cNvPicPr preferRelativeResize="0"/>
            <p:nvPr/>
          </p:nvPicPr>
          <p:blipFill rotWithShape="1">
            <a:blip r:embed="rId3">
              <a:alphaModFix/>
            </a:blip>
            <a:srcRect l="-1739" t="-5211" b="-6135"/>
            <a:stretch/>
          </p:blipFill>
          <p:spPr>
            <a:xfrm>
              <a:off x="340975" y="1761963"/>
              <a:ext cx="5143501" cy="2229175"/>
            </a:xfrm>
            <a:prstGeom prst="rect">
              <a:avLst/>
            </a:prstGeom>
            <a:noFill/>
            <a:ln w="19050" cap="flat" cmpd="sng">
              <a:solidFill>
                <a:srgbClr val="9E9E9E"/>
              </a:solidFill>
              <a:prstDash val="solid"/>
              <a:round/>
              <a:headEnd type="none" w="sm" len="sm"/>
              <a:tailEnd type="none" w="sm" len="sm"/>
            </a:ln>
          </p:spPr>
        </p:pic>
        <p:sp>
          <p:nvSpPr>
            <p:cNvPr id="412" name="Google Shape;412;p44"/>
            <p:cNvSpPr txBox="1"/>
            <p:nvPr/>
          </p:nvSpPr>
          <p:spPr>
            <a:xfrm>
              <a:off x="667275" y="1544600"/>
              <a:ext cx="1297200" cy="339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b="1">
                  <a:solidFill>
                    <a:schemeClr val="dk1"/>
                  </a:solidFill>
                </a:rPr>
                <a:t>Age effect</a:t>
              </a:r>
              <a:endParaRPr sz="1800" b="1">
                <a:solidFill>
                  <a:schemeClr val="dk1"/>
                </a:solidFill>
              </a:endParaRPr>
            </a:p>
          </p:txBody>
        </p:sp>
      </p:grpSp>
      <p:grpSp>
        <p:nvGrpSpPr>
          <p:cNvPr id="413" name="Google Shape;413;p44"/>
          <p:cNvGrpSpPr/>
          <p:nvPr/>
        </p:nvGrpSpPr>
        <p:grpSpPr>
          <a:xfrm>
            <a:off x="5616650" y="1374642"/>
            <a:ext cx="3029907" cy="2787590"/>
            <a:chOff x="5616650" y="1605367"/>
            <a:chExt cx="3029907" cy="2787590"/>
          </a:xfrm>
        </p:grpSpPr>
        <p:pic>
          <p:nvPicPr>
            <p:cNvPr id="414" name="Google Shape;414;p44"/>
            <p:cNvPicPr preferRelativeResize="0"/>
            <p:nvPr/>
          </p:nvPicPr>
          <p:blipFill rotWithShape="1">
            <a:blip r:embed="rId4">
              <a:alphaModFix/>
            </a:blip>
            <a:srcRect t="14965" r="61151"/>
            <a:stretch/>
          </p:blipFill>
          <p:spPr>
            <a:xfrm>
              <a:off x="5616662" y="2066774"/>
              <a:ext cx="3029895" cy="2326183"/>
            </a:xfrm>
            <a:prstGeom prst="rect">
              <a:avLst/>
            </a:prstGeom>
            <a:noFill/>
            <a:ln>
              <a:noFill/>
            </a:ln>
          </p:spPr>
        </p:pic>
        <p:sp>
          <p:nvSpPr>
            <p:cNvPr id="415" name="Google Shape;415;p44"/>
            <p:cNvSpPr/>
            <p:nvPr/>
          </p:nvSpPr>
          <p:spPr>
            <a:xfrm>
              <a:off x="5616650" y="1831550"/>
              <a:ext cx="2991300" cy="2561400"/>
            </a:xfrm>
            <a:prstGeom prst="rect">
              <a:avLst/>
            </a:prstGeom>
            <a:noFill/>
            <a:ln w="19050" cap="flat" cmpd="sng">
              <a:solidFill>
                <a:srgbClr val="9E9E9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6" name="Google Shape;416;p44"/>
            <p:cNvSpPr txBox="1"/>
            <p:nvPr/>
          </p:nvSpPr>
          <p:spPr>
            <a:xfrm>
              <a:off x="5731500" y="1605367"/>
              <a:ext cx="2628000" cy="339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b="1">
                  <a:solidFill>
                    <a:schemeClr val="dk1"/>
                  </a:solidFill>
                </a:rPr>
                <a:t>Social context effect</a:t>
              </a:r>
              <a:endParaRPr sz="1800" b="1">
                <a:solidFill>
                  <a:schemeClr val="dk1"/>
                </a:solidFill>
              </a:endParaRPr>
            </a:p>
          </p:txBody>
        </p:sp>
      </p:grpSp>
      <p:grpSp>
        <p:nvGrpSpPr>
          <p:cNvPr id="417" name="Google Shape;417;p44"/>
          <p:cNvGrpSpPr/>
          <p:nvPr/>
        </p:nvGrpSpPr>
        <p:grpSpPr>
          <a:xfrm>
            <a:off x="4192600" y="1665259"/>
            <a:ext cx="2525400" cy="2455073"/>
            <a:chOff x="4082250" y="1723684"/>
            <a:chExt cx="2525400" cy="2455073"/>
          </a:xfrm>
        </p:grpSpPr>
        <p:sp>
          <p:nvSpPr>
            <p:cNvPr id="418" name="Google Shape;418;p44"/>
            <p:cNvSpPr txBox="1"/>
            <p:nvPr/>
          </p:nvSpPr>
          <p:spPr>
            <a:xfrm>
              <a:off x="4082250" y="3865857"/>
              <a:ext cx="2525400" cy="312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FF0000"/>
                  </a:solidFill>
                  <a:highlight>
                    <a:schemeClr val="lt1"/>
                  </a:highlight>
                </a:rPr>
                <a:t>Grandparent Scam</a:t>
              </a:r>
              <a:endParaRPr sz="1800" b="1">
                <a:solidFill>
                  <a:srgbClr val="FF0000"/>
                </a:solidFill>
                <a:highlight>
                  <a:schemeClr val="lt1"/>
                </a:highlight>
              </a:endParaRPr>
            </a:p>
          </p:txBody>
        </p:sp>
        <p:grpSp>
          <p:nvGrpSpPr>
            <p:cNvPr id="419" name="Google Shape;419;p44"/>
            <p:cNvGrpSpPr/>
            <p:nvPr/>
          </p:nvGrpSpPr>
          <p:grpSpPr>
            <a:xfrm>
              <a:off x="4308560" y="1723684"/>
              <a:ext cx="2073158" cy="2161176"/>
              <a:chOff x="502619" y="383729"/>
              <a:chExt cx="3024300" cy="3152700"/>
            </a:xfrm>
          </p:grpSpPr>
          <p:sp>
            <p:nvSpPr>
              <p:cNvPr id="420" name="Google Shape;420;p44"/>
              <p:cNvSpPr/>
              <p:nvPr/>
            </p:nvSpPr>
            <p:spPr>
              <a:xfrm>
                <a:off x="502619" y="383729"/>
                <a:ext cx="3024300" cy="3152700"/>
              </a:xfrm>
              <a:prstGeom prst="rect">
                <a:avLst/>
              </a:prstGeom>
              <a:solidFill>
                <a:schemeClr val="lt1"/>
              </a:solid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421" name="Google Shape;421;p44"/>
              <p:cNvGrpSpPr/>
              <p:nvPr/>
            </p:nvGrpSpPr>
            <p:grpSpPr>
              <a:xfrm>
                <a:off x="802675" y="514537"/>
                <a:ext cx="2112950" cy="2432676"/>
                <a:chOff x="125600" y="1964450"/>
                <a:chExt cx="2112950" cy="2432676"/>
              </a:xfrm>
            </p:grpSpPr>
            <p:pic>
              <p:nvPicPr>
                <p:cNvPr id="422" name="Google Shape;422;p44"/>
                <p:cNvPicPr preferRelativeResize="0"/>
                <p:nvPr/>
              </p:nvPicPr>
              <p:blipFill>
                <a:blip r:embed="rId5">
                  <a:alphaModFix/>
                </a:blip>
                <a:stretch>
                  <a:fillRect/>
                </a:stretch>
              </p:blipFill>
              <p:spPr>
                <a:xfrm>
                  <a:off x="125600" y="1964450"/>
                  <a:ext cx="2112950" cy="2432676"/>
                </a:xfrm>
                <a:prstGeom prst="rect">
                  <a:avLst/>
                </a:prstGeom>
                <a:noFill/>
                <a:ln>
                  <a:noFill/>
                </a:ln>
              </p:spPr>
            </p:pic>
            <p:sp>
              <p:nvSpPr>
                <p:cNvPr id="423" name="Google Shape;423;p44"/>
                <p:cNvSpPr/>
                <p:nvPr/>
              </p:nvSpPr>
              <p:spPr>
                <a:xfrm>
                  <a:off x="1807400" y="2571750"/>
                  <a:ext cx="309900" cy="347400"/>
                </a:xfrm>
                <a:prstGeom prst="ellipse">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424" name="Google Shape;424;p44"/>
              <p:cNvGrpSpPr/>
              <p:nvPr/>
            </p:nvGrpSpPr>
            <p:grpSpPr>
              <a:xfrm flipH="1">
                <a:off x="1893500" y="2058982"/>
                <a:ext cx="1140735" cy="1173799"/>
                <a:chOff x="1842700" y="1384700"/>
                <a:chExt cx="1007450" cy="1036650"/>
              </a:xfrm>
            </p:grpSpPr>
            <p:pic>
              <p:nvPicPr>
                <p:cNvPr id="425" name="Google Shape;425;p44" descr="Free Vectors | scammer"/>
                <p:cNvPicPr preferRelativeResize="0"/>
                <p:nvPr/>
              </p:nvPicPr>
              <p:blipFill rotWithShape="1">
                <a:blip r:embed="rId6">
                  <a:alphaModFix/>
                </a:blip>
                <a:srcRect l="21581" t="10482" r="10488"/>
                <a:stretch/>
              </p:blipFill>
              <p:spPr>
                <a:xfrm>
                  <a:off x="1842700" y="1424100"/>
                  <a:ext cx="1007450" cy="997250"/>
                </a:xfrm>
                <a:prstGeom prst="rect">
                  <a:avLst/>
                </a:prstGeom>
                <a:noFill/>
                <a:ln>
                  <a:noFill/>
                </a:ln>
              </p:spPr>
            </p:pic>
            <p:sp>
              <p:nvSpPr>
                <p:cNvPr id="426" name="Google Shape;426;p44"/>
                <p:cNvSpPr/>
                <p:nvPr/>
              </p:nvSpPr>
              <p:spPr>
                <a:xfrm>
                  <a:off x="2541475" y="1483275"/>
                  <a:ext cx="137700" cy="1872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7" name="Google Shape;427;p44"/>
                <p:cNvSpPr txBox="1"/>
                <p:nvPr/>
              </p:nvSpPr>
              <p:spPr>
                <a:xfrm>
                  <a:off x="2435645" y="1384700"/>
                  <a:ext cx="3204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b="1">
                      <a:solidFill>
                        <a:schemeClr val="dk2"/>
                      </a:solidFill>
                    </a:rPr>
                    <a:t>$</a:t>
                  </a:r>
                  <a:endParaRPr sz="800" b="1">
                    <a:solidFill>
                      <a:schemeClr val="dk2"/>
                    </a:solidFill>
                  </a:endParaRPr>
                </a:p>
              </p:txBody>
            </p:sp>
          </p:grpSp>
        </p:grpSp>
      </p:grpSp>
      <p:sp>
        <p:nvSpPr>
          <p:cNvPr id="428" name="Google Shape;428;p44"/>
          <p:cNvSpPr txBox="1"/>
          <p:nvPr/>
        </p:nvSpPr>
        <p:spPr>
          <a:xfrm>
            <a:off x="340975" y="4029875"/>
            <a:ext cx="5465700" cy="7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400" b="1">
                <a:solidFill>
                  <a:schemeClr val="dk1"/>
                </a:solidFill>
                <a:highlight>
                  <a:schemeClr val="lt1"/>
                </a:highlight>
              </a:rPr>
              <a:t>Age * social context interaction?</a:t>
            </a:r>
            <a:endParaRPr sz="2400" b="1"/>
          </a:p>
        </p:txBody>
      </p:sp>
      <p:cxnSp>
        <p:nvCxnSpPr>
          <p:cNvPr id="2" name="Google Shape;400;p43">
            <a:extLst>
              <a:ext uri="{FF2B5EF4-FFF2-40B4-BE49-F238E27FC236}">
                <a16:creationId xmlns:a16="http://schemas.microsoft.com/office/drawing/2014/main" id="{8F28C912-C540-159A-F45D-ECF7CD110E20}"/>
              </a:ext>
            </a:extLst>
          </p:cNvPr>
          <p:cNvCxnSpPr/>
          <p:nvPr/>
        </p:nvCxnSpPr>
        <p:spPr>
          <a:xfrm>
            <a:off x="1671250" y="1906025"/>
            <a:ext cx="2996400" cy="1019700"/>
          </a:xfrm>
          <a:prstGeom prst="straightConnector1">
            <a:avLst/>
          </a:prstGeom>
          <a:noFill/>
          <a:ln w="19050" cap="flat" cmpd="sng">
            <a:solidFill>
              <a:srgbClr val="FF0000"/>
            </a:solidFill>
            <a:prstDash val="solid"/>
            <a:round/>
            <a:headEnd type="triangle" w="med" len="med"/>
            <a:tailEnd type="none" w="med" len="med"/>
          </a:ln>
        </p:spPr>
      </p:cxnSp>
      <p:cxnSp>
        <p:nvCxnSpPr>
          <p:cNvPr id="3" name="Google Shape;401;p43">
            <a:extLst>
              <a:ext uri="{FF2B5EF4-FFF2-40B4-BE49-F238E27FC236}">
                <a16:creationId xmlns:a16="http://schemas.microsoft.com/office/drawing/2014/main" id="{C8368F5E-CB03-0D16-0DC6-F2D2B7F96965}"/>
              </a:ext>
            </a:extLst>
          </p:cNvPr>
          <p:cNvCxnSpPr/>
          <p:nvPr/>
        </p:nvCxnSpPr>
        <p:spPr>
          <a:xfrm flipH="1">
            <a:off x="5989800" y="1714542"/>
            <a:ext cx="1055700" cy="575700"/>
          </a:xfrm>
          <a:prstGeom prst="straightConnector1">
            <a:avLst/>
          </a:prstGeom>
          <a:noFill/>
          <a:ln w="19050" cap="flat" cmpd="sng">
            <a:solidFill>
              <a:srgbClr val="FF0000"/>
            </a:solidFill>
            <a:prstDash val="solid"/>
            <a:round/>
            <a:headEnd type="triangle" w="med" len="med"/>
            <a:tailEnd type="none" w="med" len="med"/>
          </a:ln>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29</a:t>
            </a:fld>
            <a:endParaRPr/>
          </a:p>
        </p:txBody>
      </p:sp>
      <p:sp>
        <p:nvSpPr>
          <p:cNvPr id="434" name="Google Shape;434;p45"/>
          <p:cNvSpPr txBox="1"/>
          <p:nvPr/>
        </p:nvSpPr>
        <p:spPr>
          <a:xfrm>
            <a:off x="248775" y="1321500"/>
            <a:ext cx="6827700" cy="2500500"/>
          </a:xfrm>
          <a:prstGeom prst="rect">
            <a:avLst/>
          </a:prstGeom>
          <a:noFill/>
          <a:ln>
            <a:noFill/>
          </a:ln>
        </p:spPr>
        <p:txBody>
          <a:bodyPr spcFirstLastPara="1" wrap="square" lIns="91425" tIns="91425" rIns="91425" bIns="91425" anchor="t" anchorCtr="0">
            <a:noAutofit/>
          </a:bodyPr>
          <a:lstStyle/>
          <a:p>
            <a:pPr marL="457200" lvl="0" indent="-368300" algn="l" rtl="0">
              <a:lnSpc>
                <a:spcPct val="115000"/>
              </a:lnSpc>
              <a:spcBef>
                <a:spcPts val="0"/>
              </a:spcBef>
              <a:spcAft>
                <a:spcPts val="0"/>
              </a:spcAft>
              <a:buClr>
                <a:schemeClr val="dk1"/>
              </a:buClr>
              <a:buSzPts val="2200"/>
              <a:buChar char="●"/>
            </a:pPr>
            <a:r>
              <a:rPr lang="en" sz="2200" b="1">
                <a:solidFill>
                  <a:schemeClr val="dk1"/>
                </a:solidFill>
              </a:rPr>
              <a:t>Fairness: the Ultimatum Game</a:t>
            </a:r>
            <a:endParaRPr sz="2200" b="1">
              <a:solidFill>
                <a:schemeClr val="dk1"/>
              </a:solidFill>
            </a:endParaRPr>
          </a:p>
          <a:p>
            <a:pPr marL="457200" lvl="0" indent="-368300" algn="l" rtl="0">
              <a:lnSpc>
                <a:spcPct val="115000"/>
              </a:lnSpc>
              <a:spcBef>
                <a:spcPts val="1000"/>
              </a:spcBef>
              <a:spcAft>
                <a:spcPts val="0"/>
              </a:spcAft>
              <a:buClr>
                <a:schemeClr val="lt1"/>
              </a:buClr>
              <a:buSzPts val="2200"/>
              <a:buChar char="●"/>
            </a:pPr>
            <a:r>
              <a:rPr lang="en" sz="2200" b="1">
                <a:solidFill>
                  <a:schemeClr val="lt1"/>
                </a:solidFill>
              </a:rPr>
              <a:t>Functional connectivity</a:t>
            </a:r>
            <a:br>
              <a:rPr lang="en" sz="2200">
                <a:solidFill>
                  <a:schemeClr val="lt1"/>
                </a:solidFill>
              </a:rPr>
            </a:br>
            <a:r>
              <a:rPr lang="en" sz="2200">
                <a:solidFill>
                  <a:schemeClr val="lt1"/>
                </a:solidFill>
              </a:rPr>
              <a:t>- Default Mode Network (DMN)</a:t>
            </a:r>
            <a:br>
              <a:rPr lang="en" sz="2200">
                <a:solidFill>
                  <a:schemeClr val="lt1"/>
                </a:solidFill>
              </a:rPr>
            </a:br>
            <a:r>
              <a:rPr lang="en" sz="2200">
                <a:solidFill>
                  <a:schemeClr val="lt1"/>
                </a:solidFill>
              </a:rPr>
              <a:t>- Executive Control Network (ECN) </a:t>
            </a:r>
            <a:endParaRPr sz="2200">
              <a:solidFill>
                <a:schemeClr val="lt1"/>
              </a:solidFill>
            </a:endParaRPr>
          </a:p>
          <a:p>
            <a:pPr marL="457200" lvl="0" indent="-368300" algn="l" rtl="0">
              <a:lnSpc>
                <a:spcPct val="115000"/>
              </a:lnSpc>
              <a:spcBef>
                <a:spcPts val="1000"/>
              </a:spcBef>
              <a:spcAft>
                <a:spcPts val="1000"/>
              </a:spcAft>
              <a:buClr>
                <a:schemeClr val="lt1"/>
              </a:buClr>
              <a:buSzPts val="2200"/>
              <a:buChar char="●"/>
            </a:pPr>
            <a:r>
              <a:rPr lang="en" sz="2200" b="1">
                <a:solidFill>
                  <a:schemeClr val="lt1"/>
                </a:solidFill>
              </a:rPr>
              <a:t>Connectivity-behavior association</a:t>
            </a:r>
            <a:br>
              <a:rPr lang="en" sz="2200" b="1">
                <a:solidFill>
                  <a:schemeClr val="lt1"/>
                </a:solidFill>
              </a:rPr>
            </a:br>
            <a:r>
              <a:rPr lang="en" sz="2200">
                <a:solidFill>
                  <a:schemeClr val="lt1"/>
                </a:solidFill>
              </a:rPr>
              <a:t>- Fairness norm</a:t>
            </a:r>
            <a:br>
              <a:rPr lang="en" sz="2200">
                <a:solidFill>
                  <a:schemeClr val="lt1"/>
                </a:solidFill>
              </a:rPr>
            </a:br>
            <a:r>
              <a:rPr lang="en" sz="2200">
                <a:solidFill>
                  <a:schemeClr val="lt1"/>
                </a:solidFill>
              </a:rPr>
              <a:t>- Norm violation sensitivity</a:t>
            </a:r>
            <a:endParaRPr sz="2200">
              <a:solidFill>
                <a:schemeClr val="lt1"/>
              </a:solidFill>
            </a:endParaRPr>
          </a:p>
        </p:txBody>
      </p:sp>
      <p:sp>
        <p:nvSpPr>
          <p:cNvPr id="435" name="Google Shape;435;p45"/>
          <p:cNvSpPr txBox="1"/>
          <p:nvPr/>
        </p:nvSpPr>
        <p:spPr>
          <a:xfrm>
            <a:off x="-10375" y="147650"/>
            <a:ext cx="8842800" cy="1127100"/>
          </a:xfrm>
          <a:prstGeom prst="rect">
            <a:avLst/>
          </a:prstGeom>
          <a:noFill/>
          <a:ln>
            <a:noFill/>
          </a:ln>
        </p:spPr>
        <p:txBody>
          <a:bodyPr spcFirstLastPara="1" wrap="square" lIns="91425" tIns="91425" rIns="91425" bIns="91425" anchor="ctr" anchorCtr="0">
            <a:noAutofit/>
          </a:bodyPr>
          <a:lstStyle/>
          <a:p>
            <a:pPr marL="457200" lvl="0" indent="0" algn="l" rtl="0">
              <a:spcBef>
                <a:spcPts val="0"/>
              </a:spcBef>
              <a:spcAft>
                <a:spcPts val="0"/>
              </a:spcAft>
              <a:buNone/>
            </a:pPr>
            <a:r>
              <a:rPr lang="en" sz="2800" b="1">
                <a:solidFill>
                  <a:schemeClr val="dk1"/>
                </a:solidFill>
                <a:highlight>
                  <a:schemeClr val="lt1"/>
                </a:highlight>
              </a:rPr>
              <a:t>Age * social context interaction?</a:t>
            </a:r>
            <a:endParaRPr sz="2800" b="1">
              <a:solidFill>
                <a:schemeClr val="dk1"/>
              </a:solidFill>
              <a:highlight>
                <a:schemeClr val="lt1"/>
              </a:high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30</a:t>
            </a:fld>
            <a:endParaRPr/>
          </a:p>
        </p:txBody>
      </p:sp>
      <p:sp>
        <p:nvSpPr>
          <p:cNvPr id="441" name="Google Shape;441;p46"/>
          <p:cNvSpPr txBox="1"/>
          <p:nvPr/>
        </p:nvSpPr>
        <p:spPr>
          <a:xfrm>
            <a:off x="248775" y="1321500"/>
            <a:ext cx="6827700" cy="2500500"/>
          </a:xfrm>
          <a:prstGeom prst="rect">
            <a:avLst/>
          </a:prstGeom>
          <a:noFill/>
          <a:ln>
            <a:noFill/>
          </a:ln>
        </p:spPr>
        <p:txBody>
          <a:bodyPr spcFirstLastPara="1" wrap="square" lIns="91425" tIns="91425" rIns="91425" bIns="91425" anchor="t" anchorCtr="0">
            <a:noAutofit/>
          </a:bodyPr>
          <a:lstStyle/>
          <a:p>
            <a:pPr marL="457200" lvl="0" indent="-368300" algn="l" rtl="0">
              <a:lnSpc>
                <a:spcPct val="115000"/>
              </a:lnSpc>
              <a:spcBef>
                <a:spcPts val="0"/>
              </a:spcBef>
              <a:spcAft>
                <a:spcPts val="0"/>
              </a:spcAft>
              <a:buClr>
                <a:schemeClr val="dk1"/>
              </a:buClr>
              <a:buSzPts val="2200"/>
              <a:buChar char="●"/>
            </a:pPr>
            <a:r>
              <a:rPr lang="en" sz="2200" b="1">
                <a:solidFill>
                  <a:schemeClr val="dk1"/>
                </a:solidFill>
              </a:rPr>
              <a:t>Fairness: the Ultimatum Game</a:t>
            </a:r>
            <a:endParaRPr sz="2200" b="1">
              <a:solidFill>
                <a:schemeClr val="dk1"/>
              </a:solidFill>
            </a:endParaRPr>
          </a:p>
          <a:p>
            <a:pPr marL="457200" lvl="0" indent="-368300" algn="l" rtl="0">
              <a:lnSpc>
                <a:spcPct val="115000"/>
              </a:lnSpc>
              <a:spcBef>
                <a:spcPts val="1000"/>
              </a:spcBef>
              <a:spcAft>
                <a:spcPts val="1000"/>
              </a:spcAft>
              <a:buClr>
                <a:schemeClr val="dk1"/>
              </a:buClr>
              <a:buSzPts val="2200"/>
              <a:buChar char="●"/>
            </a:pPr>
            <a:r>
              <a:rPr lang="en" sz="2200" b="1">
                <a:solidFill>
                  <a:schemeClr val="dk1"/>
                </a:solidFill>
              </a:rPr>
              <a:t>Functional connectivity</a:t>
            </a:r>
            <a:br>
              <a:rPr lang="en" sz="2200">
                <a:solidFill>
                  <a:schemeClr val="dk1"/>
                </a:solidFill>
              </a:rPr>
            </a:br>
            <a:endParaRPr sz="2200">
              <a:solidFill>
                <a:schemeClr val="lt1"/>
              </a:solidFill>
            </a:endParaRPr>
          </a:p>
        </p:txBody>
      </p:sp>
      <p:sp>
        <p:nvSpPr>
          <p:cNvPr id="442" name="Google Shape;442;p46"/>
          <p:cNvSpPr txBox="1"/>
          <p:nvPr/>
        </p:nvSpPr>
        <p:spPr>
          <a:xfrm>
            <a:off x="-10375" y="147650"/>
            <a:ext cx="8842800" cy="1127100"/>
          </a:xfrm>
          <a:prstGeom prst="rect">
            <a:avLst/>
          </a:prstGeom>
          <a:noFill/>
          <a:ln>
            <a:noFill/>
          </a:ln>
        </p:spPr>
        <p:txBody>
          <a:bodyPr spcFirstLastPara="1" wrap="square" lIns="91425" tIns="91425" rIns="91425" bIns="91425" anchor="ctr" anchorCtr="0">
            <a:noAutofit/>
          </a:bodyPr>
          <a:lstStyle/>
          <a:p>
            <a:pPr marL="457200" lvl="0" indent="0" algn="l" rtl="0">
              <a:spcBef>
                <a:spcPts val="0"/>
              </a:spcBef>
              <a:spcAft>
                <a:spcPts val="0"/>
              </a:spcAft>
              <a:buNone/>
            </a:pPr>
            <a:r>
              <a:rPr lang="en" sz="2800" b="1">
                <a:solidFill>
                  <a:schemeClr val="dk1"/>
                </a:solidFill>
                <a:highlight>
                  <a:schemeClr val="lt1"/>
                </a:highlight>
              </a:rPr>
              <a:t>Age * social context interaction?</a:t>
            </a:r>
            <a:endParaRPr sz="2800" b="1">
              <a:solidFill>
                <a:schemeClr val="dk1"/>
              </a:solidFill>
              <a:highlight>
                <a:schemeClr val="lt1"/>
              </a:highlight>
            </a:endParaRPr>
          </a:p>
        </p:txBody>
      </p:sp>
      <p:pic>
        <p:nvPicPr>
          <p:cNvPr id="443" name="Google Shape;443;p46" title="spreng_2017_DMN_ECN.png"/>
          <p:cNvPicPr preferRelativeResize="0"/>
          <p:nvPr/>
        </p:nvPicPr>
        <p:blipFill rotWithShape="1">
          <a:blip r:embed="rId3">
            <a:alphaModFix/>
          </a:blip>
          <a:srcRect b="2018"/>
          <a:stretch/>
        </p:blipFill>
        <p:spPr>
          <a:xfrm>
            <a:off x="5574150" y="1746000"/>
            <a:ext cx="3112827" cy="207600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31</a:t>
            </a:fld>
            <a:endParaRPr/>
          </a:p>
        </p:txBody>
      </p:sp>
      <p:sp>
        <p:nvSpPr>
          <p:cNvPr id="449" name="Google Shape;449;p47"/>
          <p:cNvSpPr txBox="1"/>
          <p:nvPr/>
        </p:nvSpPr>
        <p:spPr>
          <a:xfrm>
            <a:off x="248775" y="1321500"/>
            <a:ext cx="6827700" cy="2500500"/>
          </a:xfrm>
          <a:prstGeom prst="rect">
            <a:avLst/>
          </a:prstGeom>
          <a:noFill/>
          <a:ln>
            <a:noFill/>
          </a:ln>
        </p:spPr>
        <p:txBody>
          <a:bodyPr spcFirstLastPara="1" wrap="square" lIns="91425" tIns="91425" rIns="91425" bIns="91425" anchor="t" anchorCtr="0">
            <a:noAutofit/>
          </a:bodyPr>
          <a:lstStyle/>
          <a:p>
            <a:pPr marL="457200" lvl="0" indent="-368300" algn="l" rtl="0">
              <a:lnSpc>
                <a:spcPct val="115000"/>
              </a:lnSpc>
              <a:spcBef>
                <a:spcPts val="0"/>
              </a:spcBef>
              <a:spcAft>
                <a:spcPts val="0"/>
              </a:spcAft>
              <a:buClr>
                <a:schemeClr val="dk1"/>
              </a:buClr>
              <a:buSzPts val="2200"/>
              <a:buChar char="●"/>
            </a:pPr>
            <a:r>
              <a:rPr lang="en" sz="2200" b="1">
                <a:solidFill>
                  <a:schemeClr val="dk1"/>
                </a:solidFill>
              </a:rPr>
              <a:t>Fairness: the Ultimatum Game</a:t>
            </a:r>
            <a:endParaRPr sz="2200" b="1">
              <a:solidFill>
                <a:schemeClr val="dk1"/>
              </a:solidFill>
            </a:endParaRPr>
          </a:p>
          <a:p>
            <a:pPr marL="457200" lvl="0" indent="-368300" algn="l" rtl="0">
              <a:lnSpc>
                <a:spcPct val="115000"/>
              </a:lnSpc>
              <a:spcBef>
                <a:spcPts val="1000"/>
              </a:spcBef>
              <a:spcAft>
                <a:spcPts val="0"/>
              </a:spcAft>
              <a:buClr>
                <a:schemeClr val="dk1"/>
              </a:buClr>
              <a:buSzPts val="2200"/>
              <a:buChar char="●"/>
            </a:pPr>
            <a:r>
              <a:rPr lang="en" sz="2200" b="1">
                <a:solidFill>
                  <a:schemeClr val="dk1"/>
                </a:solidFill>
              </a:rPr>
              <a:t>Functional connectivity</a:t>
            </a:r>
            <a:br>
              <a:rPr lang="en" sz="2200">
                <a:solidFill>
                  <a:schemeClr val="dk1"/>
                </a:solidFill>
              </a:rPr>
            </a:br>
            <a:r>
              <a:rPr lang="en" sz="2200">
                <a:solidFill>
                  <a:srgbClr val="38761D"/>
                </a:solidFill>
              </a:rPr>
              <a:t>- Default Mode Network (DMN)</a:t>
            </a:r>
            <a:br>
              <a:rPr lang="en" sz="2200">
                <a:solidFill>
                  <a:schemeClr val="dk1"/>
                </a:solidFill>
              </a:rPr>
            </a:br>
            <a:r>
              <a:rPr lang="en" sz="2200">
                <a:solidFill>
                  <a:srgbClr val="1155CC"/>
                </a:solidFill>
              </a:rPr>
              <a:t>- Executive Control Network (ECN)</a:t>
            </a:r>
            <a:r>
              <a:rPr lang="en" sz="2200">
                <a:solidFill>
                  <a:schemeClr val="dk1"/>
                </a:solidFill>
              </a:rPr>
              <a:t> </a:t>
            </a:r>
            <a:endParaRPr sz="2200">
              <a:solidFill>
                <a:schemeClr val="dk1"/>
              </a:solidFill>
            </a:endParaRPr>
          </a:p>
          <a:p>
            <a:pPr marL="0" lvl="0" indent="0" algn="l" rtl="0">
              <a:lnSpc>
                <a:spcPct val="115000"/>
              </a:lnSpc>
              <a:spcBef>
                <a:spcPts val="1000"/>
              </a:spcBef>
              <a:spcAft>
                <a:spcPts val="1000"/>
              </a:spcAft>
              <a:buNone/>
            </a:pPr>
            <a:endParaRPr sz="2200">
              <a:solidFill>
                <a:schemeClr val="lt1"/>
              </a:solidFill>
            </a:endParaRPr>
          </a:p>
        </p:txBody>
      </p:sp>
      <p:sp>
        <p:nvSpPr>
          <p:cNvPr id="450" name="Google Shape;450;p47"/>
          <p:cNvSpPr txBox="1"/>
          <p:nvPr/>
        </p:nvSpPr>
        <p:spPr>
          <a:xfrm>
            <a:off x="-10375" y="147650"/>
            <a:ext cx="8842800" cy="1127100"/>
          </a:xfrm>
          <a:prstGeom prst="rect">
            <a:avLst/>
          </a:prstGeom>
          <a:noFill/>
          <a:ln>
            <a:noFill/>
          </a:ln>
        </p:spPr>
        <p:txBody>
          <a:bodyPr spcFirstLastPara="1" wrap="square" lIns="91425" tIns="91425" rIns="91425" bIns="91425" anchor="ctr" anchorCtr="0">
            <a:noAutofit/>
          </a:bodyPr>
          <a:lstStyle/>
          <a:p>
            <a:pPr marL="457200" lvl="0" indent="0" algn="l" rtl="0">
              <a:spcBef>
                <a:spcPts val="0"/>
              </a:spcBef>
              <a:spcAft>
                <a:spcPts val="0"/>
              </a:spcAft>
              <a:buNone/>
            </a:pPr>
            <a:r>
              <a:rPr lang="en" sz="2800" b="1">
                <a:solidFill>
                  <a:schemeClr val="dk1"/>
                </a:solidFill>
                <a:highlight>
                  <a:schemeClr val="lt1"/>
                </a:highlight>
              </a:rPr>
              <a:t>Age * social context interaction?</a:t>
            </a:r>
            <a:endParaRPr sz="2800" b="1">
              <a:solidFill>
                <a:schemeClr val="dk1"/>
              </a:solidFill>
              <a:highlight>
                <a:schemeClr val="lt1"/>
              </a:highlight>
            </a:endParaRPr>
          </a:p>
        </p:txBody>
      </p:sp>
      <p:grpSp>
        <p:nvGrpSpPr>
          <p:cNvPr id="451" name="Google Shape;451;p47"/>
          <p:cNvGrpSpPr/>
          <p:nvPr/>
        </p:nvGrpSpPr>
        <p:grpSpPr>
          <a:xfrm>
            <a:off x="5661021" y="1494830"/>
            <a:ext cx="2990804" cy="1305648"/>
            <a:chOff x="5661021" y="1190030"/>
            <a:chExt cx="2990804" cy="1305648"/>
          </a:xfrm>
        </p:grpSpPr>
        <p:grpSp>
          <p:nvGrpSpPr>
            <p:cNvPr id="452" name="Google Shape;452;p47"/>
            <p:cNvGrpSpPr/>
            <p:nvPr/>
          </p:nvGrpSpPr>
          <p:grpSpPr>
            <a:xfrm>
              <a:off x="5661021" y="1425796"/>
              <a:ext cx="2764051" cy="1069883"/>
              <a:chOff x="-321558" y="1161346"/>
              <a:chExt cx="1727100" cy="663000"/>
            </a:xfrm>
          </p:grpSpPr>
          <p:sp>
            <p:nvSpPr>
              <p:cNvPr id="453" name="Google Shape;453;p47"/>
              <p:cNvSpPr/>
              <p:nvPr/>
            </p:nvSpPr>
            <p:spPr>
              <a:xfrm>
                <a:off x="-321558" y="1161346"/>
                <a:ext cx="1727100" cy="663000"/>
              </a:xfrm>
              <a:prstGeom prst="roundRect">
                <a:avLst>
                  <a:gd name="adj" fmla="val 16667"/>
                </a:avLst>
              </a:prstGeom>
              <a:solidFill>
                <a:schemeClr val="lt1"/>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454" name="Google Shape;454;p47"/>
              <p:cNvGrpSpPr/>
              <p:nvPr/>
            </p:nvGrpSpPr>
            <p:grpSpPr>
              <a:xfrm>
                <a:off x="-259808" y="1189551"/>
                <a:ext cx="1624776" cy="606602"/>
                <a:chOff x="-259808" y="1189551"/>
                <a:chExt cx="1624776" cy="606602"/>
              </a:xfrm>
            </p:grpSpPr>
            <p:pic>
              <p:nvPicPr>
                <p:cNvPr id="455" name="Google Shape;455;p47" title="DMN_2green.png"/>
                <p:cNvPicPr preferRelativeResize="0"/>
                <p:nvPr/>
              </p:nvPicPr>
              <p:blipFill rotWithShape="1">
                <a:blip r:embed="rId3">
                  <a:alphaModFix/>
                </a:blip>
                <a:srcRect t="11465" r="55062" b="46348"/>
                <a:stretch/>
              </p:blipFill>
              <p:spPr>
                <a:xfrm>
                  <a:off x="275952" y="1210719"/>
                  <a:ext cx="487076" cy="544200"/>
                </a:xfrm>
                <a:prstGeom prst="rect">
                  <a:avLst/>
                </a:prstGeom>
                <a:noFill/>
                <a:ln>
                  <a:noFill/>
                </a:ln>
              </p:spPr>
            </p:pic>
            <p:pic>
              <p:nvPicPr>
                <p:cNvPr id="456" name="Google Shape;456;p47" title="DMN_2green.png"/>
                <p:cNvPicPr preferRelativeResize="0"/>
                <p:nvPr/>
              </p:nvPicPr>
              <p:blipFill rotWithShape="1">
                <a:blip r:embed="rId3">
                  <a:alphaModFix/>
                </a:blip>
                <a:srcRect l="45048" t="11466" b="46346"/>
                <a:stretch/>
              </p:blipFill>
              <p:spPr>
                <a:xfrm>
                  <a:off x="769380" y="1210705"/>
                  <a:ext cx="595588" cy="544215"/>
                </a:xfrm>
                <a:prstGeom prst="rect">
                  <a:avLst/>
                </a:prstGeom>
                <a:noFill/>
                <a:ln>
                  <a:noFill/>
                </a:ln>
              </p:spPr>
            </p:pic>
            <p:pic>
              <p:nvPicPr>
                <p:cNvPr id="457" name="Google Shape;457;p47" title="DMN_2green.png"/>
                <p:cNvPicPr preferRelativeResize="0"/>
                <p:nvPr/>
              </p:nvPicPr>
              <p:blipFill rotWithShape="1">
                <a:blip r:embed="rId3">
                  <a:alphaModFix/>
                </a:blip>
                <a:srcRect t="52978" r="55062"/>
                <a:stretch/>
              </p:blipFill>
              <p:spPr>
                <a:xfrm>
                  <a:off x="-259808" y="1189551"/>
                  <a:ext cx="487076" cy="606602"/>
                </a:xfrm>
                <a:prstGeom prst="rect">
                  <a:avLst/>
                </a:prstGeom>
                <a:noFill/>
                <a:ln>
                  <a:noFill/>
                </a:ln>
              </p:spPr>
            </p:pic>
          </p:grpSp>
        </p:grpSp>
        <p:sp>
          <p:nvSpPr>
            <p:cNvPr id="458" name="Google Shape;458;p47"/>
            <p:cNvSpPr txBox="1"/>
            <p:nvPr/>
          </p:nvSpPr>
          <p:spPr>
            <a:xfrm>
              <a:off x="5713925" y="1190030"/>
              <a:ext cx="2937900" cy="47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r>
                <a:rPr lang="en" sz="1600" b="1">
                  <a:solidFill>
                    <a:srgbClr val="38761D"/>
                  </a:solidFill>
                  <a:highlight>
                    <a:schemeClr val="lt1"/>
                  </a:highlight>
                </a:rPr>
                <a:t>Default Mode Network</a:t>
              </a:r>
              <a:endParaRPr sz="1600" b="1">
                <a:highlight>
                  <a:schemeClr val="lt1"/>
                </a:highlight>
              </a:endParaRPr>
            </a:p>
          </p:txBody>
        </p:sp>
      </p:grpSp>
      <p:grpSp>
        <p:nvGrpSpPr>
          <p:cNvPr id="459" name="Google Shape;459;p47"/>
          <p:cNvGrpSpPr/>
          <p:nvPr/>
        </p:nvGrpSpPr>
        <p:grpSpPr>
          <a:xfrm>
            <a:off x="5661030" y="2786832"/>
            <a:ext cx="2990795" cy="1323171"/>
            <a:chOff x="5661030" y="2786832"/>
            <a:chExt cx="2990795" cy="1323171"/>
          </a:xfrm>
        </p:grpSpPr>
        <p:grpSp>
          <p:nvGrpSpPr>
            <p:cNvPr id="460" name="Google Shape;460;p47"/>
            <p:cNvGrpSpPr/>
            <p:nvPr/>
          </p:nvGrpSpPr>
          <p:grpSpPr>
            <a:xfrm>
              <a:off x="5661030" y="3048903"/>
              <a:ext cx="2764200" cy="1061100"/>
              <a:chOff x="5661005" y="2942303"/>
              <a:chExt cx="2764200" cy="1061100"/>
            </a:xfrm>
          </p:grpSpPr>
          <p:sp>
            <p:nvSpPr>
              <p:cNvPr id="461" name="Google Shape;461;p47"/>
              <p:cNvSpPr/>
              <p:nvPr/>
            </p:nvSpPr>
            <p:spPr>
              <a:xfrm>
                <a:off x="5661005" y="2942303"/>
                <a:ext cx="2764200" cy="1061100"/>
              </a:xfrm>
              <a:prstGeom prst="roundRect">
                <a:avLst>
                  <a:gd name="adj" fmla="val 16667"/>
                </a:avLst>
              </a:prstGeom>
              <a:solidFill>
                <a:schemeClr val="lt1"/>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462" name="Google Shape;462;p47"/>
              <p:cNvGrpSpPr/>
              <p:nvPr/>
            </p:nvGrpSpPr>
            <p:grpSpPr>
              <a:xfrm>
                <a:off x="5793771" y="2976214"/>
                <a:ext cx="2532437" cy="958984"/>
                <a:chOff x="-9625" y="1107063"/>
                <a:chExt cx="1987628" cy="752676"/>
              </a:xfrm>
            </p:grpSpPr>
            <p:pic>
              <p:nvPicPr>
                <p:cNvPr id="463" name="Google Shape;463;p47" title="ECN_7cool.png"/>
                <p:cNvPicPr preferRelativeResize="0"/>
                <p:nvPr/>
              </p:nvPicPr>
              <p:blipFill rotWithShape="1">
                <a:blip r:embed="rId4">
                  <a:alphaModFix/>
                </a:blip>
                <a:srcRect t="11395" r="55952" b="51773"/>
                <a:stretch/>
              </p:blipFill>
              <p:spPr>
                <a:xfrm>
                  <a:off x="648489" y="1206657"/>
                  <a:ext cx="547751" cy="553498"/>
                </a:xfrm>
                <a:prstGeom prst="rect">
                  <a:avLst/>
                </a:prstGeom>
                <a:noFill/>
                <a:ln>
                  <a:noFill/>
                </a:ln>
              </p:spPr>
            </p:pic>
            <p:pic>
              <p:nvPicPr>
                <p:cNvPr id="464" name="Google Shape;464;p47" title="ECN_7cool.png"/>
                <p:cNvPicPr preferRelativeResize="0"/>
                <p:nvPr/>
              </p:nvPicPr>
              <p:blipFill rotWithShape="1">
                <a:blip r:embed="rId4">
                  <a:alphaModFix/>
                </a:blip>
                <a:srcRect l="43454" t="9886" b="45877"/>
                <a:stretch/>
              </p:blipFill>
              <p:spPr>
                <a:xfrm>
                  <a:off x="1274852" y="1151025"/>
                  <a:ext cx="703151" cy="664755"/>
                </a:xfrm>
                <a:prstGeom prst="rect">
                  <a:avLst/>
                </a:prstGeom>
                <a:noFill/>
                <a:ln>
                  <a:noFill/>
                </a:ln>
              </p:spPr>
            </p:pic>
            <p:pic>
              <p:nvPicPr>
                <p:cNvPr id="465" name="Google Shape;465;p47" title="ECN_7cool.png"/>
                <p:cNvPicPr preferRelativeResize="0"/>
                <p:nvPr/>
              </p:nvPicPr>
              <p:blipFill rotWithShape="1">
                <a:blip r:embed="rId4">
                  <a:alphaModFix/>
                </a:blip>
                <a:srcRect t="49917" r="55952"/>
                <a:stretch/>
              </p:blipFill>
              <p:spPr>
                <a:xfrm>
                  <a:off x="-9625" y="1107063"/>
                  <a:ext cx="547751" cy="752676"/>
                </a:xfrm>
                <a:prstGeom prst="rect">
                  <a:avLst/>
                </a:prstGeom>
                <a:noFill/>
                <a:ln>
                  <a:noFill/>
                </a:ln>
              </p:spPr>
            </p:pic>
          </p:grpSp>
        </p:grpSp>
        <p:sp>
          <p:nvSpPr>
            <p:cNvPr id="466" name="Google Shape;466;p47"/>
            <p:cNvSpPr txBox="1"/>
            <p:nvPr/>
          </p:nvSpPr>
          <p:spPr>
            <a:xfrm>
              <a:off x="5713925" y="2786832"/>
              <a:ext cx="2937900" cy="47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r>
                <a:rPr lang="en" sz="1600" b="1">
                  <a:solidFill>
                    <a:srgbClr val="3C78D8"/>
                  </a:solidFill>
                  <a:highlight>
                    <a:schemeClr val="lt1"/>
                  </a:highlight>
                </a:rPr>
                <a:t>Executive Control Network</a:t>
              </a:r>
              <a:endParaRPr sz="1600" b="1">
                <a:solidFill>
                  <a:srgbClr val="3C78D8"/>
                </a:solidFill>
                <a:highlight>
                  <a:schemeClr val="lt1"/>
                </a:highlight>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32</a:t>
            </a:fld>
            <a:endParaRPr/>
          </a:p>
        </p:txBody>
      </p:sp>
      <p:sp>
        <p:nvSpPr>
          <p:cNvPr id="472" name="Google Shape;472;p48"/>
          <p:cNvSpPr txBox="1"/>
          <p:nvPr/>
        </p:nvSpPr>
        <p:spPr>
          <a:xfrm>
            <a:off x="248775" y="1321500"/>
            <a:ext cx="6827700" cy="2500500"/>
          </a:xfrm>
          <a:prstGeom prst="rect">
            <a:avLst/>
          </a:prstGeom>
          <a:noFill/>
          <a:ln>
            <a:noFill/>
          </a:ln>
        </p:spPr>
        <p:txBody>
          <a:bodyPr spcFirstLastPara="1" wrap="square" lIns="91425" tIns="91425" rIns="91425" bIns="91425" anchor="t" anchorCtr="0">
            <a:noAutofit/>
          </a:bodyPr>
          <a:lstStyle/>
          <a:p>
            <a:pPr marL="457200" lvl="0" indent="-368300" algn="l" rtl="0">
              <a:lnSpc>
                <a:spcPct val="115000"/>
              </a:lnSpc>
              <a:spcBef>
                <a:spcPts val="0"/>
              </a:spcBef>
              <a:spcAft>
                <a:spcPts val="0"/>
              </a:spcAft>
              <a:buClr>
                <a:schemeClr val="dk1"/>
              </a:buClr>
              <a:buSzPts val="2200"/>
              <a:buChar char="●"/>
            </a:pPr>
            <a:r>
              <a:rPr lang="en" sz="2200" b="1">
                <a:solidFill>
                  <a:schemeClr val="dk1"/>
                </a:solidFill>
              </a:rPr>
              <a:t>Fairness: the Ultimatum Game</a:t>
            </a:r>
            <a:endParaRPr sz="2200" b="1">
              <a:solidFill>
                <a:schemeClr val="dk1"/>
              </a:solidFill>
            </a:endParaRPr>
          </a:p>
          <a:p>
            <a:pPr marL="457200" lvl="0" indent="-368300" algn="l" rtl="0">
              <a:lnSpc>
                <a:spcPct val="115000"/>
              </a:lnSpc>
              <a:spcBef>
                <a:spcPts val="1000"/>
              </a:spcBef>
              <a:spcAft>
                <a:spcPts val="0"/>
              </a:spcAft>
              <a:buClr>
                <a:schemeClr val="dk1"/>
              </a:buClr>
              <a:buSzPts val="2200"/>
              <a:buChar char="●"/>
            </a:pPr>
            <a:r>
              <a:rPr lang="en" sz="2200" b="1">
                <a:solidFill>
                  <a:schemeClr val="dk1"/>
                </a:solidFill>
              </a:rPr>
              <a:t>Functional connectivity</a:t>
            </a:r>
            <a:br>
              <a:rPr lang="en" sz="2200">
                <a:solidFill>
                  <a:schemeClr val="dk1"/>
                </a:solidFill>
              </a:rPr>
            </a:br>
            <a:r>
              <a:rPr lang="en" sz="2200">
                <a:solidFill>
                  <a:srgbClr val="38761D"/>
                </a:solidFill>
              </a:rPr>
              <a:t>- Default Mode Network (DMN)</a:t>
            </a:r>
            <a:br>
              <a:rPr lang="en" sz="2200">
                <a:solidFill>
                  <a:schemeClr val="dk1"/>
                </a:solidFill>
              </a:rPr>
            </a:br>
            <a:r>
              <a:rPr lang="en" sz="2200">
                <a:solidFill>
                  <a:srgbClr val="1155CC"/>
                </a:solidFill>
              </a:rPr>
              <a:t>- Executive Control Network (ECN)</a:t>
            </a:r>
            <a:r>
              <a:rPr lang="en" sz="2200">
                <a:solidFill>
                  <a:schemeClr val="dk1"/>
                </a:solidFill>
              </a:rPr>
              <a:t> </a:t>
            </a:r>
            <a:endParaRPr sz="2200">
              <a:solidFill>
                <a:schemeClr val="dk1"/>
              </a:solidFill>
            </a:endParaRPr>
          </a:p>
          <a:p>
            <a:pPr marL="457200" lvl="0" indent="-368300" algn="l" rtl="0">
              <a:lnSpc>
                <a:spcPct val="115000"/>
              </a:lnSpc>
              <a:spcBef>
                <a:spcPts val="1000"/>
              </a:spcBef>
              <a:spcAft>
                <a:spcPts val="1000"/>
              </a:spcAft>
              <a:buClr>
                <a:schemeClr val="dk1"/>
              </a:buClr>
              <a:buSzPts val="2200"/>
              <a:buChar char="●"/>
            </a:pPr>
            <a:r>
              <a:rPr lang="en" sz="2200" b="1">
                <a:solidFill>
                  <a:schemeClr val="dk1"/>
                </a:solidFill>
              </a:rPr>
              <a:t>Connectivity-behavior association</a:t>
            </a:r>
            <a:br>
              <a:rPr lang="en" sz="2200" b="1">
                <a:solidFill>
                  <a:schemeClr val="lt1"/>
                </a:solidFill>
              </a:rPr>
            </a:br>
            <a:endParaRPr sz="2200">
              <a:solidFill>
                <a:schemeClr val="lt1"/>
              </a:solidFill>
            </a:endParaRPr>
          </a:p>
        </p:txBody>
      </p:sp>
      <p:sp>
        <p:nvSpPr>
          <p:cNvPr id="473" name="Google Shape;473;p48"/>
          <p:cNvSpPr txBox="1"/>
          <p:nvPr/>
        </p:nvSpPr>
        <p:spPr>
          <a:xfrm>
            <a:off x="-10375" y="147650"/>
            <a:ext cx="8842800" cy="1127100"/>
          </a:xfrm>
          <a:prstGeom prst="rect">
            <a:avLst/>
          </a:prstGeom>
          <a:noFill/>
          <a:ln>
            <a:noFill/>
          </a:ln>
        </p:spPr>
        <p:txBody>
          <a:bodyPr spcFirstLastPara="1" wrap="square" lIns="91425" tIns="91425" rIns="91425" bIns="91425" anchor="ctr" anchorCtr="0">
            <a:noAutofit/>
          </a:bodyPr>
          <a:lstStyle/>
          <a:p>
            <a:pPr marL="457200" lvl="0" indent="0" algn="l" rtl="0">
              <a:spcBef>
                <a:spcPts val="0"/>
              </a:spcBef>
              <a:spcAft>
                <a:spcPts val="0"/>
              </a:spcAft>
              <a:buNone/>
            </a:pPr>
            <a:r>
              <a:rPr lang="en" sz="2800" b="1">
                <a:solidFill>
                  <a:schemeClr val="dk1"/>
                </a:solidFill>
                <a:highlight>
                  <a:schemeClr val="lt1"/>
                </a:highlight>
              </a:rPr>
              <a:t>Age * social context interaction?</a:t>
            </a:r>
            <a:endParaRPr sz="2800" b="1">
              <a:solidFill>
                <a:schemeClr val="dk1"/>
              </a:solidFill>
              <a:highlight>
                <a:schemeClr val="lt1"/>
              </a:highlight>
            </a:endParaRPr>
          </a:p>
        </p:txBody>
      </p:sp>
      <p:grpSp>
        <p:nvGrpSpPr>
          <p:cNvPr id="474" name="Google Shape;474;p48"/>
          <p:cNvGrpSpPr/>
          <p:nvPr/>
        </p:nvGrpSpPr>
        <p:grpSpPr>
          <a:xfrm>
            <a:off x="5661021" y="1494830"/>
            <a:ext cx="2990804" cy="1305648"/>
            <a:chOff x="5661021" y="1190030"/>
            <a:chExt cx="2990804" cy="1305648"/>
          </a:xfrm>
        </p:grpSpPr>
        <p:grpSp>
          <p:nvGrpSpPr>
            <p:cNvPr id="475" name="Google Shape;475;p48"/>
            <p:cNvGrpSpPr/>
            <p:nvPr/>
          </p:nvGrpSpPr>
          <p:grpSpPr>
            <a:xfrm>
              <a:off x="5661021" y="1425796"/>
              <a:ext cx="2764051" cy="1069883"/>
              <a:chOff x="-321558" y="1161346"/>
              <a:chExt cx="1727100" cy="663000"/>
            </a:xfrm>
          </p:grpSpPr>
          <p:sp>
            <p:nvSpPr>
              <p:cNvPr id="476" name="Google Shape;476;p48"/>
              <p:cNvSpPr/>
              <p:nvPr/>
            </p:nvSpPr>
            <p:spPr>
              <a:xfrm>
                <a:off x="-321558" y="1161346"/>
                <a:ext cx="1727100" cy="663000"/>
              </a:xfrm>
              <a:prstGeom prst="roundRect">
                <a:avLst>
                  <a:gd name="adj" fmla="val 16667"/>
                </a:avLst>
              </a:prstGeom>
              <a:solidFill>
                <a:schemeClr val="lt1"/>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477" name="Google Shape;477;p48"/>
              <p:cNvGrpSpPr/>
              <p:nvPr/>
            </p:nvGrpSpPr>
            <p:grpSpPr>
              <a:xfrm>
                <a:off x="-259808" y="1189551"/>
                <a:ext cx="1624776" cy="606602"/>
                <a:chOff x="-259808" y="1189551"/>
                <a:chExt cx="1624776" cy="606602"/>
              </a:xfrm>
            </p:grpSpPr>
            <p:pic>
              <p:nvPicPr>
                <p:cNvPr id="478" name="Google Shape;478;p48" title="DMN_2green.png"/>
                <p:cNvPicPr preferRelativeResize="0"/>
                <p:nvPr/>
              </p:nvPicPr>
              <p:blipFill rotWithShape="1">
                <a:blip r:embed="rId3">
                  <a:alphaModFix/>
                </a:blip>
                <a:srcRect t="11465" r="55062" b="46348"/>
                <a:stretch/>
              </p:blipFill>
              <p:spPr>
                <a:xfrm>
                  <a:off x="275952" y="1210719"/>
                  <a:ext cx="487076" cy="544200"/>
                </a:xfrm>
                <a:prstGeom prst="rect">
                  <a:avLst/>
                </a:prstGeom>
                <a:noFill/>
                <a:ln>
                  <a:noFill/>
                </a:ln>
              </p:spPr>
            </p:pic>
            <p:pic>
              <p:nvPicPr>
                <p:cNvPr id="479" name="Google Shape;479;p48" title="DMN_2green.png"/>
                <p:cNvPicPr preferRelativeResize="0"/>
                <p:nvPr/>
              </p:nvPicPr>
              <p:blipFill rotWithShape="1">
                <a:blip r:embed="rId3">
                  <a:alphaModFix/>
                </a:blip>
                <a:srcRect l="45048" t="11466" b="46346"/>
                <a:stretch/>
              </p:blipFill>
              <p:spPr>
                <a:xfrm>
                  <a:off x="769380" y="1210705"/>
                  <a:ext cx="595588" cy="544215"/>
                </a:xfrm>
                <a:prstGeom prst="rect">
                  <a:avLst/>
                </a:prstGeom>
                <a:noFill/>
                <a:ln>
                  <a:noFill/>
                </a:ln>
              </p:spPr>
            </p:pic>
            <p:pic>
              <p:nvPicPr>
                <p:cNvPr id="480" name="Google Shape;480;p48" title="DMN_2green.png"/>
                <p:cNvPicPr preferRelativeResize="0"/>
                <p:nvPr/>
              </p:nvPicPr>
              <p:blipFill rotWithShape="1">
                <a:blip r:embed="rId3">
                  <a:alphaModFix/>
                </a:blip>
                <a:srcRect t="52978" r="55062"/>
                <a:stretch/>
              </p:blipFill>
              <p:spPr>
                <a:xfrm>
                  <a:off x="-259808" y="1189551"/>
                  <a:ext cx="487076" cy="606602"/>
                </a:xfrm>
                <a:prstGeom prst="rect">
                  <a:avLst/>
                </a:prstGeom>
                <a:noFill/>
                <a:ln>
                  <a:noFill/>
                </a:ln>
              </p:spPr>
            </p:pic>
          </p:grpSp>
        </p:grpSp>
        <p:sp>
          <p:nvSpPr>
            <p:cNvPr id="481" name="Google Shape;481;p48"/>
            <p:cNvSpPr txBox="1"/>
            <p:nvPr/>
          </p:nvSpPr>
          <p:spPr>
            <a:xfrm>
              <a:off x="5713925" y="1190030"/>
              <a:ext cx="2937900" cy="47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r>
                <a:rPr lang="en" sz="1600" b="1">
                  <a:solidFill>
                    <a:srgbClr val="38761D"/>
                  </a:solidFill>
                  <a:highlight>
                    <a:schemeClr val="lt1"/>
                  </a:highlight>
                </a:rPr>
                <a:t>Default Mode Network</a:t>
              </a:r>
              <a:endParaRPr sz="1600" b="1">
                <a:highlight>
                  <a:schemeClr val="lt1"/>
                </a:highlight>
              </a:endParaRPr>
            </a:p>
          </p:txBody>
        </p:sp>
      </p:grpSp>
      <p:grpSp>
        <p:nvGrpSpPr>
          <p:cNvPr id="482" name="Google Shape;482;p48"/>
          <p:cNvGrpSpPr/>
          <p:nvPr/>
        </p:nvGrpSpPr>
        <p:grpSpPr>
          <a:xfrm>
            <a:off x="5661030" y="2786832"/>
            <a:ext cx="2990795" cy="1323171"/>
            <a:chOff x="5661030" y="2786832"/>
            <a:chExt cx="2990795" cy="1323171"/>
          </a:xfrm>
        </p:grpSpPr>
        <p:grpSp>
          <p:nvGrpSpPr>
            <p:cNvPr id="483" name="Google Shape;483;p48"/>
            <p:cNvGrpSpPr/>
            <p:nvPr/>
          </p:nvGrpSpPr>
          <p:grpSpPr>
            <a:xfrm>
              <a:off x="5661030" y="3048903"/>
              <a:ext cx="2764200" cy="1061100"/>
              <a:chOff x="5661005" y="2942303"/>
              <a:chExt cx="2764200" cy="1061100"/>
            </a:xfrm>
          </p:grpSpPr>
          <p:sp>
            <p:nvSpPr>
              <p:cNvPr id="484" name="Google Shape;484;p48"/>
              <p:cNvSpPr/>
              <p:nvPr/>
            </p:nvSpPr>
            <p:spPr>
              <a:xfrm>
                <a:off x="5661005" y="2942303"/>
                <a:ext cx="2764200" cy="1061100"/>
              </a:xfrm>
              <a:prstGeom prst="roundRect">
                <a:avLst>
                  <a:gd name="adj" fmla="val 16667"/>
                </a:avLst>
              </a:prstGeom>
              <a:solidFill>
                <a:schemeClr val="lt1"/>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485" name="Google Shape;485;p48"/>
              <p:cNvGrpSpPr/>
              <p:nvPr/>
            </p:nvGrpSpPr>
            <p:grpSpPr>
              <a:xfrm>
                <a:off x="5793771" y="2976214"/>
                <a:ext cx="2532437" cy="958984"/>
                <a:chOff x="-9625" y="1107063"/>
                <a:chExt cx="1987628" cy="752676"/>
              </a:xfrm>
            </p:grpSpPr>
            <p:pic>
              <p:nvPicPr>
                <p:cNvPr id="486" name="Google Shape;486;p48" title="ECN_7cool.png"/>
                <p:cNvPicPr preferRelativeResize="0"/>
                <p:nvPr/>
              </p:nvPicPr>
              <p:blipFill rotWithShape="1">
                <a:blip r:embed="rId4">
                  <a:alphaModFix/>
                </a:blip>
                <a:srcRect t="11395" r="55952" b="51773"/>
                <a:stretch/>
              </p:blipFill>
              <p:spPr>
                <a:xfrm>
                  <a:off x="648489" y="1206657"/>
                  <a:ext cx="547751" cy="553498"/>
                </a:xfrm>
                <a:prstGeom prst="rect">
                  <a:avLst/>
                </a:prstGeom>
                <a:noFill/>
                <a:ln>
                  <a:noFill/>
                </a:ln>
              </p:spPr>
            </p:pic>
            <p:pic>
              <p:nvPicPr>
                <p:cNvPr id="487" name="Google Shape;487;p48" title="ECN_7cool.png"/>
                <p:cNvPicPr preferRelativeResize="0"/>
                <p:nvPr/>
              </p:nvPicPr>
              <p:blipFill rotWithShape="1">
                <a:blip r:embed="rId4">
                  <a:alphaModFix/>
                </a:blip>
                <a:srcRect l="43454" t="9886" b="45877"/>
                <a:stretch/>
              </p:blipFill>
              <p:spPr>
                <a:xfrm>
                  <a:off x="1274852" y="1151025"/>
                  <a:ext cx="703151" cy="664755"/>
                </a:xfrm>
                <a:prstGeom prst="rect">
                  <a:avLst/>
                </a:prstGeom>
                <a:noFill/>
                <a:ln>
                  <a:noFill/>
                </a:ln>
              </p:spPr>
            </p:pic>
            <p:pic>
              <p:nvPicPr>
                <p:cNvPr id="488" name="Google Shape;488;p48" title="ECN_7cool.png"/>
                <p:cNvPicPr preferRelativeResize="0"/>
                <p:nvPr/>
              </p:nvPicPr>
              <p:blipFill rotWithShape="1">
                <a:blip r:embed="rId4">
                  <a:alphaModFix/>
                </a:blip>
                <a:srcRect t="49917" r="55952"/>
                <a:stretch/>
              </p:blipFill>
              <p:spPr>
                <a:xfrm>
                  <a:off x="-9625" y="1107063"/>
                  <a:ext cx="547751" cy="752676"/>
                </a:xfrm>
                <a:prstGeom prst="rect">
                  <a:avLst/>
                </a:prstGeom>
                <a:noFill/>
                <a:ln>
                  <a:noFill/>
                </a:ln>
              </p:spPr>
            </p:pic>
          </p:grpSp>
        </p:grpSp>
        <p:sp>
          <p:nvSpPr>
            <p:cNvPr id="489" name="Google Shape;489;p48"/>
            <p:cNvSpPr txBox="1"/>
            <p:nvPr/>
          </p:nvSpPr>
          <p:spPr>
            <a:xfrm>
              <a:off x="5713925" y="2786832"/>
              <a:ext cx="2937900" cy="47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r>
                <a:rPr lang="en" sz="1600" b="1">
                  <a:solidFill>
                    <a:srgbClr val="3C78D8"/>
                  </a:solidFill>
                  <a:highlight>
                    <a:schemeClr val="lt1"/>
                  </a:highlight>
                </a:rPr>
                <a:t>Executive Control Network</a:t>
              </a:r>
              <a:endParaRPr sz="1600" b="1">
                <a:solidFill>
                  <a:srgbClr val="3C78D8"/>
                </a:solidFill>
                <a:highlight>
                  <a:schemeClr val="lt1"/>
                </a:highlight>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33</a:t>
            </a:fld>
            <a:endParaRPr/>
          </a:p>
        </p:txBody>
      </p:sp>
      <p:sp>
        <p:nvSpPr>
          <p:cNvPr id="495" name="Google Shape;495;p49"/>
          <p:cNvSpPr txBox="1"/>
          <p:nvPr/>
        </p:nvSpPr>
        <p:spPr>
          <a:xfrm>
            <a:off x="248775" y="1321500"/>
            <a:ext cx="6827700" cy="2500500"/>
          </a:xfrm>
          <a:prstGeom prst="rect">
            <a:avLst/>
          </a:prstGeom>
          <a:noFill/>
          <a:ln>
            <a:noFill/>
          </a:ln>
        </p:spPr>
        <p:txBody>
          <a:bodyPr spcFirstLastPara="1" wrap="square" lIns="91425" tIns="91425" rIns="91425" bIns="91425" anchor="t" anchorCtr="0">
            <a:noAutofit/>
          </a:bodyPr>
          <a:lstStyle/>
          <a:p>
            <a:pPr marL="457200" lvl="0" indent="-368300" algn="l" rtl="0">
              <a:lnSpc>
                <a:spcPct val="115000"/>
              </a:lnSpc>
              <a:spcBef>
                <a:spcPts val="0"/>
              </a:spcBef>
              <a:spcAft>
                <a:spcPts val="0"/>
              </a:spcAft>
              <a:buClr>
                <a:schemeClr val="dk1"/>
              </a:buClr>
              <a:buSzPts val="2200"/>
              <a:buChar char="●"/>
            </a:pPr>
            <a:r>
              <a:rPr lang="en" sz="2200" b="1">
                <a:solidFill>
                  <a:schemeClr val="dk1"/>
                </a:solidFill>
              </a:rPr>
              <a:t>Fairness: the Ultimatum Game</a:t>
            </a:r>
            <a:endParaRPr sz="2200" b="1">
              <a:solidFill>
                <a:schemeClr val="dk1"/>
              </a:solidFill>
            </a:endParaRPr>
          </a:p>
          <a:p>
            <a:pPr marL="457200" lvl="0" indent="-368300" algn="l" rtl="0">
              <a:lnSpc>
                <a:spcPct val="115000"/>
              </a:lnSpc>
              <a:spcBef>
                <a:spcPts val="1000"/>
              </a:spcBef>
              <a:spcAft>
                <a:spcPts val="0"/>
              </a:spcAft>
              <a:buClr>
                <a:schemeClr val="dk1"/>
              </a:buClr>
              <a:buSzPts val="2200"/>
              <a:buChar char="●"/>
            </a:pPr>
            <a:r>
              <a:rPr lang="en" sz="2200" b="1">
                <a:solidFill>
                  <a:schemeClr val="dk1"/>
                </a:solidFill>
              </a:rPr>
              <a:t>Functional connectivity</a:t>
            </a:r>
            <a:br>
              <a:rPr lang="en" sz="2200">
                <a:solidFill>
                  <a:schemeClr val="dk1"/>
                </a:solidFill>
              </a:rPr>
            </a:br>
            <a:r>
              <a:rPr lang="en" sz="2200">
                <a:solidFill>
                  <a:srgbClr val="38761D"/>
                </a:solidFill>
              </a:rPr>
              <a:t>- Default Mode Network (DMN)</a:t>
            </a:r>
            <a:br>
              <a:rPr lang="en" sz="2200">
                <a:solidFill>
                  <a:schemeClr val="dk1"/>
                </a:solidFill>
              </a:rPr>
            </a:br>
            <a:r>
              <a:rPr lang="en" sz="2200">
                <a:solidFill>
                  <a:srgbClr val="1155CC"/>
                </a:solidFill>
              </a:rPr>
              <a:t>- Executive Control Network (ECN)</a:t>
            </a:r>
            <a:r>
              <a:rPr lang="en" sz="2200">
                <a:solidFill>
                  <a:schemeClr val="dk1"/>
                </a:solidFill>
              </a:rPr>
              <a:t> </a:t>
            </a:r>
            <a:endParaRPr sz="2200">
              <a:solidFill>
                <a:schemeClr val="dk1"/>
              </a:solidFill>
            </a:endParaRPr>
          </a:p>
          <a:p>
            <a:pPr marL="457200" lvl="0" indent="-368300" algn="l" rtl="0">
              <a:lnSpc>
                <a:spcPct val="115000"/>
              </a:lnSpc>
              <a:spcBef>
                <a:spcPts val="1000"/>
              </a:spcBef>
              <a:spcAft>
                <a:spcPts val="1000"/>
              </a:spcAft>
              <a:buClr>
                <a:schemeClr val="dk1"/>
              </a:buClr>
              <a:buSzPts val="2200"/>
              <a:buChar char="●"/>
            </a:pPr>
            <a:r>
              <a:rPr lang="en" sz="2200" b="1">
                <a:solidFill>
                  <a:schemeClr val="dk1"/>
                </a:solidFill>
              </a:rPr>
              <a:t>Connectivity-behavior association</a:t>
            </a:r>
            <a:br>
              <a:rPr lang="en" sz="2200" b="1">
                <a:solidFill>
                  <a:schemeClr val="lt1"/>
                </a:solidFill>
              </a:rPr>
            </a:br>
            <a:r>
              <a:rPr lang="en" sz="2200">
                <a:solidFill>
                  <a:schemeClr val="dk1"/>
                </a:solidFill>
              </a:rPr>
              <a:t>- Fairness norm</a:t>
            </a:r>
            <a:br>
              <a:rPr lang="en" sz="2200">
                <a:solidFill>
                  <a:schemeClr val="dk1"/>
                </a:solidFill>
              </a:rPr>
            </a:br>
            <a:r>
              <a:rPr lang="en" sz="2200">
                <a:solidFill>
                  <a:schemeClr val="dk1"/>
                </a:solidFill>
              </a:rPr>
              <a:t>- Norm violation sensitivity</a:t>
            </a:r>
            <a:endParaRPr sz="2200">
              <a:solidFill>
                <a:schemeClr val="dk1"/>
              </a:solidFill>
            </a:endParaRPr>
          </a:p>
        </p:txBody>
      </p:sp>
      <p:sp>
        <p:nvSpPr>
          <p:cNvPr id="496" name="Google Shape;496;p49"/>
          <p:cNvSpPr txBox="1"/>
          <p:nvPr/>
        </p:nvSpPr>
        <p:spPr>
          <a:xfrm>
            <a:off x="-10375" y="147650"/>
            <a:ext cx="8842800" cy="1127100"/>
          </a:xfrm>
          <a:prstGeom prst="rect">
            <a:avLst/>
          </a:prstGeom>
          <a:noFill/>
          <a:ln>
            <a:noFill/>
          </a:ln>
        </p:spPr>
        <p:txBody>
          <a:bodyPr spcFirstLastPara="1" wrap="square" lIns="91425" tIns="91425" rIns="91425" bIns="91425" anchor="ctr" anchorCtr="0">
            <a:noAutofit/>
          </a:bodyPr>
          <a:lstStyle/>
          <a:p>
            <a:pPr marL="457200" lvl="0" indent="0" algn="l" rtl="0">
              <a:spcBef>
                <a:spcPts val="0"/>
              </a:spcBef>
              <a:spcAft>
                <a:spcPts val="0"/>
              </a:spcAft>
              <a:buNone/>
            </a:pPr>
            <a:r>
              <a:rPr lang="en" sz="2800" b="1">
                <a:solidFill>
                  <a:schemeClr val="dk1"/>
                </a:solidFill>
                <a:highlight>
                  <a:schemeClr val="lt1"/>
                </a:highlight>
              </a:rPr>
              <a:t>Age * social context interaction?</a:t>
            </a:r>
            <a:endParaRPr sz="2800" b="1">
              <a:solidFill>
                <a:schemeClr val="dk1"/>
              </a:solidFill>
              <a:highlight>
                <a:schemeClr val="lt1"/>
              </a:highlight>
            </a:endParaRPr>
          </a:p>
        </p:txBody>
      </p:sp>
      <p:grpSp>
        <p:nvGrpSpPr>
          <p:cNvPr id="497" name="Google Shape;497;p49"/>
          <p:cNvGrpSpPr/>
          <p:nvPr/>
        </p:nvGrpSpPr>
        <p:grpSpPr>
          <a:xfrm>
            <a:off x="5661021" y="1494830"/>
            <a:ext cx="2990804" cy="1305648"/>
            <a:chOff x="5661021" y="1190030"/>
            <a:chExt cx="2990804" cy="1305648"/>
          </a:xfrm>
        </p:grpSpPr>
        <p:grpSp>
          <p:nvGrpSpPr>
            <p:cNvPr id="498" name="Google Shape;498;p49"/>
            <p:cNvGrpSpPr/>
            <p:nvPr/>
          </p:nvGrpSpPr>
          <p:grpSpPr>
            <a:xfrm>
              <a:off x="5661021" y="1425796"/>
              <a:ext cx="2764051" cy="1069883"/>
              <a:chOff x="-321558" y="1161346"/>
              <a:chExt cx="1727100" cy="663000"/>
            </a:xfrm>
          </p:grpSpPr>
          <p:sp>
            <p:nvSpPr>
              <p:cNvPr id="499" name="Google Shape;499;p49"/>
              <p:cNvSpPr/>
              <p:nvPr/>
            </p:nvSpPr>
            <p:spPr>
              <a:xfrm>
                <a:off x="-321558" y="1161346"/>
                <a:ext cx="1727100" cy="663000"/>
              </a:xfrm>
              <a:prstGeom prst="roundRect">
                <a:avLst>
                  <a:gd name="adj" fmla="val 16667"/>
                </a:avLst>
              </a:prstGeom>
              <a:solidFill>
                <a:schemeClr val="lt1"/>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500" name="Google Shape;500;p49"/>
              <p:cNvGrpSpPr/>
              <p:nvPr/>
            </p:nvGrpSpPr>
            <p:grpSpPr>
              <a:xfrm>
                <a:off x="-259808" y="1189551"/>
                <a:ext cx="1624776" cy="606602"/>
                <a:chOff x="-259808" y="1189551"/>
                <a:chExt cx="1624776" cy="606602"/>
              </a:xfrm>
            </p:grpSpPr>
            <p:pic>
              <p:nvPicPr>
                <p:cNvPr id="501" name="Google Shape;501;p49" title="DMN_2green.png"/>
                <p:cNvPicPr preferRelativeResize="0"/>
                <p:nvPr/>
              </p:nvPicPr>
              <p:blipFill rotWithShape="1">
                <a:blip r:embed="rId3">
                  <a:alphaModFix/>
                </a:blip>
                <a:srcRect t="11465" r="55062" b="46348"/>
                <a:stretch/>
              </p:blipFill>
              <p:spPr>
                <a:xfrm>
                  <a:off x="275952" y="1210719"/>
                  <a:ext cx="487076" cy="544200"/>
                </a:xfrm>
                <a:prstGeom prst="rect">
                  <a:avLst/>
                </a:prstGeom>
                <a:noFill/>
                <a:ln>
                  <a:noFill/>
                </a:ln>
              </p:spPr>
            </p:pic>
            <p:pic>
              <p:nvPicPr>
                <p:cNvPr id="502" name="Google Shape;502;p49" title="DMN_2green.png"/>
                <p:cNvPicPr preferRelativeResize="0"/>
                <p:nvPr/>
              </p:nvPicPr>
              <p:blipFill rotWithShape="1">
                <a:blip r:embed="rId3">
                  <a:alphaModFix/>
                </a:blip>
                <a:srcRect l="45048" t="11466" b="46346"/>
                <a:stretch/>
              </p:blipFill>
              <p:spPr>
                <a:xfrm>
                  <a:off x="769380" y="1210705"/>
                  <a:ext cx="595588" cy="544215"/>
                </a:xfrm>
                <a:prstGeom prst="rect">
                  <a:avLst/>
                </a:prstGeom>
                <a:noFill/>
                <a:ln>
                  <a:noFill/>
                </a:ln>
              </p:spPr>
            </p:pic>
            <p:pic>
              <p:nvPicPr>
                <p:cNvPr id="503" name="Google Shape;503;p49" title="DMN_2green.png"/>
                <p:cNvPicPr preferRelativeResize="0"/>
                <p:nvPr/>
              </p:nvPicPr>
              <p:blipFill rotWithShape="1">
                <a:blip r:embed="rId3">
                  <a:alphaModFix/>
                </a:blip>
                <a:srcRect t="52978" r="55062"/>
                <a:stretch/>
              </p:blipFill>
              <p:spPr>
                <a:xfrm>
                  <a:off x="-259808" y="1189551"/>
                  <a:ext cx="487076" cy="606602"/>
                </a:xfrm>
                <a:prstGeom prst="rect">
                  <a:avLst/>
                </a:prstGeom>
                <a:noFill/>
                <a:ln>
                  <a:noFill/>
                </a:ln>
              </p:spPr>
            </p:pic>
          </p:grpSp>
        </p:grpSp>
        <p:sp>
          <p:nvSpPr>
            <p:cNvPr id="504" name="Google Shape;504;p49"/>
            <p:cNvSpPr txBox="1"/>
            <p:nvPr/>
          </p:nvSpPr>
          <p:spPr>
            <a:xfrm>
              <a:off x="5713925" y="1190030"/>
              <a:ext cx="2937900" cy="47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r>
                <a:rPr lang="en" sz="1600" b="1">
                  <a:solidFill>
                    <a:srgbClr val="38761D"/>
                  </a:solidFill>
                  <a:highlight>
                    <a:schemeClr val="lt1"/>
                  </a:highlight>
                </a:rPr>
                <a:t>Default Mode Network</a:t>
              </a:r>
              <a:endParaRPr sz="1600" b="1">
                <a:highlight>
                  <a:schemeClr val="lt1"/>
                </a:highlight>
              </a:endParaRPr>
            </a:p>
          </p:txBody>
        </p:sp>
      </p:grpSp>
      <p:grpSp>
        <p:nvGrpSpPr>
          <p:cNvPr id="505" name="Google Shape;505;p49"/>
          <p:cNvGrpSpPr/>
          <p:nvPr/>
        </p:nvGrpSpPr>
        <p:grpSpPr>
          <a:xfrm>
            <a:off x="5661030" y="2786832"/>
            <a:ext cx="2990795" cy="1323171"/>
            <a:chOff x="5661030" y="2786832"/>
            <a:chExt cx="2990795" cy="1323171"/>
          </a:xfrm>
        </p:grpSpPr>
        <p:grpSp>
          <p:nvGrpSpPr>
            <p:cNvPr id="506" name="Google Shape;506;p49"/>
            <p:cNvGrpSpPr/>
            <p:nvPr/>
          </p:nvGrpSpPr>
          <p:grpSpPr>
            <a:xfrm>
              <a:off x="5661030" y="3048903"/>
              <a:ext cx="2764200" cy="1061100"/>
              <a:chOff x="5661005" y="2942303"/>
              <a:chExt cx="2764200" cy="1061100"/>
            </a:xfrm>
          </p:grpSpPr>
          <p:sp>
            <p:nvSpPr>
              <p:cNvPr id="507" name="Google Shape;507;p49"/>
              <p:cNvSpPr/>
              <p:nvPr/>
            </p:nvSpPr>
            <p:spPr>
              <a:xfrm>
                <a:off x="5661005" y="2942303"/>
                <a:ext cx="2764200" cy="1061100"/>
              </a:xfrm>
              <a:prstGeom prst="roundRect">
                <a:avLst>
                  <a:gd name="adj" fmla="val 16667"/>
                </a:avLst>
              </a:prstGeom>
              <a:solidFill>
                <a:schemeClr val="lt1"/>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508" name="Google Shape;508;p49"/>
              <p:cNvGrpSpPr/>
              <p:nvPr/>
            </p:nvGrpSpPr>
            <p:grpSpPr>
              <a:xfrm>
                <a:off x="5793771" y="2976214"/>
                <a:ext cx="2532437" cy="958984"/>
                <a:chOff x="-9625" y="1107063"/>
                <a:chExt cx="1987628" cy="752676"/>
              </a:xfrm>
            </p:grpSpPr>
            <p:pic>
              <p:nvPicPr>
                <p:cNvPr id="509" name="Google Shape;509;p49" title="ECN_7cool.png"/>
                <p:cNvPicPr preferRelativeResize="0"/>
                <p:nvPr/>
              </p:nvPicPr>
              <p:blipFill rotWithShape="1">
                <a:blip r:embed="rId4">
                  <a:alphaModFix/>
                </a:blip>
                <a:srcRect t="11395" r="55952" b="51773"/>
                <a:stretch/>
              </p:blipFill>
              <p:spPr>
                <a:xfrm>
                  <a:off x="648489" y="1206657"/>
                  <a:ext cx="547751" cy="553498"/>
                </a:xfrm>
                <a:prstGeom prst="rect">
                  <a:avLst/>
                </a:prstGeom>
                <a:noFill/>
                <a:ln>
                  <a:noFill/>
                </a:ln>
              </p:spPr>
            </p:pic>
            <p:pic>
              <p:nvPicPr>
                <p:cNvPr id="510" name="Google Shape;510;p49" title="ECN_7cool.png"/>
                <p:cNvPicPr preferRelativeResize="0"/>
                <p:nvPr/>
              </p:nvPicPr>
              <p:blipFill rotWithShape="1">
                <a:blip r:embed="rId4">
                  <a:alphaModFix/>
                </a:blip>
                <a:srcRect l="43454" t="9886" b="45877"/>
                <a:stretch/>
              </p:blipFill>
              <p:spPr>
                <a:xfrm>
                  <a:off x="1274852" y="1151025"/>
                  <a:ext cx="703151" cy="664755"/>
                </a:xfrm>
                <a:prstGeom prst="rect">
                  <a:avLst/>
                </a:prstGeom>
                <a:noFill/>
                <a:ln>
                  <a:noFill/>
                </a:ln>
              </p:spPr>
            </p:pic>
            <p:pic>
              <p:nvPicPr>
                <p:cNvPr id="511" name="Google Shape;511;p49" title="ECN_7cool.png"/>
                <p:cNvPicPr preferRelativeResize="0"/>
                <p:nvPr/>
              </p:nvPicPr>
              <p:blipFill rotWithShape="1">
                <a:blip r:embed="rId4">
                  <a:alphaModFix/>
                </a:blip>
                <a:srcRect t="49917" r="55952"/>
                <a:stretch/>
              </p:blipFill>
              <p:spPr>
                <a:xfrm>
                  <a:off x="-9625" y="1107063"/>
                  <a:ext cx="547751" cy="752676"/>
                </a:xfrm>
                <a:prstGeom prst="rect">
                  <a:avLst/>
                </a:prstGeom>
                <a:noFill/>
                <a:ln>
                  <a:noFill/>
                </a:ln>
              </p:spPr>
            </p:pic>
          </p:grpSp>
        </p:grpSp>
        <p:sp>
          <p:nvSpPr>
            <p:cNvPr id="512" name="Google Shape;512;p49"/>
            <p:cNvSpPr txBox="1"/>
            <p:nvPr/>
          </p:nvSpPr>
          <p:spPr>
            <a:xfrm>
              <a:off x="5713925" y="2786832"/>
              <a:ext cx="2937900" cy="47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r>
                <a:rPr lang="en" sz="1600" b="1">
                  <a:solidFill>
                    <a:srgbClr val="3C78D8"/>
                  </a:solidFill>
                  <a:highlight>
                    <a:schemeClr val="lt1"/>
                  </a:highlight>
                </a:rPr>
                <a:t>Executive Control Network</a:t>
              </a:r>
              <a:endParaRPr sz="1600" b="1">
                <a:solidFill>
                  <a:srgbClr val="3C78D8"/>
                </a:solidFill>
                <a:highlight>
                  <a:schemeClr val="lt1"/>
                </a:highlight>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34</a:t>
            </a:fld>
            <a:endParaRPr/>
          </a:p>
        </p:txBody>
      </p:sp>
      <p:sp>
        <p:nvSpPr>
          <p:cNvPr id="518" name="Google Shape;518;p50"/>
          <p:cNvSpPr txBox="1"/>
          <p:nvPr/>
        </p:nvSpPr>
        <p:spPr>
          <a:xfrm>
            <a:off x="248775" y="1321500"/>
            <a:ext cx="5412300" cy="2500500"/>
          </a:xfrm>
          <a:prstGeom prst="rect">
            <a:avLst/>
          </a:prstGeom>
          <a:noFill/>
          <a:ln>
            <a:noFill/>
          </a:ln>
        </p:spPr>
        <p:txBody>
          <a:bodyPr spcFirstLastPara="1" wrap="square" lIns="91425" tIns="91425" rIns="91425" bIns="91425" anchor="t" anchorCtr="0">
            <a:noAutofit/>
          </a:bodyPr>
          <a:lstStyle/>
          <a:p>
            <a:pPr marL="457200" lvl="0" indent="-368300" algn="l" rtl="0">
              <a:lnSpc>
                <a:spcPct val="115000"/>
              </a:lnSpc>
              <a:spcBef>
                <a:spcPts val="0"/>
              </a:spcBef>
              <a:spcAft>
                <a:spcPts val="0"/>
              </a:spcAft>
              <a:buClr>
                <a:schemeClr val="dk1"/>
              </a:buClr>
              <a:buSzPts val="2200"/>
              <a:buChar char="●"/>
            </a:pPr>
            <a:r>
              <a:rPr lang="en" sz="2200" b="1">
                <a:solidFill>
                  <a:schemeClr val="dk1"/>
                </a:solidFill>
              </a:rPr>
              <a:t>Fairness: the Ultimatum Game</a:t>
            </a:r>
            <a:endParaRPr sz="2200" b="1">
              <a:solidFill>
                <a:schemeClr val="dk1"/>
              </a:solidFill>
            </a:endParaRPr>
          </a:p>
          <a:p>
            <a:pPr marL="457200" lvl="0" indent="-368300" algn="l" rtl="0">
              <a:lnSpc>
                <a:spcPct val="115000"/>
              </a:lnSpc>
              <a:spcBef>
                <a:spcPts val="1000"/>
              </a:spcBef>
              <a:spcAft>
                <a:spcPts val="0"/>
              </a:spcAft>
              <a:buClr>
                <a:srgbClr val="CCCCCC"/>
              </a:buClr>
              <a:buSzPts val="2200"/>
              <a:buChar char="●"/>
            </a:pPr>
            <a:r>
              <a:rPr lang="en" sz="2200" b="1">
                <a:solidFill>
                  <a:srgbClr val="CCCCCC"/>
                </a:solidFill>
              </a:rPr>
              <a:t>Functional connectivity</a:t>
            </a:r>
            <a:br>
              <a:rPr lang="en" sz="2200">
                <a:solidFill>
                  <a:srgbClr val="CCCCCC"/>
                </a:solidFill>
              </a:rPr>
            </a:br>
            <a:r>
              <a:rPr lang="en" sz="2200">
                <a:solidFill>
                  <a:srgbClr val="CCCCCC"/>
                </a:solidFill>
              </a:rPr>
              <a:t>- Default Mode Network (DMN)</a:t>
            </a:r>
            <a:br>
              <a:rPr lang="en" sz="2200">
                <a:solidFill>
                  <a:srgbClr val="CCCCCC"/>
                </a:solidFill>
              </a:rPr>
            </a:br>
            <a:r>
              <a:rPr lang="en" sz="2200">
                <a:solidFill>
                  <a:srgbClr val="CCCCCC"/>
                </a:solidFill>
              </a:rPr>
              <a:t>- Executive Control Network (ECN) </a:t>
            </a:r>
            <a:endParaRPr sz="2200">
              <a:solidFill>
                <a:srgbClr val="CCCCCC"/>
              </a:solidFill>
            </a:endParaRPr>
          </a:p>
          <a:p>
            <a:pPr marL="457200" lvl="0" indent="-368300" algn="l" rtl="0">
              <a:lnSpc>
                <a:spcPct val="115000"/>
              </a:lnSpc>
              <a:spcBef>
                <a:spcPts val="1000"/>
              </a:spcBef>
              <a:spcAft>
                <a:spcPts val="1000"/>
              </a:spcAft>
              <a:buClr>
                <a:srgbClr val="CCCCCC"/>
              </a:buClr>
              <a:buSzPts val="2200"/>
              <a:buChar char="●"/>
            </a:pPr>
            <a:r>
              <a:rPr lang="en" sz="2200" b="1">
                <a:solidFill>
                  <a:srgbClr val="CCCCCC"/>
                </a:solidFill>
              </a:rPr>
              <a:t>Connectivity-behavior association</a:t>
            </a:r>
            <a:br>
              <a:rPr lang="en" sz="2200" b="1">
                <a:solidFill>
                  <a:srgbClr val="CCCCCC"/>
                </a:solidFill>
              </a:rPr>
            </a:br>
            <a:r>
              <a:rPr lang="en" sz="2200">
                <a:solidFill>
                  <a:srgbClr val="CCCCCC"/>
                </a:solidFill>
              </a:rPr>
              <a:t>- Fairness norm</a:t>
            </a:r>
            <a:br>
              <a:rPr lang="en" sz="2200">
                <a:solidFill>
                  <a:srgbClr val="CCCCCC"/>
                </a:solidFill>
              </a:rPr>
            </a:br>
            <a:r>
              <a:rPr lang="en" sz="2200">
                <a:solidFill>
                  <a:srgbClr val="CCCCCC"/>
                </a:solidFill>
              </a:rPr>
              <a:t>- Norm violation sensitivity</a:t>
            </a:r>
            <a:endParaRPr sz="2200">
              <a:solidFill>
                <a:srgbClr val="CCCCCC"/>
              </a:solidFill>
            </a:endParaRPr>
          </a:p>
        </p:txBody>
      </p:sp>
      <p:grpSp>
        <p:nvGrpSpPr>
          <p:cNvPr id="519" name="Google Shape;519;p50"/>
          <p:cNvGrpSpPr/>
          <p:nvPr/>
        </p:nvGrpSpPr>
        <p:grpSpPr>
          <a:xfrm>
            <a:off x="5661021" y="1494830"/>
            <a:ext cx="2990804" cy="1305648"/>
            <a:chOff x="5661021" y="1190030"/>
            <a:chExt cx="2990804" cy="1305648"/>
          </a:xfrm>
        </p:grpSpPr>
        <p:grpSp>
          <p:nvGrpSpPr>
            <p:cNvPr id="520" name="Google Shape;520;p50"/>
            <p:cNvGrpSpPr/>
            <p:nvPr/>
          </p:nvGrpSpPr>
          <p:grpSpPr>
            <a:xfrm>
              <a:off x="5661021" y="1425796"/>
              <a:ext cx="2764051" cy="1069883"/>
              <a:chOff x="-321558" y="1161346"/>
              <a:chExt cx="1727100" cy="663000"/>
            </a:xfrm>
          </p:grpSpPr>
          <p:sp>
            <p:nvSpPr>
              <p:cNvPr id="521" name="Google Shape;521;p50"/>
              <p:cNvSpPr/>
              <p:nvPr/>
            </p:nvSpPr>
            <p:spPr>
              <a:xfrm>
                <a:off x="-321558" y="1161346"/>
                <a:ext cx="1727100" cy="663000"/>
              </a:xfrm>
              <a:prstGeom prst="roundRect">
                <a:avLst>
                  <a:gd name="adj" fmla="val 16667"/>
                </a:avLst>
              </a:prstGeom>
              <a:solidFill>
                <a:schemeClr val="lt1"/>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522" name="Google Shape;522;p50"/>
              <p:cNvGrpSpPr/>
              <p:nvPr/>
            </p:nvGrpSpPr>
            <p:grpSpPr>
              <a:xfrm>
                <a:off x="-259808" y="1189551"/>
                <a:ext cx="1624776" cy="606602"/>
                <a:chOff x="-259808" y="1189551"/>
                <a:chExt cx="1624776" cy="606602"/>
              </a:xfrm>
            </p:grpSpPr>
            <p:pic>
              <p:nvPicPr>
                <p:cNvPr id="523" name="Google Shape;523;p50" title="DMN_2green.png"/>
                <p:cNvPicPr preferRelativeResize="0"/>
                <p:nvPr/>
              </p:nvPicPr>
              <p:blipFill rotWithShape="1">
                <a:blip r:embed="rId3">
                  <a:alphaModFix/>
                </a:blip>
                <a:srcRect t="11465" r="55062" b="46348"/>
                <a:stretch/>
              </p:blipFill>
              <p:spPr>
                <a:xfrm>
                  <a:off x="275952" y="1210719"/>
                  <a:ext cx="487076" cy="544200"/>
                </a:xfrm>
                <a:prstGeom prst="rect">
                  <a:avLst/>
                </a:prstGeom>
                <a:noFill/>
                <a:ln>
                  <a:noFill/>
                </a:ln>
              </p:spPr>
            </p:pic>
            <p:pic>
              <p:nvPicPr>
                <p:cNvPr id="524" name="Google Shape;524;p50" title="DMN_2green.png"/>
                <p:cNvPicPr preferRelativeResize="0"/>
                <p:nvPr/>
              </p:nvPicPr>
              <p:blipFill rotWithShape="1">
                <a:blip r:embed="rId3">
                  <a:alphaModFix/>
                </a:blip>
                <a:srcRect l="45048" t="11466" b="46346"/>
                <a:stretch/>
              </p:blipFill>
              <p:spPr>
                <a:xfrm>
                  <a:off x="769380" y="1210705"/>
                  <a:ext cx="595588" cy="544215"/>
                </a:xfrm>
                <a:prstGeom prst="rect">
                  <a:avLst/>
                </a:prstGeom>
                <a:noFill/>
                <a:ln>
                  <a:noFill/>
                </a:ln>
              </p:spPr>
            </p:pic>
            <p:pic>
              <p:nvPicPr>
                <p:cNvPr id="525" name="Google Shape;525;p50" title="DMN_2green.png"/>
                <p:cNvPicPr preferRelativeResize="0"/>
                <p:nvPr/>
              </p:nvPicPr>
              <p:blipFill rotWithShape="1">
                <a:blip r:embed="rId3">
                  <a:alphaModFix/>
                </a:blip>
                <a:srcRect t="52978" r="55062"/>
                <a:stretch/>
              </p:blipFill>
              <p:spPr>
                <a:xfrm>
                  <a:off x="-259808" y="1189551"/>
                  <a:ext cx="487076" cy="606602"/>
                </a:xfrm>
                <a:prstGeom prst="rect">
                  <a:avLst/>
                </a:prstGeom>
                <a:noFill/>
                <a:ln>
                  <a:noFill/>
                </a:ln>
              </p:spPr>
            </p:pic>
          </p:grpSp>
        </p:grpSp>
        <p:sp>
          <p:nvSpPr>
            <p:cNvPr id="526" name="Google Shape;526;p50"/>
            <p:cNvSpPr txBox="1"/>
            <p:nvPr/>
          </p:nvSpPr>
          <p:spPr>
            <a:xfrm>
              <a:off x="5713925" y="1190030"/>
              <a:ext cx="2937900" cy="47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r>
                <a:rPr lang="en" sz="1600" b="1">
                  <a:solidFill>
                    <a:srgbClr val="38761D"/>
                  </a:solidFill>
                  <a:highlight>
                    <a:schemeClr val="lt1"/>
                  </a:highlight>
                </a:rPr>
                <a:t>Default Mode Network</a:t>
              </a:r>
              <a:endParaRPr sz="1600" b="1">
                <a:highlight>
                  <a:schemeClr val="lt1"/>
                </a:highlight>
              </a:endParaRPr>
            </a:p>
          </p:txBody>
        </p:sp>
      </p:grpSp>
      <p:grpSp>
        <p:nvGrpSpPr>
          <p:cNvPr id="527" name="Google Shape;527;p50"/>
          <p:cNvGrpSpPr/>
          <p:nvPr/>
        </p:nvGrpSpPr>
        <p:grpSpPr>
          <a:xfrm>
            <a:off x="5661030" y="2786832"/>
            <a:ext cx="2990795" cy="1323171"/>
            <a:chOff x="5661030" y="2786832"/>
            <a:chExt cx="2990795" cy="1323171"/>
          </a:xfrm>
        </p:grpSpPr>
        <p:grpSp>
          <p:nvGrpSpPr>
            <p:cNvPr id="528" name="Google Shape;528;p50"/>
            <p:cNvGrpSpPr/>
            <p:nvPr/>
          </p:nvGrpSpPr>
          <p:grpSpPr>
            <a:xfrm>
              <a:off x="5661030" y="3048903"/>
              <a:ext cx="2764200" cy="1061100"/>
              <a:chOff x="5661005" y="2942303"/>
              <a:chExt cx="2764200" cy="1061100"/>
            </a:xfrm>
          </p:grpSpPr>
          <p:sp>
            <p:nvSpPr>
              <p:cNvPr id="529" name="Google Shape;529;p50"/>
              <p:cNvSpPr/>
              <p:nvPr/>
            </p:nvSpPr>
            <p:spPr>
              <a:xfrm>
                <a:off x="5661005" y="2942303"/>
                <a:ext cx="2764200" cy="1061100"/>
              </a:xfrm>
              <a:prstGeom prst="roundRect">
                <a:avLst>
                  <a:gd name="adj" fmla="val 16667"/>
                </a:avLst>
              </a:prstGeom>
              <a:solidFill>
                <a:schemeClr val="lt1"/>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530" name="Google Shape;530;p50"/>
              <p:cNvGrpSpPr/>
              <p:nvPr/>
            </p:nvGrpSpPr>
            <p:grpSpPr>
              <a:xfrm>
                <a:off x="5793771" y="2976214"/>
                <a:ext cx="2532437" cy="958984"/>
                <a:chOff x="-9625" y="1107063"/>
                <a:chExt cx="1987628" cy="752676"/>
              </a:xfrm>
            </p:grpSpPr>
            <p:pic>
              <p:nvPicPr>
                <p:cNvPr id="531" name="Google Shape;531;p50" title="ECN_7cool.png"/>
                <p:cNvPicPr preferRelativeResize="0"/>
                <p:nvPr/>
              </p:nvPicPr>
              <p:blipFill rotWithShape="1">
                <a:blip r:embed="rId4">
                  <a:alphaModFix/>
                </a:blip>
                <a:srcRect t="11395" r="55952" b="51773"/>
                <a:stretch/>
              </p:blipFill>
              <p:spPr>
                <a:xfrm>
                  <a:off x="648489" y="1206657"/>
                  <a:ext cx="547751" cy="553498"/>
                </a:xfrm>
                <a:prstGeom prst="rect">
                  <a:avLst/>
                </a:prstGeom>
                <a:noFill/>
                <a:ln>
                  <a:noFill/>
                </a:ln>
              </p:spPr>
            </p:pic>
            <p:pic>
              <p:nvPicPr>
                <p:cNvPr id="532" name="Google Shape;532;p50" title="ECN_7cool.png"/>
                <p:cNvPicPr preferRelativeResize="0"/>
                <p:nvPr/>
              </p:nvPicPr>
              <p:blipFill rotWithShape="1">
                <a:blip r:embed="rId4">
                  <a:alphaModFix/>
                </a:blip>
                <a:srcRect l="43454" t="9886" b="45877"/>
                <a:stretch/>
              </p:blipFill>
              <p:spPr>
                <a:xfrm>
                  <a:off x="1274852" y="1151025"/>
                  <a:ext cx="703151" cy="664755"/>
                </a:xfrm>
                <a:prstGeom prst="rect">
                  <a:avLst/>
                </a:prstGeom>
                <a:noFill/>
                <a:ln>
                  <a:noFill/>
                </a:ln>
              </p:spPr>
            </p:pic>
            <p:pic>
              <p:nvPicPr>
                <p:cNvPr id="533" name="Google Shape;533;p50" title="ECN_7cool.png"/>
                <p:cNvPicPr preferRelativeResize="0"/>
                <p:nvPr/>
              </p:nvPicPr>
              <p:blipFill rotWithShape="1">
                <a:blip r:embed="rId4">
                  <a:alphaModFix/>
                </a:blip>
                <a:srcRect t="49917" r="55952"/>
                <a:stretch/>
              </p:blipFill>
              <p:spPr>
                <a:xfrm>
                  <a:off x="-9625" y="1107063"/>
                  <a:ext cx="547751" cy="752676"/>
                </a:xfrm>
                <a:prstGeom prst="rect">
                  <a:avLst/>
                </a:prstGeom>
                <a:noFill/>
                <a:ln>
                  <a:noFill/>
                </a:ln>
              </p:spPr>
            </p:pic>
          </p:grpSp>
        </p:grpSp>
        <p:sp>
          <p:nvSpPr>
            <p:cNvPr id="534" name="Google Shape;534;p50"/>
            <p:cNvSpPr txBox="1"/>
            <p:nvPr/>
          </p:nvSpPr>
          <p:spPr>
            <a:xfrm>
              <a:off x="5713925" y="2786832"/>
              <a:ext cx="2937900" cy="47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r>
                <a:rPr lang="en" sz="1600" b="1">
                  <a:solidFill>
                    <a:srgbClr val="3C78D8"/>
                  </a:solidFill>
                  <a:highlight>
                    <a:schemeClr val="lt1"/>
                  </a:highlight>
                </a:rPr>
                <a:t>Executive Control Network</a:t>
              </a:r>
              <a:endParaRPr sz="1600" b="1">
                <a:solidFill>
                  <a:srgbClr val="3C78D8"/>
                </a:solidFill>
                <a:highlight>
                  <a:schemeClr val="lt1"/>
                </a:highlight>
              </a:endParaRPr>
            </a:p>
          </p:txBody>
        </p:sp>
      </p:grpSp>
      <p:sp>
        <p:nvSpPr>
          <p:cNvPr id="535" name="Google Shape;535;p50"/>
          <p:cNvSpPr txBox="1"/>
          <p:nvPr/>
        </p:nvSpPr>
        <p:spPr>
          <a:xfrm>
            <a:off x="-10375" y="147650"/>
            <a:ext cx="8842800" cy="1127100"/>
          </a:xfrm>
          <a:prstGeom prst="rect">
            <a:avLst/>
          </a:prstGeom>
          <a:noFill/>
          <a:ln>
            <a:noFill/>
          </a:ln>
        </p:spPr>
        <p:txBody>
          <a:bodyPr spcFirstLastPara="1" wrap="square" lIns="91425" tIns="91425" rIns="91425" bIns="91425" anchor="ctr" anchorCtr="0">
            <a:noAutofit/>
          </a:bodyPr>
          <a:lstStyle/>
          <a:p>
            <a:pPr marL="457200" lvl="0" indent="0" algn="l" rtl="0">
              <a:spcBef>
                <a:spcPts val="0"/>
              </a:spcBef>
              <a:spcAft>
                <a:spcPts val="0"/>
              </a:spcAft>
              <a:buNone/>
            </a:pPr>
            <a:r>
              <a:rPr lang="en" sz="2800" b="1">
                <a:solidFill>
                  <a:schemeClr val="dk1"/>
                </a:solidFill>
                <a:highlight>
                  <a:schemeClr val="lt1"/>
                </a:highlight>
              </a:rPr>
              <a:t>Age * social context interaction?</a:t>
            </a:r>
            <a:endParaRPr sz="2800" b="1">
              <a:solidFill>
                <a:schemeClr val="dk1"/>
              </a:solidFill>
              <a:highlight>
                <a:schemeClr val="lt1"/>
              </a:high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35</a:t>
            </a:fld>
            <a:endParaRPr/>
          </a:p>
        </p:txBody>
      </p:sp>
      <p:sp>
        <p:nvSpPr>
          <p:cNvPr id="541" name="Google Shape;541;p51"/>
          <p:cNvSpPr txBox="1"/>
          <p:nvPr/>
        </p:nvSpPr>
        <p:spPr>
          <a:xfrm>
            <a:off x="5017850" y="282550"/>
            <a:ext cx="3583200" cy="55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b="1">
                <a:solidFill>
                  <a:schemeClr val="dk1"/>
                </a:solidFill>
              </a:rPr>
              <a:t>The Ultimatum Game</a:t>
            </a:r>
            <a:endParaRPr sz="2400" b="1">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52"/>
          <p:cNvSpPr txBox="1"/>
          <p:nvPr/>
        </p:nvSpPr>
        <p:spPr>
          <a:xfrm>
            <a:off x="7507202" y="1295072"/>
            <a:ext cx="1453500" cy="396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b="1">
                <a:solidFill>
                  <a:schemeClr val="dk2"/>
                </a:solidFill>
              </a:rPr>
              <a:t>Recipient</a:t>
            </a:r>
            <a:endParaRPr sz="2200" b="1">
              <a:solidFill>
                <a:schemeClr val="dk2"/>
              </a:solidFill>
            </a:endParaRPr>
          </a:p>
        </p:txBody>
      </p:sp>
      <p:sp>
        <p:nvSpPr>
          <p:cNvPr id="547" name="Google Shape;547;p52"/>
          <p:cNvSpPr txBox="1"/>
          <p:nvPr/>
        </p:nvSpPr>
        <p:spPr>
          <a:xfrm>
            <a:off x="7507202" y="2651607"/>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chemeClr val="accent5"/>
                </a:solidFill>
              </a:rPr>
              <a:t>Accept</a:t>
            </a:r>
            <a:endParaRPr sz="1700" i="1">
              <a:solidFill>
                <a:srgbClr val="EF476F"/>
              </a:solidFill>
            </a:endParaRPr>
          </a:p>
        </p:txBody>
      </p:sp>
      <p:sp>
        <p:nvSpPr>
          <p:cNvPr id="548" name="Google Shape;548;p52"/>
          <p:cNvSpPr txBox="1"/>
          <p:nvPr/>
        </p:nvSpPr>
        <p:spPr>
          <a:xfrm>
            <a:off x="7507202" y="2946813"/>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chemeClr val="dk1"/>
                </a:solidFill>
              </a:rPr>
              <a:t>or</a:t>
            </a:r>
            <a:endParaRPr sz="1700" i="1">
              <a:solidFill>
                <a:srgbClr val="EF476F"/>
              </a:solidFill>
            </a:endParaRPr>
          </a:p>
        </p:txBody>
      </p:sp>
      <p:sp>
        <p:nvSpPr>
          <p:cNvPr id="549" name="Google Shape;549;p52"/>
          <p:cNvSpPr txBox="1"/>
          <p:nvPr/>
        </p:nvSpPr>
        <p:spPr>
          <a:xfrm>
            <a:off x="7507202" y="3242019"/>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rgbClr val="EF476F"/>
                </a:solidFill>
              </a:rPr>
              <a:t>Reject</a:t>
            </a:r>
            <a:endParaRPr sz="1700" i="1">
              <a:solidFill>
                <a:srgbClr val="EF476F"/>
              </a:solidFill>
            </a:endParaRPr>
          </a:p>
        </p:txBody>
      </p:sp>
      <p:grpSp>
        <p:nvGrpSpPr>
          <p:cNvPr id="550" name="Google Shape;550;p52"/>
          <p:cNvGrpSpPr/>
          <p:nvPr/>
        </p:nvGrpSpPr>
        <p:grpSpPr>
          <a:xfrm>
            <a:off x="7895548" y="1780398"/>
            <a:ext cx="669387" cy="1147641"/>
            <a:chOff x="6972439" y="1368106"/>
            <a:chExt cx="413100" cy="696807"/>
          </a:xfrm>
        </p:grpSpPr>
        <p:sp>
          <p:nvSpPr>
            <p:cNvPr id="551" name="Google Shape;551;p52"/>
            <p:cNvSpPr/>
            <p:nvPr/>
          </p:nvSpPr>
          <p:spPr>
            <a:xfrm rot="-5400000" flipH="1">
              <a:off x="6972439" y="1651813"/>
              <a:ext cx="413100" cy="413100"/>
            </a:xfrm>
            <a:prstGeom prst="chord">
              <a:avLst>
                <a:gd name="adj1" fmla="val 5399588"/>
                <a:gd name="adj2" fmla="val 16200000"/>
              </a:avLst>
            </a:prstGeom>
            <a:solidFill>
              <a:schemeClr val="dk2"/>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52"/>
            <p:cNvSpPr/>
            <p:nvPr/>
          </p:nvSpPr>
          <p:spPr>
            <a:xfrm flipH="1">
              <a:off x="7037078" y="1368106"/>
              <a:ext cx="283800" cy="283800"/>
            </a:xfrm>
            <a:prstGeom prst="ellipse">
              <a:avLst/>
            </a:prstGeom>
            <a:solidFill>
              <a:schemeClr val="dk2"/>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3" name="Google Shape;553;p52"/>
          <p:cNvGrpSpPr/>
          <p:nvPr/>
        </p:nvGrpSpPr>
        <p:grpSpPr>
          <a:xfrm>
            <a:off x="5297175" y="1780398"/>
            <a:ext cx="669387" cy="1147641"/>
            <a:chOff x="6972439" y="1368106"/>
            <a:chExt cx="413100" cy="696807"/>
          </a:xfrm>
        </p:grpSpPr>
        <p:sp>
          <p:nvSpPr>
            <p:cNvPr id="554" name="Google Shape;554;p52"/>
            <p:cNvSpPr/>
            <p:nvPr/>
          </p:nvSpPr>
          <p:spPr>
            <a:xfrm rot="-5400000" flipH="1">
              <a:off x="6972439" y="1651813"/>
              <a:ext cx="413100" cy="413100"/>
            </a:xfrm>
            <a:prstGeom prst="chord">
              <a:avLst>
                <a:gd name="adj1" fmla="val 5399588"/>
                <a:gd name="adj2" fmla="val 16200000"/>
              </a:avLst>
            </a:prstGeom>
            <a:solidFill>
              <a:srgbClr val="980000"/>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55" name="Google Shape;555;p52"/>
            <p:cNvSpPr/>
            <p:nvPr/>
          </p:nvSpPr>
          <p:spPr>
            <a:xfrm flipH="1">
              <a:off x="7037078" y="1368106"/>
              <a:ext cx="283800" cy="283800"/>
            </a:xfrm>
            <a:prstGeom prst="ellipse">
              <a:avLst/>
            </a:prstGeom>
            <a:solidFill>
              <a:srgbClr val="980000"/>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556" name="Google Shape;556;p52"/>
          <p:cNvSpPr txBox="1"/>
          <p:nvPr/>
        </p:nvSpPr>
        <p:spPr>
          <a:xfrm>
            <a:off x="4890300" y="1295075"/>
            <a:ext cx="1453500" cy="396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b="1">
                <a:solidFill>
                  <a:srgbClr val="980000"/>
                </a:solidFill>
              </a:rPr>
              <a:t>Proposer</a:t>
            </a:r>
            <a:endParaRPr sz="2200" b="1">
              <a:solidFill>
                <a:srgbClr val="980000"/>
              </a:solidFill>
            </a:endParaRPr>
          </a:p>
        </p:txBody>
      </p:sp>
      <p:pic>
        <p:nvPicPr>
          <p:cNvPr id="557" name="Google Shape;557;p52" descr="Money Icon PNG Images, Vectors Free Download - Pngtree"/>
          <p:cNvPicPr preferRelativeResize="0"/>
          <p:nvPr/>
        </p:nvPicPr>
        <p:blipFill>
          <a:blip r:embed="rId3">
            <a:alphaModFix/>
          </a:blip>
          <a:stretch>
            <a:fillRect/>
          </a:stretch>
        </p:blipFill>
        <p:spPr>
          <a:xfrm>
            <a:off x="5180482" y="2642167"/>
            <a:ext cx="903210" cy="917790"/>
          </a:xfrm>
          <a:prstGeom prst="rect">
            <a:avLst/>
          </a:prstGeom>
          <a:noFill/>
          <a:ln>
            <a:noFill/>
          </a:ln>
        </p:spPr>
      </p:pic>
      <p:sp>
        <p:nvSpPr>
          <p:cNvPr id="558" name="Google Shape;558;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36</a:t>
            </a:fld>
            <a:endParaRPr/>
          </a:p>
        </p:txBody>
      </p:sp>
      <p:sp>
        <p:nvSpPr>
          <p:cNvPr id="559" name="Google Shape;559;p52"/>
          <p:cNvSpPr txBox="1"/>
          <p:nvPr/>
        </p:nvSpPr>
        <p:spPr>
          <a:xfrm>
            <a:off x="7148425" y="2538344"/>
            <a:ext cx="669300" cy="38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2"/>
                </a:solidFill>
              </a:rPr>
              <a:t>offer</a:t>
            </a:r>
            <a:endParaRPr sz="1800">
              <a:solidFill>
                <a:schemeClr val="dk2"/>
              </a:solidFill>
            </a:endParaRPr>
          </a:p>
        </p:txBody>
      </p:sp>
      <p:sp>
        <p:nvSpPr>
          <p:cNvPr id="560" name="Google Shape;560;p52"/>
          <p:cNvSpPr txBox="1"/>
          <p:nvPr/>
        </p:nvSpPr>
        <p:spPr>
          <a:xfrm>
            <a:off x="6110325" y="2538350"/>
            <a:ext cx="903300" cy="38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2"/>
                </a:solidFill>
              </a:rPr>
              <a:t>keep</a:t>
            </a:r>
            <a:endParaRPr sz="1800">
              <a:solidFill>
                <a:schemeClr val="dk2"/>
              </a:solidFill>
            </a:endParaRPr>
          </a:p>
        </p:txBody>
      </p:sp>
      <p:grpSp>
        <p:nvGrpSpPr>
          <p:cNvPr id="561" name="Google Shape;561;p52"/>
          <p:cNvGrpSpPr/>
          <p:nvPr/>
        </p:nvGrpSpPr>
        <p:grpSpPr>
          <a:xfrm>
            <a:off x="6110325" y="1954700"/>
            <a:ext cx="1707398" cy="1234078"/>
            <a:chOff x="6110325" y="1954700"/>
            <a:chExt cx="1707398" cy="1234078"/>
          </a:xfrm>
        </p:grpSpPr>
        <p:sp>
          <p:nvSpPr>
            <p:cNvPr id="562" name="Google Shape;562;p52"/>
            <p:cNvSpPr/>
            <p:nvPr/>
          </p:nvSpPr>
          <p:spPr>
            <a:xfrm rot="5400000" flipH="1">
              <a:off x="6267180" y="2413128"/>
              <a:ext cx="879000" cy="672300"/>
            </a:xfrm>
            <a:prstGeom prst="uturnArrow">
              <a:avLst>
                <a:gd name="adj1" fmla="val 25000"/>
                <a:gd name="adj2" fmla="val 25000"/>
                <a:gd name="adj3" fmla="val 24629"/>
                <a:gd name="adj4" fmla="val 43750"/>
                <a:gd name="adj5" fmla="val 100000"/>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3" name="Google Shape;563;p52"/>
            <p:cNvSpPr txBox="1"/>
            <p:nvPr/>
          </p:nvSpPr>
          <p:spPr>
            <a:xfrm>
              <a:off x="6110325" y="1954700"/>
              <a:ext cx="772500" cy="32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D9D9D9"/>
                  </a:solidFill>
                </a:rPr>
                <a:t>$$$$</a:t>
              </a:r>
              <a:endParaRPr sz="1800" b="1">
                <a:solidFill>
                  <a:srgbClr val="D9D9D9"/>
                </a:solidFill>
              </a:endParaRPr>
            </a:p>
          </p:txBody>
        </p:sp>
        <p:sp>
          <p:nvSpPr>
            <p:cNvPr id="564" name="Google Shape;564;p52"/>
            <p:cNvSpPr txBox="1"/>
            <p:nvPr/>
          </p:nvSpPr>
          <p:spPr>
            <a:xfrm>
              <a:off x="7245323" y="1954700"/>
              <a:ext cx="572400" cy="32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D9D9D9"/>
                  </a:solidFill>
                </a:rPr>
                <a:t>$$</a:t>
              </a:r>
              <a:endParaRPr sz="1800" b="1">
                <a:solidFill>
                  <a:srgbClr val="D9D9D9"/>
                </a:solidFill>
              </a:endParaRPr>
            </a:p>
          </p:txBody>
        </p:sp>
        <p:sp>
          <p:nvSpPr>
            <p:cNvPr id="565" name="Google Shape;565;p52"/>
            <p:cNvSpPr/>
            <p:nvPr/>
          </p:nvSpPr>
          <p:spPr>
            <a:xfrm>
              <a:off x="6882825" y="2372128"/>
              <a:ext cx="672300" cy="443400"/>
            </a:xfrm>
            <a:prstGeom prst="bentArrow">
              <a:avLst>
                <a:gd name="adj1" fmla="val 25000"/>
                <a:gd name="adj2" fmla="val 26477"/>
                <a:gd name="adj3" fmla="val 24010"/>
                <a:gd name="adj4" fmla="val 43750"/>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566" name="Google Shape;566;p52"/>
          <p:cNvSpPr/>
          <p:nvPr/>
        </p:nvSpPr>
        <p:spPr>
          <a:xfrm rot="5690350">
            <a:off x="5951188" y="1738078"/>
            <a:ext cx="1984373" cy="1754345"/>
          </a:xfrm>
          <a:prstGeom prst="wedgeEllipseCallout">
            <a:avLst>
              <a:gd name="adj1" fmla="val -16836"/>
              <a:gd name="adj2" fmla="val 64246"/>
            </a:avLst>
          </a:prstGeom>
          <a:noFill/>
          <a:ln w="2857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7" name="Google Shape;567;p52"/>
          <p:cNvSpPr txBox="1"/>
          <p:nvPr/>
        </p:nvSpPr>
        <p:spPr>
          <a:xfrm>
            <a:off x="5017850" y="282550"/>
            <a:ext cx="3583200" cy="55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b="1">
                <a:solidFill>
                  <a:schemeClr val="dk1"/>
                </a:solidFill>
              </a:rPr>
              <a:t>The Ultimatum Game</a:t>
            </a:r>
            <a:endParaRPr sz="2400" b="1">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grpSp>
        <p:nvGrpSpPr>
          <p:cNvPr id="572" name="Google Shape;572;p53"/>
          <p:cNvGrpSpPr/>
          <p:nvPr/>
        </p:nvGrpSpPr>
        <p:grpSpPr>
          <a:xfrm>
            <a:off x="5297175" y="1780398"/>
            <a:ext cx="669387" cy="1147641"/>
            <a:chOff x="6972439" y="1368106"/>
            <a:chExt cx="413100" cy="696807"/>
          </a:xfrm>
        </p:grpSpPr>
        <p:sp>
          <p:nvSpPr>
            <p:cNvPr id="573" name="Google Shape;573;p53"/>
            <p:cNvSpPr/>
            <p:nvPr/>
          </p:nvSpPr>
          <p:spPr>
            <a:xfrm rot="-5400000" flipH="1">
              <a:off x="6972439" y="1651813"/>
              <a:ext cx="413100" cy="413100"/>
            </a:xfrm>
            <a:prstGeom prst="chord">
              <a:avLst>
                <a:gd name="adj1" fmla="val 5399588"/>
                <a:gd name="adj2" fmla="val 16200000"/>
              </a:avLst>
            </a:prstGeom>
            <a:solidFill>
              <a:srgbClr val="980000"/>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74" name="Google Shape;574;p53"/>
            <p:cNvSpPr/>
            <p:nvPr/>
          </p:nvSpPr>
          <p:spPr>
            <a:xfrm flipH="1">
              <a:off x="7037078" y="1368106"/>
              <a:ext cx="283800" cy="283800"/>
            </a:xfrm>
            <a:prstGeom prst="ellipse">
              <a:avLst/>
            </a:prstGeom>
            <a:solidFill>
              <a:srgbClr val="980000"/>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575" name="Google Shape;575;p53"/>
          <p:cNvSpPr txBox="1"/>
          <p:nvPr/>
        </p:nvSpPr>
        <p:spPr>
          <a:xfrm>
            <a:off x="4890300" y="1295075"/>
            <a:ext cx="1453500" cy="396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b="1">
                <a:solidFill>
                  <a:srgbClr val="980000"/>
                </a:solidFill>
              </a:rPr>
              <a:t>Proposer</a:t>
            </a:r>
            <a:endParaRPr sz="2200" b="1">
              <a:solidFill>
                <a:srgbClr val="980000"/>
              </a:solidFill>
            </a:endParaRPr>
          </a:p>
        </p:txBody>
      </p:sp>
      <p:pic>
        <p:nvPicPr>
          <p:cNvPr id="576" name="Google Shape;576;p53" descr="Money Icon PNG Images, Vectors Free Download - Pngtree"/>
          <p:cNvPicPr preferRelativeResize="0"/>
          <p:nvPr/>
        </p:nvPicPr>
        <p:blipFill>
          <a:blip r:embed="rId3">
            <a:alphaModFix/>
          </a:blip>
          <a:stretch>
            <a:fillRect/>
          </a:stretch>
        </p:blipFill>
        <p:spPr>
          <a:xfrm>
            <a:off x="5180482" y="2642167"/>
            <a:ext cx="903210" cy="917790"/>
          </a:xfrm>
          <a:prstGeom prst="rect">
            <a:avLst/>
          </a:prstGeom>
          <a:noFill/>
          <a:ln>
            <a:noFill/>
          </a:ln>
        </p:spPr>
      </p:pic>
      <p:sp>
        <p:nvSpPr>
          <p:cNvPr id="577" name="Google Shape;577;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37</a:t>
            </a:fld>
            <a:endParaRPr/>
          </a:p>
        </p:txBody>
      </p:sp>
      <p:grpSp>
        <p:nvGrpSpPr>
          <p:cNvPr id="578" name="Google Shape;578;p53"/>
          <p:cNvGrpSpPr/>
          <p:nvPr/>
        </p:nvGrpSpPr>
        <p:grpSpPr>
          <a:xfrm>
            <a:off x="6110325" y="1954700"/>
            <a:ext cx="1707398" cy="1234078"/>
            <a:chOff x="6110325" y="1954700"/>
            <a:chExt cx="1707398" cy="1234078"/>
          </a:xfrm>
        </p:grpSpPr>
        <p:sp>
          <p:nvSpPr>
            <p:cNvPr id="579" name="Google Shape;579;p53"/>
            <p:cNvSpPr/>
            <p:nvPr/>
          </p:nvSpPr>
          <p:spPr>
            <a:xfrm rot="5400000" flipH="1">
              <a:off x="6267180" y="2413128"/>
              <a:ext cx="879000" cy="672300"/>
            </a:xfrm>
            <a:prstGeom prst="uturnArrow">
              <a:avLst>
                <a:gd name="adj1" fmla="val 25000"/>
                <a:gd name="adj2" fmla="val 25000"/>
                <a:gd name="adj3" fmla="val 24629"/>
                <a:gd name="adj4" fmla="val 43750"/>
                <a:gd name="adj5" fmla="val 100000"/>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0" name="Google Shape;580;p53"/>
            <p:cNvSpPr txBox="1"/>
            <p:nvPr/>
          </p:nvSpPr>
          <p:spPr>
            <a:xfrm>
              <a:off x="6110325" y="1954700"/>
              <a:ext cx="772500" cy="32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chemeClr val="accent5"/>
                  </a:solidFill>
                </a:rPr>
                <a:t>$$$$</a:t>
              </a:r>
              <a:endParaRPr sz="1800" b="1">
                <a:solidFill>
                  <a:schemeClr val="accent5"/>
                </a:solidFill>
              </a:endParaRPr>
            </a:p>
          </p:txBody>
        </p:sp>
        <p:sp>
          <p:nvSpPr>
            <p:cNvPr id="581" name="Google Shape;581;p53"/>
            <p:cNvSpPr txBox="1"/>
            <p:nvPr/>
          </p:nvSpPr>
          <p:spPr>
            <a:xfrm>
              <a:off x="7245323" y="1954700"/>
              <a:ext cx="572400" cy="32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chemeClr val="accent5"/>
                  </a:solidFill>
                </a:rPr>
                <a:t>$$</a:t>
              </a:r>
              <a:endParaRPr sz="1800" b="1">
                <a:solidFill>
                  <a:schemeClr val="accent5"/>
                </a:solidFill>
              </a:endParaRPr>
            </a:p>
          </p:txBody>
        </p:sp>
        <p:sp>
          <p:nvSpPr>
            <p:cNvPr id="582" name="Google Shape;582;p53"/>
            <p:cNvSpPr/>
            <p:nvPr/>
          </p:nvSpPr>
          <p:spPr>
            <a:xfrm>
              <a:off x="6882825" y="2372128"/>
              <a:ext cx="672300" cy="443400"/>
            </a:xfrm>
            <a:prstGeom prst="bentArrow">
              <a:avLst>
                <a:gd name="adj1" fmla="val 25000"/>
                <a:gd name="adj2" fmla="val 26477"/>
                <a:gd name="adj3" fmla="val 24010"/>
                <a:gd name="adj4" fmla="val 43750"/>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583" name="Google Shape;583;p53"/>
          <p:cNvSpPr txBox="1"/>
          <p:nvPr/>
        </p:nvSpPr>
        <p:spPr>
          <a:xfrm>
            <a:off x="5017850" y="282550"/>
            <a:ext cx="3583200" cy="55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b="1">
                <a:solidFill>
                  <a:schemeClr val="dk1"/>
                </a:solidFill>
              </a:rPr>
              <a:t>The Ultimatum Game</a:t>
            </a:r>
            <a:endParaRPr sz="2400" b="1">
              <a:solidFill>
                <a:schemeClr val="dk1"/>
              </a:solidFill>
            </a:endParaRPr>
          </a:p>
        </p:txBody>
      </p:sp>
      <p:sp>
        <p:nvSpPr>
          <p:cNvPr id="584" name="Google Shape;584;p53"/>
          <p:cNvSpPr txBox="1"/>
          <p:nvPr/>
        </p:nvSpPr>
        <p:spPr>
          <a:xfrm>
            <a:off x="7507202" y="1295072"/>
            <a:ext cx="1453500" cy="396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b="1">
                <a:solidFill>
                  <a:schemeClr val="dk2"/>
                </a:solidFill>
              </a:rPr>
              <a:t>Recipient</a:t>
            </a:r>
            <a:endParaRPr sz="2200" b="1">
              <a:solidFill>
                <a:schemeClr val="dk2"/>
              </a:solidFill>
            </a:endParaRPr>
          </a:p>
        </p:txBody>
      </p:sp>
      <p:sp>
        <p:nvSpPr>
          <p:cNvPr id="585" name="Google Shape;585;p53"/>
          <p:cNvSpPr txBox="1"/>
          <p:nvPr/>
        </p:nvSpPr>
        <p:spPr>
          <a:xfrm>
            <a:off x="7507202" y="2651607"/>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i="1">
                <a:solidFill>
                  <a:schemeClr val="accent5"/>
                </a:solidFill>
              </a:rPr>
              <a:t>Accept !</a:t>
            </a:r>
            <a:endParaRPr sz="2000" b="1" i="1">
              <a:solidFill>
                <a:srgbClr val="EF476F"/>
              </a:solidFill>
            </a:endParaRPr>
          </a:p>
        </p:txBody>
      </p:sp>
      <p:sp>
        <p:nvSpPr>
          <p:cNvPr id="586" name="Google Shape;586;p53"/>
          <p:cNvSpPr txBox="1"/>
          <p:nvPr/>
        </p:nvSpPr>
        <p:spPr>
          <a:xfrm>
            <a:off x="7507202" y="2946813"/>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chemeClr val="dk1"/>
                </a:solidFill>
              </a:rPr>
              <a:t>or</a:t>
            </a:r>
            <a:endParaRPr sz="1700" i="1">
              <a:solidFill>
                <a:srgbClr val="EF476F"/>
              </a:solidFill>
            </a:endParaRPr>
          </a:p>
        </p:txBody>
      </p:sp>
      <p:sp>
        <p:nvSpPr>
          <p:cNvPr id="587" name="Google Shape;587;p53"/>
          <p:cNvSpPr txBox="1"/>
          <p:nvPr/>
        </p:nvSpPr>
        <p:spPr>
          <a:xfrm>
            <a:off x="7507202" y="3242019"/>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rgbClr val="EF476F"/>
                </a:solidFill>
              </a:rPr>
              <a:t>Reject</a:t>
            </a:r>
            <a:endParaRPr sz="1700" i="1">
              <a:solidFill>
                <a:srgbClr val="EF476F"/>
              </a:solidFill>
            </a:endParaRPr>
          </a:p>
        </p:txBody>
      </p:sp>
      <p:grpSp>
        <p:nvGrpSpPr>
          <p:cNvPr id="588" name="Google Shape;588;p53"/>
          <p:cNvGrpSpPr/>
          <p:nvPr/>
        </p:nvGrpSpPr>
        <p:grpSpPr>
          <a:xfrm>
            <a:off x="7895548" y="1780398"/>
            <a:ext cx="669387" cy="1147641"/>
            <a:chOff x="6972439" y="1368106"/>
            <a:chExt cx="413100" cy="696807"/>
          </a:xfrm>
        </p:grpSpPr>
        <p:sp>
          <p:nvSpPr>
            <p:cNvPr id="589" name="Google Shape;589;p53"/>
            <p:cNvSpPr/>
            <p:nvPr/>
          </p:nvSpPr>
          <p:spPr>
            <a:xfrm rot="-5400000" flipH="1">
              <a:off x="6972439" y="1651813"/>
              <a:ext cx="413100" cy="413100"/>
            </a:xfrm>
            <a:prstGeom prst="chord">
              <a:avLst>
                <a:gd name="adj1" fmla="val 5399588"/>
                <a:gd name="adj2" fmla="val 16200000"/>
              </a:avLst>
            </a:prstGeom>
            <a:solidFill>
              <a:schemeClr val="dk2"/>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53"/>
            <p:cNvSpPr/>
            <p:nvPr/>
          </p:nvSpPr>
          <p:spPr>
            <a:xfrm flipH="1">
              <a:off x="7037078" y="1368106"/>
              <a:ext cx="283800" cy="283800"/>
            </a:xfrm>
            <a:prstGeom prst="ellipse">
              <a:avLst/>
            </a:prstGeom>
            <a:solidFill>
              <a:schemeClr val="dk2"/>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54"/>
          <p:cNvSpPr txBox="1"/>
          <p:nvPr/>
        </p:nvSpPr>
        <p:spPr>
          <a:xfrm>
            <a:off x="7507202" y="1295072"/>
            <a:ext cx="1453500" cy="396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b="1">
                <a:solidFill>
                  <a:schemeClr val="dk2"/>
                </a:solidFill>
              </a:rPr>
              <a:t>Recipient</a:t>
            </a:r>
            <a:endParaRPr sz="2200" b="1">
              <a:solidFill>
                <a:schemeClr val="dk2"/>
              </a:solidFill>
            </a:endParaRPr>
          </a:p>
        </p:txBody>
      </p:sp>
      <p:sp>
        <p:nvSpPr>
          <p:cNvPr id="596" name="Google Shape;596;p54"/>
          <p:cNvSpPr txBox="1"/>
          <p:nvPr/>
        </p:nvSpPr>
        <p:spPr>
          <a:xfrm>
            <a:off x="7507202" y="2651607"/>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chemeClr val="accent5"/>
                </a:solidFill>
              </a:rPr>
              <a:t>Accept</a:t>
            </a:r>
            <a:endParaRPr sz="1700" i="1">
              <a:solidFill>
                <a:srgbClr val="EF476F"/>
              </a:solidFill>
            </a:endParaRPr>
          </a:p>
        </p:txBody>
      </p:sp>
      <p:sp>
        <p:nvSpPr>
          <p:cNvPr id="597" name="Google Shape;597;p54"/>
          <p:cNvSpPr txBox="1"/>
          <p:nvPr/>
        </p:nvSpPr>
        <p:spPr>
          <a:xfrm>
            <a:off x="7507202" y="2946813"/>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chemeClr val="dk1"/>
                </a:solidFill>
              </a:rPr>
              <a:t>or</a:t>
            </a:r>
            <a:endParaRPr sz="1700" i="1">
              <a:solidFill>
                <a:srgbClr val="EF476F"/>
              </a:solidFill>
            </a:endParaRPr>
          </a:p>
        </p:txBody>
      </p:sp>
      <p:sp>
        <p:nvSpPr>
          <p:cNvPr id="598" name="Google Shape;598;p54"/>
          <p:cNvSpPr txBox="1"/>
          <p:nvPr/>
        </p:nvSpPr>
        <p:spPr>
          <a:xfrm>
            <a:off x="7507202" y="3242019"/>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i="1">
                <a:solidFill>
                  <a:srgbClr val="EF476F"/>
                </a:solidFill>
              </a:rPr>
              <a:t>Reject !</a:t>
            </a:r>
            <a:endParaRPr sz="2000" b="1" i="1">
              <a:solidFill>
                <a:srgbClr val="EF476F"/>
              </a:solidFill>
            </a:endParaRPr>
          </a:p>
        </p:txBody>
      </p:sp>
      <p:grpSp>
        <p:nvGrpSpPr>
          <p:cNvPr id="599" name="Google Shape;599;p54"/>
          <p:cNvGrpSpPr/>
          <p:nvPr/>
        </p:nvGrpSpPr>
        <p:grpSpPr>
          <a:xfrm>
            <a:off x="7895548" y="1780398"/>
            <a:ext cx="669387" cy="1147641"/>
            <a:chOff x="6972439" y="1368106"/>
            <a:chExt cx="413100" cy="696807"/>
          </a:xfrm>
        </p:grpSpPr>
        <p:sp>
          <p:nvSpPr>
            <p:cNvPr id="600" name="Google Shape;600;p54"/>
            <p:cNvSpPr/>
            <p:nvPr/>
          </p:nvSpPr>
          <p:spPr>
            <a:xfrm rot="-5400000" flipH="1">
              <a:off x="6972439" y="1651813"/>
              <a:ext cx="413100" cy="413100"/>
            </a:xfrm>
            <a:prstGeom prst="chord">
              <a:avLst>
                <a:gd name="adj1" fmla="val 5399588"/>
                <a:gd name="adj2" fmla="val 16200000"/>
              </a:avLst>
            </a:prstGeom>
            <a:solidFill>
              <a:schemeClr val="dk2"/>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54"/>
            <p:cNvSpPr/>
            <p:nvPr/>
          </p:nvSpPr>
          <p:spPr>
            <a:xfrm flipH="1">
              <a:off x="7037078" y="1368106"/>
              <a:ext cx="283800" cy="283800"/>
            </a:xfrm>
            <a:prstGeom prst="ellipse">
              <a:avLst/>
            </a:prstGeom>
            <a:solidFill>
              <a:schemeClr val="dk2"/>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2" name="Google Shape;602;p54"/>
          <p:cNvGrpSpPr/>
          <p:nvPr/>
        </p:nvGrpSpPr>
        <p:grpSpPr>
          <a:xfrm>
            <a:off x="5297175" y="1780398"/>
            <a:ext cx="669387" cy="1147641"/>
            <a:chOff x="6972439" y="1368106"/>
            <a:chExt cx="413100" cy="696807"/>
          </a:xfrm>
        </p:grpSpPr>
        <p:sp>
          <p:nvSpPr>
            <p:cNvPr id="603" name="Google Shape;603;p54"/>
            <p:cNvSpPr/>
            <p:nvPr/>
          </p:nvSpPr>
          <p:spPr>
            <a:xfrm rot="-5400000" flipH="1">
              <a:off x="6972439" y="1651813"/>
              <a:ext cx="413100" cy="413100"/>
            </a:xfrm>
            <a:prstGeom prst="chord">
              <a:avLst>
                <a:gd name="adj1" fmla="val 5399588"/>
                <a:gd name="adj2" fmla="val 16200000"/>
              </a:avLst>
            </a:prstGeom>
            <a:solidFill>
              <a:srgbClr val="980000"/>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04" name="Google Shape;604;p54"/>
            <p:cNvSpPr/>
            <p:nvPr/>
          </p:nvSpPr>
          <p:spPr>
            <a:xfrm flipH="1">
              <a:off x="7037078" y="1368106"/>
              <a:ext cx="283800" cy="283800"/>
            </a:xfrm>
            <a:prstGeom prst="ellipse">
              <a:avLst/>
            </a:prstGeom>
            <a:solidFill>
              <a:srgbClr val="980000"/>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605" name="Google Shape;605;p54"/>
          <p:cNvSpPr txBox="1"/>
          <p:nvPr/>
        </p:nvSpPr>
        <p:spPr>
          <a:xfrm>
            <a:off x="4890300" y="1295075"/>
            <a:ext cx="1453500" cy="396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b="1">
                <a:solidFill>
                  <a:srgbClr val="980000"/>
                </a:solidFill>
              </a:rPr>
              <a:t>Proposer</a:t>
            </a:r>
            <a:endParaRPr sz="2200" b="1">
              <a:solidFill>
                <a:srgbClr val="980000"/>
              </a:solidFill>
            </a:endParaRPr>
          </a:p>
        </p:txBody>
      </p:sp>
      <p:pic>
        <p:nvPicPr>
          <p:cNvPr id="606" name="Google Shape;606;p54" descr="Money Icon PNG Images, Vectors Free Download - Pngtree"/>
          <p:cNvPicPr preferRelativeResize="0"/>
          <p:nvPr/>
        </p:nvPicPr>
        <p:blipFill>
          <a:blip r:embed="rId3">
            <a:alphaModFix/>
          </a:blip>
          <a:stretch>
            <a:fillRect/>
          </a:stretch>
        </p:blipFill>
        <p:spPr>
          <a:xfrm>
            <a:off x="5180482" y="2642167"/>
            <a:ext cx="903210" cy="917790"/>
          </a:xfrm>
          <a:prstGeom prst="rect">
            <a:avLst/>
          </a:prstGeom>
          <a:noFill/>
          <a:ln>
            <a:noFill/>
          </a:ln>
        </p:spPr>
      </p:pic>
      <p:sp>
        <p:nvSpPr>
          <p:cNvPr id="607" name="Google Shape;607;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38</a:t>
            </a:fld>
            <a:endParaRPr/>
          </a:p>
        </p:txBody>
      </p:sp>
      <p:grpSp>
        <p:nvGrpSpPr>
          <p:cNvPr id="608" name="Google Shape;608;p54"/>
          <p:cNvGrpSpPr/>
          <p:nvPr/>
        </p:nvGrpSpPr>
        <p:grpSpPr>
          <a:xfrm>
            <a:off x="6110325" y="1954700"/>
            <a:ext cx="1707398" cy="1234078"/>
            <a:chOff x="6110325" y="1954700"/>
            <a:chExt cx="1707398" cy="1234078"/>
          </a:xfrm>
        </p:grpSpPr>
        <p:sp>
          <p:nvSpPr>
            <p:cNvPr id="609" name="Google Shape;609;p54"/>
            <p:cNvSpPr/>
            <p:nvPr/>
          </p:nvSpPr>
          <p:spPr>
            <a:xfrm rot="5400000" flipH="1">
              <a:off x="6267180" y="2413128"/>
              <a:ext cx="879000" cy="672300"/>
            </a:xfrm>
            <a:prstGeom prst="uturnArrow">
              <a:avLst>
                <a:gd name="adj1" fmla="val 25000"/>
                <a:gd name="adj2" fmla="val 25000"/>
                <a:gd name="adj3" fmla="val 24629"/>
                <a:gd name="adj4" fmla="val 43750"/>
                <a:gd name="adj5" fmla="val 100000"/>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0" name="Google Shape;610;p54"/>
            <p:cNvSpPr txBox="1"/>
            <p:nvPr/>
          </p:nvSpPr>
          <p:spPr>
            <a:xfrm>
              <a:off x="6110325" y="1954700"/>
              <a:ext cx="772500" cy="32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D9D9D9"/>
                  </a:solidFill>
                </a:rPr>
                <a:t>$$$$</a:t>
              </a:r>
              <a:endParaRPr sz="1800" b="1">
                <a:solidFill>
                  <a:srgbClr val="D9D9D9"/>
                </a:solidFill>
              </a:endParaRPr>
            </a:p>
          </p:txBody>
        </p:sp>
        <p:sp>
          <p:nvSpPr>
            <p:cNvPr id="611" name="Google Shape;611;p54"/>
            <p:cNvSpPr txBox="1"/>
            <p:nvPr/>
          </p:nvSpPr>
          <p:spPr>
            <a:xfrm>
              <a:off x="7245323" y="1954700"/>
              <a:ext cx="572400" cy="32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D9D9D9"/>
                  </a:solidFill>
                </a:rPr>
                <a:t>$$</a:t>
              </a:r>
              <a:endParaRPr sz="1800" b="1">
                <a:solidFill>
                  <a:srgbClr val="D9D9D9"/>
                </a:solidFill>
              </a:endParaRPr>
            </a:p>
          </p:txBody>
        </p:sp>
        <p:sp>
          <p:nvSpPr>
            <p:cNvPr id="612" name="Google Shape;612;p54"/>
            <p:cNvSpPr/>
            <p:nvPr/>
          </p:nvSpPr>
          <p:spPr>
            <a:xfrm>
              <a:off x="6882825" y="2372128"/>
              <a:ext cx="672300" cy="443400"/>
            </a:xfrm>
            <a:prstGeom prst="bentArrow">
              <a:avLst>
                <a:gd name="adj1" fmla="val 25000"/>
                <a:gd name="adj2" fmla="val 26477"/>
                <a:gd name="adj3" fmla="val 24010"/>
                <a:gd name="adj4" fmla="val 43750"/>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613" name="Google Shape;613;p54"/>
          <p:cNvSpPr txBox="1"/>
          <p:nvPr/>
        </p:nvSpPr>
        <p:spPr>
          <a:xfrm>
            <a:off x="7148425" y="2538344"/>
            <a:ext cx="669300" cy="38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2"/>
                </a:solidFill>
              </a:rPr>
              <a:t>offer</a:t>
            </a:r>
            <a:endParaRPr sz="1800">
              <a:solidFill>
                <a:schemeClr val="dk2"/>
              </a:solidFill>
            </a:endParaRPr>
          </a:p>
        </p:txBody>
      </p:sp>
      <p:sp>
        <p:nvSpPr>
          <p:cNvPr id="614" name="Google Shape;614;p54"/>
          <p:cNvSpPr txBox="1"/>
          <p:nvPr/>
        </p:nvSpPr>
        <p:spPr>
          <a:xfrm>
            <a:off x="6110325" y="2538350"/>
            <a:ext cx="903300" cy="38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2"/>
                </a:solidFill>
              </a:rPr>
              <a:t>keep</a:t>
            </a:r>
            <a:endParaRPr sz="1800">
              <a:solidFill>
                <a:schemeClr val="dk2"/>
              </a:solidFill>
            </a:endParaRPr>
          </a:p>
        </p:txBody>
      </p:sp>
      <p:cxnSp>
        <p:nvCxnSpPr>
          <p:cNvPr id="615" name="Google Shape;615;p54"/>
          <p:cNvCxnSpPr/>
          <p:nvPr/>
        </p:nvCxnSpPr>
        <p:spPr>
          <a:xfrm>
            <a:off x="5177575" y="2773025"/>
            <a:ext cx="905100" cy="702900"/>
          </a:xfrm>
          <a:prstGeom prst="straightConnector1">
            <a:avLst/>
          </a:prstGeom>
          <a:noFill/>
          <a:ln w="152400" cap="flat" cmpd="sng">
            <a:solidFill>
              <a:srgbClr val="FF0000"/>
            </a:solidFill>
            <a:prstDash val="solid"/>
            <a:round/>
            <a:headEnd type="none" w="med" len="med"/>
            <a:tailEnd type="none" w="med" len="med"/>
          </a:ln>
        </p:spPr>
      </p:cxnSp>
      <p:cxnSp>
        <p:nvCxnSpPr>
          <p:cNvPr id="616" name="Google Shape;616;p54"/>
          <p:cNvCxnSpPr>
            <a:stCxn id="617" idx="3"/>
          </p:cNvCxnSpPr>
          <p:nvPr/>
        </p:nvCxnSpPr>
        <p:spPr>
          <a:xfrm flipH="1">
            <a:off x="5198725" y="2541301"/>
            <a:ext cx="870600" cy="1019700"/>
          </a:xfrm>
          <a:prstGeom prst="straightConnector1">
            <a:avLst/>
          </a:prstGeom>
          <a:noFill/>
          <a:ln w="152400" cap="flat" cmpd="sng">
            <a:solidFill>
              <a:srgbClr val="FF0000"/>
            </a:solidFill>
            <a:prstDash val="solid"/>
            <a:round/>
            <a:headEnd type="none" w="med" len="med"/>
            <a:tailEnd type="none" w="med" len="med"/>
          </a:ln>
        </p:spPr>
      </p:cxnSp>
      <p:sp>
        <p:nvSpPr>
          <p:cNvPr id="618" name="Google Shape;618;p54"/>
          <p:cNvSpPr txBox="1"/>
          <p:nvPr/>
        </p:nvSpPr>
        <p:spPr>
          <a:xfrm>
            <a:off x="5923950" y="1966600"/>
            <a:ext cx="772500" cy="325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b="1">
                <a:solidFill>
                  <a:srgbClr val="FF0000"/>
                </a:solidFill>
              </a:rPr>
              <a:t>zero</a:t>
            </a:r>
            <a:endParaRPr sz="2200" b="1">
              <a:solidFill>
                <a:srgbClr val="FF0000"/>
              </a:solidFill>
            </a:endParaRPr>
          </a:p>
        </p:txBody>
      </p:sp>
      <p:sp>
        <p:nvSpPr>
          <p:cNvPr id="619" name="Google Shape;619;p54"/>
          <p:cNvSpPr txBox="1"/>
          <p:nvPr/>
        </p:nvSpPr>
        <p:spPr>
          <a:xfrm>
            <a:off x="7277277" y="1966600"/>
            <a:ext cx="772500" cy="325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b="1">
                <a:solidFill>
                  <a:srgbClr val="FF0000"/>
                </a:solidFill>
              </a:rPr>
              <a:t>zero</a:t>
            </a:r>
            <a:endParaRPr sz="3500" b="1">
              <a:solidFill>
                <a:srgbClr val="FF0000"/>
              </a:solidFill>
            </a:endParaRPr>
          </a:p>
        </p:txBody>
      </p:sp>
      <p:grpSp>
        <p:nvGrpSpPr>
          <p:cNvPr id="620" name="Google Shape;620;p54"/>
          <p:cNvGrpSpPr/>
          <p:nvPr/>
        </p:nvGrpSpPr>
        <p:grpSpPr>
          <a:xfrm>
            <a:off x="6434175" y="1567823"/>
            <a:ext cx="1299125" cy="2110152"/>
            <a:chOff x="6434175" y="1567823"/>
            <a:chExt cx="1299125" cy="2110152"/>
          </a:xfrm>
        </p:grpSpPr>
        <p:cxnSp>
          <p:nvCxnSpPr>
            <p:cNvPr id="621" name="Google Shape;621;p54"/>
            <p:cNvCxnSpPr/>
            <p:nvPr/>
          </p:nvCxnSpPr>
          <p:spPr>
            <a:xfrm flipH="1">
              <a:off x="6434175" y="1735175"/>
              <a:ext cx="1241700" cy="1942800"/>
            </a:xfrm>
            <a:prstGeom prst="straightConnector1">
              <a:avLst/>
            </a:prstGeom>
            <a:noFill/>
            <a:ln w="152400" cap="flat" cmpd="sng">
              <a:solidFill>
                <a:srgbClr val="FF0000"/>
              </a:solidFill>
              <a:prstDash val="solid"/>
              <a:round/>
              <a:headEnd type="none" w="med" len="med"/>
              <a:tailEnd type="none" w="med" len="med"/>
            </a:ln>
          </p:spPr>
        </p:cxnSp>
        <p:cxnSp>
          <p:nvCxnSpPr>
            <p:cNvPr id="622" name="Google Shape;622;p54"/>
            <p:cNvCxnSpPr/>
            <p:nvPr/>
          </p:nvCxnSpPr>
          <p:spPr>
            <a:xfrm>
              <a:off x="6487400" y="1567823"/>
              <a:ext cx="1245900" cy="2064900"/>
            </a:xfrm>
            <a:prstGeom prst="straightConnector1">
              <a:avLst/>
            </a:prstGeom>
            <a:noFill/>
            <a:ln w="152400" cap="flat" cmpd="sng">
              <a:solidFill>
                <a:srgbClr val="FF0000"/>
              </a:solidFill>
              <a:prstDash val="solid"/>
              <a:round/>
              <a:headEnd type="none" w="med" len="med"/>
              <a:tailEnd type="none" w="med" len="med"/>
            </a:ln>
          </p:spPr>
        </p:cxnSp>
      </p:grpSp>
      <p:sp>
        <p:nvSpPr>
          <p:cNvPr id="623" name="Google Shape;623;p54"/>
          <p:cNvSpPr txBox="1"/>
          <p:nvPr/>
        </p:nvSpPr>
        <p:spPr>
          <a:xfrm>
            <a:off x="5017850" y="282550"/>
            <a:ext cx="3583200" cy="55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b="1">
                <a:solidFill>
                  <a:schemeClr val="dk1"/>
                </a:solidFill>
              </a:rPr>
              <a:t>The Ultimatum Game</a:t>
            </a:r>
            <a:endParaRPr sz="2400" b="1">
              <a:solidFill>
                <a:schemeClr val="dk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55"/>
          <p:cNvSpPr/>
          <p:nvPr/>
        </p:nvSpPr>
        <p:spPr>
          <a:xfrm>
            <a:off x="7482452" y="1140100"/>
            <a:ext cx="1503000" cy="2612700"/>
          </a:xfrm>
          <a:prstGeom prst="roundRect">
            <a:avLst>
              <a:gd name="adj" fmla="val 16667"/>
            </a:avLst>
          </a:prstGeom>
          <a:solidFill>
            <a:srgbClr val="FFF2CC"/>
          </a:solidFill>
          <a:ln w="28575" cap="flat" cmpd="sng">
            <a:solidFill>
              <a:schemeClr val="accent6"/>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9" name="Google Shape;629;p55"/>
          <p:cNvSpPr txBox="1"/>
          <p:nvPr/>
        </p:nvSpPr>
        <p:spPr>
          <a:xfrm>
            <a:off x="7507202" y="1295072"/>
            <a:ext cx="1453500" cy="396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b="1">
                <a:solidFill>
                  <a:schemeClr val="dk2"/>
                </a:solidFill>
              </a:rPr>
              <a:t>Recipient</a:t>
            </a:r>
            <a:endParaRPr sz="2200" b="1">
              <a:solidFill>
                <a:schemeClr val="dk2"/>
              </a:solidFill>
            </a:endParaRPr>
          </a:p>
        </p:txBody>
      </p:sp>
      <p:sp>
        <p:nvSpPr>
          <p:cNvPr id="630" name="Google Shape;630;p55"/>
          <p:cNvSpPr txBox="1"/>
          <p:nvPr/>
        </p:nvSpPr>
        <p:spPr>
          <a:xfrm>
            <a:off x="7507202" y="2651607"/>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chemeClr val="accent5"/>
                </a:solidFill>
              </a:rPr>
              <a:t>Accept</a:t>
            </a:r>
            <a:endParaRPr sz="1700" i="1">
              <a:solidFill>
                <a:srgbClr val="EF476F"/>
              </a:solidFill>
            </a:endParaRPr>
          </a:p>
        </p:txBody>
      </p:sp>
      <p:sp>
        <p:nvSpPr>
          <p:cNvPr id="631" name="Google Shape;631;p55"/>
          <p:cNvSpPr txBox="1"/>
          <p:nvPr/>
        </p:nvSpPr>
        <p:spPr>
          <a:xfrm>
            <a:off x="7507202" y="2946813"/>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chemeClr val="dk1"/>
                </a:solidFill>
              </a:rPr>
              <a:t>or</a:t>
            </a:r>
            <a:endParaRPr sz="1700" i="1">
              <a:solidFill>
                <a:srgbClr val="EF476F"/>
              </a:solidFill>
            </a:endParaRPr>
          </a:p>
        </p:txBody>
      </p:sp>
      <p:sp>
        <p:nvSpPr>
          <p:cNvPr id="632" name="Google Shape;632;p55"/>
          <p:cNvSpPr txBox="1"/>
          <p:nvPr/>
        </p:nvSpPr>
        <p:spPr>
          <a:xfrm>
            <a:off x="7507202" y="3242019"/>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rgbClr val="EF476F"/>
                </a:solidFill>
              </a:rPr>
              <a:t>Reject</a:t>
            </a:r>
            <a:endParaRPr sz="1700" i="1">
              <a:solidFill>
                <a:srgbClr val="EF476F"/>
              </a:solidFill>
            </a:endParaRPr>
          </a:p>
        </p:txBody>
      </p:sp>
      <p:grpSp>
        <p:nvGrpSpPr>
          <p:cNvPr id="633" name="Google Shape;633;p55"/>
          <p:cNvGrpSpPr/>
          <p:nvPr/>
        </p:nvGrpSpPr>
        <p:grpSpPr>
          <a:xfrm>
            <a:off x="7895548" y="1780398"/>
            <a:ext cx="669387" cy="1147641"/>
            <a:chOff x="6972439" y="1368106"/>
            <a:chExt cx="413100" cy="696807"/>
          </a:xfrm>
        </p:grpSpPr>
        <p:sp>
          <p:nvSpPr>
            <p:cNvPr id="634" name="Google Shape;634;p55"/>
            <p:cNvSpPr/>
            <p:nvPr/>
          </p:nvSpPr>
          <p:spPr>
            <a:xfrm rot="-5400000" flipH="1">
              <a:off x="6972439" y="1651813"/>
              <a:ext cx="413100" cy="413100"/>
            </a:xfrm>
            <a:prstGeom prst="chord">
              <a:avLst>
                <a:gd name="adj1" fmla="val 5399588"/>
                <a:gd name="adj2" fmla="val 16200000"/>
              </a:avLst>
            </a:prstGeom>
            <a:solidFill>
              <a:schemeClr val="dk2"/>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55"/>
            <p:cNvSpPr/>
            <p:nvPr/>
          </p:nvSpPr>
          <p:spPr>
            <a:xfrm flipH="1">
              <a:off x="7037078" y="1368106"/>
              <a:ext cx="283800" cy="283800"/>
            </a:xfrm>
            <a:prstGeom prst="ellipse">
              <a:avLst/>
            </a:prstGeom>
            <a:solidFill>
              <a:schemeClr val="dk2"/>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6" name="Google Shape;636;p55"/>
          <p:cNvSpPr txBox="1"/>
          <p:nvPr/>
        </p:nvSpPr>
        <p:spPr>
          <a:xfrm>
            <a:off x="5017850" y="282550"/>
            <a:ext cx="3583200" cy="55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b="1">
                <a:solidFill>
                  <a:schemeClr val="dk1"/>
                </a:solidFill>
              </a:rPr>
              <a:t>The Ultimatum Game</a:t>
            </a:r>
            <a:endParaRPr sz="2400" b="1">
              <a:solidFill>
                <a:schemeClr val="dk1"/>
              </a:solidFill>
            </a:endParaRPr>
          </a:p>
        </p:txBody>
      </p:sp>
      <p:grpSp>
        <p:nvGrpSpPr>
          <p:cNvPr id="637" name="Google Shape;637;p55"/>
          <p:cNvGrpSpPr/>
          <p:nvPr/>
        </p:nvGrpSpPr>
        <p:grpSpPr>
          <a:xfrm>
            <a:off x="5297175" y="1780398"/>
            <a:ext cx="669387" cy="1147641"/>
            <a:chOff x="6972439" y="1368106"/>
            <a:chExt cx="413100" cy="696807"/>
          </a:xfrm>
        </p:grpSpPr>
        <p:sp>
          <p:nvSpPr>
            <p:cNvPr id="638" name="Google Shape;638;p55"/>
            <p:cNvSpPr/>
            <p:nvPr/>
          </p:nvSpPr>
          <p:spPr>
            <a:xfrm rot="-5400000" flipH="1">
              <a:off x="6972439" y="1651813"/>
              <a:ext cx="413100" cy="413100"/>
            </a:xfrm>
            <a:prstGeom prst="chord">
              <a:avLst>
                <a:gd name="adj1" fmla="val 5399588"/>
                <a:gd name="adj2" fmla="val 16200000"/>
              </a:avLst>
            </a:prstGeom>
            <a:solidFill>
              <a:srgbClr val="980000"/>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39" name="Google Shape;639;p55"/>
            <p:cNvSpPr/>
            <p:nvPr/>
          </p:nvSpPr>
          <p:spPr>
            <a:xfrm flipH="1">
              <a:off x="7037078" y="1368106"/>
              <a:ext cx="283800" cy="283800"/>
            </a:xfrm>
            <a:prstGeom prst="ellipse">
              <a:avLst/>
            </a:prstGeom>
            <a:solidFill>
              <a:srgbClr val="980000"/>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640" name="Google Shape;640;p55"/>
          <p:cNvSpPr txBox="1"/>
          <p:nvPr/>
        </p:nvSpPr>
        <p:spPr>
          <a:xfrm>
            <a:off x="4890300" y="1295075"/>
            <a:ext cx="1453500" cy="396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b="1">
                <a:solidFill>
                  <a:srgbClr val="980000"/>
                </a:solidFill>
              </a:rPr>
              <a:t>Proposer</a:t>
            </a:r>
            <a:endParaRPr sz="2200" b="1">
              <a:solidFill>
                <a:srgbClr val="980000"/>
              </a:solidFill>
            </a:endParaRPr>
          </a:p>
        </p:txBody>
      </p:sp>
      <p:pic>
        <p:nvPicPr>
          <p:cNvPr id="641" name="Google Shape;641;p55" descr="Money Icon PNG Images, Vectors Free Download - Pngtree"/>
          <p:cNvPicPr preferRelativeResize="0"/>
          <p:nvPr/>
        </p:nvPicPr>
        <p:blipFill>
          <a:blip r:embed="rId3">
            <a:alphaModFix/>
          </a:blip>
          <a:stretch>
            <a:fillRect/>
          </a:stretch>
        </p:blipFill>
        <p:spPr>
          <a:xfrm>
            <a:off x="5180482" y="2642167"/>
            <a:ext cx="903210" cy="917790"/>
          </a:xfrm>
          <a:prstGeom prst="rect">
            <a:avLst/>
          </a:prstGeom>
          <a:noFill/>
          <a:ln>
            <a:noFill/>
          </a:ln>
        </p:spPr>
      </p:pic>
      <p:sp>
        <p:nvSpPr>
          <p:cNvPr id="642" name="Google Shape;642;p5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39</a:t>
            </a:fld>
            <a:endParaRPr/>
          </a:p>
        </p:txBody>
      </p:sp>
      <p:sp>
        <p:nvSpPr>
          <p:cNvPr id="643" name="Google Shape;643;p55"/>
          <p:cNvSpPr txBox="1"/>
          <p:nvPr/>
        </p:nvSpPr>
        <p:spPr>
          <a:xfrm>
            <a:off x="7148425" y="2538344"/>
            <a:ext cx="669300" cy="38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2"/>
                </a:solidFill>
              </a:rPr>
              <a:t>offer</a:t>
            </a:r>
            <a:endParaRPr sz="1800">
              <a:solidFill>
                <a:schemeClr val="dk2"/>
              </a:solidFill>
            </a:endParaRPr>
          </a:p>
        </p:txBody>
      </p:sp>
      <p:sp>
        <p:nvSpPr>
          <p:cNvPr id="644" name="Google Shape;644;p55"/>
          <p:cNvSpPr txBox="1"/>
          <p:nvPr/>
        </p:nvSpPr>
        <p:spPr>
          <a:xfrm>
            <a:off x="6110325" y="2538350"/>
            <a:ext cx="903300" cy="38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2"/>
                </a:solidFill>
              </a:rPr>
              <a:t>keep</a:t>
            </a:r>
            <a:endParaRPr sz="1800">
              <a:solidFill>
                <a:schemeClr val="dk2"/>
              </a:solidFill>
            </a:endParaRPr>
          </a:p>
        </p:txBody>
      </p:sp>
      <p:sp>
        <p:nvSpPr>
          <p:cNvPr id="645" name="Google Shape;645;p55"/>
          <p:cNvSpPr/>
          <p:nvPr/>
        </p:nvSpPr>
        <p:spPr>
          <a:xfrm rot="5690350">
            <a:off x="5951188" y="1738078"/>
            <a:ext cx="1984373" cy="1754345"/>
          </a:xfrm>
          <a:prstGeom prst="wedgeEllipseCallout">
            <a:avLst>
              <a:gd name="adj1" fmla="val -16836"/>
              <a:gd name="adj2" fmla="val 64246"/>
            </a:avLst>
          </a:prstGeom>
          <a:noFill/>
          <a:ln w="2857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646" name="Google Shape;646;p55"/>
          <p:cNvGrpSpPr/>
          <p:nvPr/>
        </p:nvGrpSpPr>
        <p:grpSpPr>
          <a:xfrm>
            <a:off x="6110325" y="1954700"/>
            <a:ext cx="1707398" cy="1234078"/>
            <a:chOff x="6110325" y="1954700"/>
            <a:chExt cx="1707398" cy="1234078"/>
          </a:xfrm>
        </p:grpSpPr>
        <p:sp>
          <p:nvSpPr>
            <p:cNvPr id="647" name="Google Shape;647;p55"/>
            <p:cNvSpPr/>
            <p:nvPr/>
          </p:nvSpPr>
          <p:spPr>
            <a:xfrm rot="5400000" flipH="1">
              <a:off x="6267180" y="2413128"/>
              <a:ext cx="879000" cy="672300"/>
            </a:xfrm>
            <a:prstGeom prst="uturnArrow">
              <a:avLst>
                <a:gd name="adj1" fmla="val 25000"/>
                <a:gd name="adj2" fmla="val 25000"/>
                <a:gd name="adj3" fmla="val 24629"/>
                <a:gd name="adj4" fmla="val 43750"/>
                <a:gd name="adj5" fmla="val 100000"/>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8" name="Google Shape;648;p55"/>
            <p:cNvSpPr txBox="1"/>
            <p:nvPr/>
          </p:nvSpPr>
          <p:spPr>
            <a:xfrm>
              <a:off x="6110325" y="1954700"/>
              <a:ext cx="772500" cy="32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D9D9D9"/>
                  </a:solidFill>
                </a:rPr>
                <a:t>$$$$</a:t>
              </a:r>
              <a:endParaRPr sz="1800" b="1">
                <a:solidFill>
                  <a:srgbClr val="D9D9D9"/>
                </a:solidFill>
              </a:endParaRPr>
            </a:p>
          </p:txBody>
        </p:sp>
        <p:sp>
          <p:nvSpPr>
            <p:cNvPr id="649" name="Google Shape;649;p55"/>
            <p:cNvSpPr txBox="1"/>
            <p:nvPr/>
          </p:nvSpPr>
          <p:spPr>
            <a:xfrm>
              <a:off x="7245323" y="1954700"/>
              <a:ext cx="572400" cy="32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D9D9D9"/>
                  </a:solidFill>
                </a:rPr>
                <a:t>$$</a:t>
              </a:r>
              <a:endParaRPr sz="1800" b="1">
                <a:solidFill>
                  <a:srgbClr val="D9D9D9"/>
                </a:solidFill>
              </a:endParaRPr>
            </a:p>
          </p:txBody>
        </p:sp>
        <p:sp>
          <p:nvSpPr>
            <p:cNvPr id="650" name="Google Shape;650;p55"/>
            <p:cNvSpPr/>
            <p:nvPr/>
          </p:nvSpPr>
          <p:spPr>
            <a:xfrm>
              <a:off x="6882825" y="2372128"/>
              <a:ext cx="672300" cy="443400"/>
            </a:xfrm>
            <a:prstGeom prst="bentArrow">
              <a:avLst>
                <a:gd name="adj1" fmla="val 25000"/>
                <a:gd name="adj2" fmla="val 26477"/>
                <a:gd name="adj3" fmla="val 24010"/>
                <a:gd name="adj4" fmla="val 43750"/>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56"/>
          <p:cNvSpPr/>
          <p:nvPr/>
        </p:nvSpPr>
        <p:spPr>
          <a:xfrm>
            <a:off x="7482452" y="1140100"/>
            <a:ext cx="1503000" cy="2612700"/>
          </a:xfrm>
          <a:prstGeom prst="roundRect">
            <a:avLst>
              <a:gd name="adj" fmla="val 16667"/>
            </a:avLst>
          </a:prstGeom>
          <a:solidFill>
            <a:srgbClr val="FFF2CC"/>
          </a:solidFill>
          <a:ln w="28575" cap="flat" cmpd="sng">
            <a:solidFill>
              <a:schemeClr val="accent6"/>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6" name="Google Shape;656;p56"/>
          <p:cNvSpPr txBox="1"/>
          <p:nvPr/>
        </p:nvSpPr>
        <p:spPr>
          <a:xfrm>
            <a:off x="7507202" y="1295072"/>
            <a:ext cx="1453500" cy="396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b="1">
                <a:solidFill>
                  <a:schemeClr val="dk2"/>
                </a:solidFill>
              </a:rPr>
              <a:t>Recipient</a:t>
            </a:r>
            <a:endParaRPr sz="2200" b="1">
              <a:solidFill>
                <a:schemeClr val="dk2"/>
              </a:solidFill>
            </a:endParaRPr>
          </a:p>
        </p:txBody>
      </p:sp>
      <p:sp>
        <p:nvSpPr>
          <p:cNvPr id="657" name="Google Shape;657;p56"/>
          <p:cNvSpPr txBox="1"/>
          <p:nvPr/>
        </p:nvSpPr>
        <p:spPr>
          <a:xfrm>
            <a:off x="7507202" y="2651607"/>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chemeClr val="accent5"/>
                </a:solidFill>
              </a:rPr>
              <a:t>Accept</a:t>
            </a:r>
            <a:endParaRPr sz="1700" i="1">
              <a:solidFill>
                <a:srgbClr val="EF476F"/>
              </a:solidFill>
            </a:endParaRPr>
          </a:p>
        </p:txBody>
      </p:sp>
      <p:sp>
        <p:nvSpPr>
          <p:cNvPr id="658" name="Google Shape;658;p56"/>
          <p:cNvSpPr txBox="1"/>
          <p:nvPr/>
        </p:nvSpPr>
        <p:spPr>
          <a:xfrm>
            <a:off x="7507202" y="2946813"/>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chemeClr val="dk1"/>
                </a:solidFill>
              </a:rPr>
              <a:t>or</a:t>
            </a:r>
            <a:endParaRPr sz="1700" i="1">
              <a:solidFill>
                <a:srgbClr val="EF476F"/>
              </a:solidFill>
            </a:endParaRPr>
          </a:p>
        </p:txBody>
      </p:sp>
      <p:sp>
        <p:nvSpPr>
          <p:cNvPr id="659" name="Google Shape;659;p56"/>
          <p:cNvSpPr txBox="1"/>
          <p:nvPr/>
        </p:nvSpPr>
        <p:spPr>
          <a:xfrm>
            <a:off x="7507202" y="3242019"/>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rgbClr val="EF476F"/>
                </a:solidFill>
              </a:rPr>
              <a:t>Reject</a:t>
            </a:r>
            <a:endParaRPr sz="1700" i="1">
              <a:solidFill>
                <a:srgbClr val="EF476F"/>
              </a:solidFill>
            </a:endParaRPr>
          </a:p>
        </p:txBody>
      </p:sp>
      <p:grpSp>
        <p:nvGrpSpPr>
          <p:cNvPr id="660" name="Google Shape;660;p56"/>
          <p:cNvGrpSpPr/>
          <p:nvPr/>
        </p:nvGrpSpPr>
        <p:grpSpPr>
          <a:xfrm>
            <a:off x="7895548" y="1780398"/>
            <a:ext cx="669387" cy="1147641"/>
            <a:chOff x="6972439" y="1368106"/>
            <a:chExt cx="413100" cy="696807"/>
          </a:xfrm>
        </p:grpSpPr>
        <p:sp>
          <p:nvSpPr>
            <p:cNvPr id="661" name="Google Shape;661;p56"/>
            <p:cNvSpPr/>
            <p:nvPr/>
          </p:nvSpPr>
          <p:spPr>
            <a:xfrm rot="-5400000" flipH="1">
              <a:off x="6972439" y="1651813"/>
              <a:ext cx="413100" cy="413100"/>
            </a:xfrm>
            <a:prstGeom prst="chord">
              <a:avLst>
                <a:gd name="adj1" fmla="val 5399588"/>
                <a:gd name="adj2" fmla="val 16200000"/>
              </a:avLst>
            </a:prstGeom>
            <a:solidFill>
              <a:schemeClr val="dk2"/>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56"/>
            <p:cNvSpPr/>
            <p:nvPr/>
          </p:nvSpPr>
          <p:spPr>
            <a:xfrm flipH="1">
              <a:off x="7037078" y="1368106"/>
              <a:ext cx="283800" cy="283800"/>
            </a:xfrm>
            <a:prstGeom prst="ellipse">
              <a:avLst/>
            </a:prstGeom>
            <a:solidFill>
              <a:schemeClr val="dk2"/>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3" name="Google Shape;663;p56"/>
          <p:cNvSpPr txBox="1"/>
          <p:nvPr/>
        </p:nvSpPr>
        <p:spPr>
          <a:xfrm>
            <a:off x="5017850" y="282550"/>
            <a:ext cx="3583200" cy="55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b="1">
                <a:solidFill>
                  <a:schemeClr val="dk1"/>
                </a:solidFill>
              </a:rPr>
              <a:t>The Ultimatum Game</a:t>
            </a:r>
            <a:endParaRPr sz="2400" b="1">
              <a:solidFill>
                <a:schemeClr val="dk1"/>
              </a:solidFill>
            </a:endParaRPr>
          </a:p>
        </p:txBody>
      </p:sp>
      <p:grpSp>
        <p:nvGrpSpPr>
          <p:cNvPr id="664" name="Google Shape;664;p56"/>
          <p:cNvGrpSpPr/>
          <p:nvPr/>
        </p:nvGrpSpPr>
        <p:grpSpPr>
          <a:xfrm>
            <a:off x="5297175" y="1780398"/>
            <a:ext cx="669387" cy="1147641"/>
            <a:chOff x="6972439" y="1368106"/>
            <a:chExt cx="413100" cy="696807"/>
          </a:xfrm>
        </p:grpSpPr>
        <p:sp>
          <p:nvSpPr>
            <p:cNvPr id="665" name="Google Shape;665;p56"/>
            <p:cNvSpPr/>
            <p:nvPr/>
          </p:nvSpPr>
          <p:spPr>
            <a:xfrm rot="-5400000" flipH="1">
              <a:off x="6972439" y="1651813"/>
              <a:ext cx="413100" cy="413100"/>
            </a:xfrm>
            <a:prstGeom prst="chord">
              <a:avLst>
                <a:gd name="adj1" fmla="val 5399588"/>
                <a:gd name="adj2" fmla="val 16200000"/>
              </a:avLst>
            </a:prstGeom>
            <a:solidFill>
              <a:srgbClr val="980000"/>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66" name="Google Shape;666;p56"/>
            <p:cNvSpPr/>
            <p:nvPr/>
          </p:nvSpPr>
          <p:spPr>
            <a:xfrm flipH="1">
              <a:off x="7037078" y="1368106"/>
              <a:ext cx="283800" cy="283800"/>
            </a:xfrm>
            <a:prstGeom prst="ellipse">
              <a:avLst/>
            </a:prstGeom>
            <a:solidFill>
              <a:srgbClr val="980000"/>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667" name="Google Shape;667;p56"/>
          <p:cNvSpPr txBox="1"/>
          <p:nvPr/>
        </p:nvSpPr>
        <p:spPr>
          <a:xfrm>
            <a:off x="4890300" y="1295075"/>
            <a:ext cx="1453500" cy="396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b="1">
                <a:solidFill>
                  <a:srgbClr val="980000"/>
                </a:solidFill>
              </a:rPr>
              <a:t>Proposer</a:t>
            </a:r>
            <a:endParaRPr sz="2200" b="1">
              <a:solidFill>
                <a:srgbClr val="980000"/>
              </a:solidFill>
            </a:endParaRPr>
          </a:p>
        </p:txBody>
      </p:sp>
      <p:pic>
        <p:nvPicPr>
          <p:cNvPr id="668" name="Google Shape;668;p56" descr="Money Icon PNG Images, Vectors Free Download - Pngtree"/>
          <p:cNvPicPr preferRelativeResize="0"/>
          <p:nvPr/>
        </p:nvPicPr>
        <p:blipFill>
          <a:blip r:embed="rId3">
            <a:alphaModFix/>
          </a:blip>
          <a:stretch>
            <a:fillRect/>
          </a:stretch>
        </p:blipFill>
        <p:spPr>
          <a:xfrm>
            <a:off x="5180482" y="2642167"/>
            <a:ext cx="903210" cy="917790"/>
          </a:xfrm>
          <a:prstGeom prst="rect">
            <a:avLst/>
          </a:prstGeom>
          <a:noFill/>
          <a:ln>
            <a:noFill/>
          </a:ln>
        </p:spPr>
      </p:pic>
      <p:sp>
        <p:nvSpPr>
          <p:cNvPr id="669" name="Google Shape;669;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40</a:t>
            </a:fld>
            <a:endParaRPr/>
          </a:p>
        </p:txBody>
      </p:sp>
      <p:sp>
        <p:nvSpPr>
          <p:cNvPr id="670" name="Google Shape;670;p56"/>
          <p:cNvSpPr txBox="1"/>
          <p:nvPr/>
        </p:nvSpPr>
        <p:spPr>
          <a:xfrm>
            <a:off x="7148425" y="2538344"/>
            <a:ext cx="669300" cy="38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2"/>
                </a:solidFill>
              </a:rPr>
              <a:t>offer</a:t>
            </a:r>
            <a:endParaRPr sz="1800">
              <a:solidFill>
                <a:schemeClr val="dk2"/>
              </a:solidFill>
            </a:endParaRPr>
          </a:p>
        </p:txBody>
      </p:sp>
      <p:sp>
        <p:nvSpPr>
          <p:cNvPr id="671" name="Google Shape;671;p56"/>
          <p:cNvSpPr txBox="1"/>
          <p:nvPr/>
        </p:nvSpPr>
        <p:spPr>
          <a:xfrm>
            <a:off x="6110325" y="2538350"/>
            <a:ext cx="903300" cy="38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2"/>
                </a:solidFill>
              </a:rPr>
              <a:t>keep</a:t>
            </a:r>
            <a:endParaRPr sz="1800">
              <a:solidFill>
                <a:schemeClr val="dk2"/>
              </a:solidFill>
            </a:endParaRPr>
          </a:p>
        </p:txBody>
      </p:sp>
      <p:sp>
        <p:nvSpPr>
          <p:cNvPr id="672" name="Google Shape;672;p56"/>
          <p:cNvSpPr txBox="1"/>
          <p:nvPr/>
        </p:nvSpPr>
        <p:spPr>
          <a:xfrm>
            <a:off x="220775" y="2106950"/>
            <a:ext cx="4557900" cy="1309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200" b="1">
                <a:solidFill>
                  <a:schemeClr val="dk1"/>
                </a:solidFill>
              </a:rPr>
              <a:t>Aging</a:t>
            </a:r>
            <a:endParaRPr sz="2000">
              <a:solidFill>
                <a:schemeClr val="dk1"/>
              </a:solidFill>
            </a:endParaRPr>
          </a:p>
        </p:txBody>
      </p:sp>
      <p:sp>
        <p:nvSpPr>
          <p:cNvPr id="673" name="Google Shape;673;p56"/>
          <p:cNvSpPr txBox="1"/>
          <p:nvPr/>
        </p:nvSpPr>
        <p:spPr>
          <a:xfrm>
            <a:off x="220775" y="3457000"/>
            <a:ext cx="4847700" cy="1309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200" b="1">
                <a:solidFill>
                  <a:schemeClr val="dk1"/>
                </a:solidFill>
              </a:rPr>
              <a:t>Social Context</a:t>
            </a:r>
            <a:endParaRPr sz="2000">
              <a:solidFill>
                <a:schemeClr val="dk1"/>
              </a:solidFill>
            </a:endParaRPr>
          </a:p>
        </p:txBody>
      </p:sp>
      <p:sp>
        <p:nvSpPr>
          <p:cNvPr id="674" name="Google Shape;674;p56"/>
          <p:cNvSpPr/>
          <p:nvPr/>
        </p:nvSpPr>
        <p:spPr>
          <a:xfrm rot="5690350">
            <a:off x="5951188" y="1738078"/>
            <a:ext cx="1984373" cy="1754345"/>
          </a:xfrm>
          <a:prstGeom prst="wedgeEllipseCallout">
            <a:avLst>
              <a:gd name="adj1" fmla="val -16836"/>
              <a:gd name="adj2" fmla="val 64246"/>
            </a:avLst>
          </a:prstGeom>
          <a:noFill/>
          <a:ln w="2857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675" name="Google Shape;675;p56"/>
          <p:cNvGrpSpPr/>
          <p:nvPr/>
        </p:nvGrpSpPr>
        <p:grpSpPr>
          <a:xfrm>
            <a:off x="6110325" y="1954700"/>
            <a:ext cx="1707398" cy="1234078"/>
            <a:chOff x="6110325" y="1954700"/>
            <a:chExt cx="1707398" cy="1234078"/>
          </a:xfrm>
        </p:grpSpPr>
        <p:sp>
          <p:nvSpPr>
            <p:cNvPr id="676" name="Google Shape;676;p56"/>
            <p:cNvSpPr/>
            <p:nvPr/>
          </p:nvSpPr>
          <p:spPr>
            <a:xfrm rot="5400000" flipH="1">
              <a:off x="6267180" y="2413128"/>
              <a:ext cx="879000" cy="672300"/>
            </a:xfrm>
            <a:prstGeom prst="uturnArrow">
              <a:avLst>
                <a:gd name="adj1" fmla="val 25000"/>
                <a:gd name="adj2" fmla="val 25000"/>
                <a:gd name="adj3" fmla="val 24629"/>
                <a:gd name="adj4" fmla="val 43750"/>
                <a:gd name="adj5" fmla="val 100000"/>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7" name="Google Shape;677;p56"/>
            <p:cNvSpPr txBox="1"/>
            <p:nvPr/>
          </p:nvSpPr>
          <p:spPr>
            <a:xfrm>
              <a:off x="6110325" y="1954700"/>
              <a:ext cx="772500" cy="32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D9D9D9"/>
                  </a:solidFill>
                </a:rPr>
                <a:t>$$$$</a:t>
              </a:r>
              <a:endParaRPr sz="1800" b="1">
                <a:solidFill>
                  <a:srgbClr val="D9D9D9"/>
                </a:solidFill>
              </a:endParaRPr>
            </a:p>
          </p:txBody>
        </p:sp>
        <p:sp>
          <p:nvSpPr>
            <p:cNvPr id="678" name="Google Shape;678;p56"/>
            <p:cNvSpPr txBox="1"/>
            <p:nvPr/>
          </p:nvSpPr>
          <p:spPr>
            <a:xfrm>
              <a:off x="7245323" y="1954700"/>
              <a:ext cx="572400" cy="32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D9D9D9"/>
                  </a:solidFill>
                </a:rPr>
                <a:t>$$</a:t>
              </a:r>
              <a:endParaRPr sz="1800" b="1">
                <a:solidFill>
                  <a:srgbClr val="D9D9D9"/>
                </a:solidFill>
              </a:endParaRPr>
            </a:p>
          </p:txBody>
        </p:sp>
        <p:sp>
          <p:nvSpPr>
            <p:cNvPr id="679" name="Google Shape;679;p56"/>
            <p:cNvSpPr/>
            <p:nvPr/>
          </p:nvSpPr>
          <p:spPr>
            <a:xfrm>
              <a:off x="6882825" y="2372128"/>
              <a:ext cx="672300" cy="443400"/>
            </a:xfrm>
            <a:prstGeom prst="bentArrow">
              <a:avLst>
                <a:gd name="adj1" fmla="val 25000"/>
                <a:gd name="adj2" fmla="val 26477"/>
                <a:gd name="adj3" fmla="val 24010"/>
                <a:gd name="adj4" fmla="val 43750"/>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680" name="Google Shape;680;p56"/>
          <p:cNvSpPr txBox="1"/>
          <p:nvPr/>
        </p:nvSpPr>
        <p:spPr>
          <a:xfrm>
            <a:off x="220775" y="433800"/>
            <a:ext cx="4731000" cy="16329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2200" b="1">
                <a:solidFill>
                  <a:schemeClr val="dk1"/>
                </a:solidFill>
              </a:rPr>
              <a:t>Fairness</a:t>
            </a:r>
            <a:endParaRPr sz="2000">
              <a:solidFill>
                <a:schemeClr val="dk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57"/>
          <p:cNvSpPr/>
          <p:nvPr/>
        </p:nvSpPr>
        <p:spPr>
          <a:xfrm>
            <a:off x="7482452" y="1140100"/>
            <a:ext cx="1503000" cy="2612700"/>
          </a:xfrm>
          <a:prstGeom prst="roundRect">
            <a:avLst>
              <a:gd name="adj" fmla="val 16667"/>
            </a:avLst>
          </a:prstGeom>
          <a:solidFill>
            <a:srgbClr val="FFF2CC"/>
          </a:solidFill>
          <a:ln w="28575" cap="flat" cmpd="sng">
            <a:solidFill>
              <a:schemeClr val="accent6"/>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86" name="Google Shape;686;p57"/>
          <p:cNvSpPr txBox="1"/>
          <p:nvPr/>
        </p:nvSpPr>
        <p:spPr>
          <a:xfrm>
            <a:off x="7507202" y="1295072"/>
            <a:ext cx="1453500" cy="396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b="1">
                <a:solidFill>
                  <a:schemeClr val="dk2"/>
                </a:solidFill>
              </a:rPr>
              <a:t>Recipient</a:t>
            </a:r>
            <a:endParaRPr sz="2200" b="1">
              <a:solidFill>
                <a:schemeClr val="dk2"/>
              </a:solidFill>
            </a:endParaRPr>
          </a:p>
        </p:txBody>
      </p:sp>
      <p:sp>
        <p:nvSpPr>
          <p:cNvPr id="687" name="Google Shape;687;p57"/>
          <p:cNvSpPr txBox="1"/>
          <p:nvPr/>
        </p:nvSpPr>
        <p:spPr>
          <a:xfrm>
            <a:off x="7507202" y="2651607"/>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chemeClr val="accent5"/>
                </a:solidFill>
              </a:rPr>
              <a:t>Accept</a:t>
            </a:r>
            <a:endParaRPr sz="1700" i="1">
              <a:solidFill>
                <a:srgbClr val="EF476F"/>
              </a:solidFill>
            </a:endParaRPr>
          </a:p>
        </p:txBody>
      </p:sp>
      <p:sp>
        <p:nvSpPr>
          <p:cNvPr id="688" name="Google Shape;688;p57"/>
          <p:cNvSpPr txBox="1"/>
          <p:nvPr/>
        </p:nvSpPr>
        <p:spPr>
          <a:xfrm>
            <a:off x="7507202" y="2946813"/>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chemeClr val="dk1"/>
                </a:solidFill>
              </a:rPr>
              <a:t>or</a:t>
            </a:r>
            <a:endParaRPr sz="1700" i="1">
              <a:solidFill>
                <a:srgbClr val="EF476F"/>
              </a:solidFill>
            </a:endParaRPr>
          </a:p>
        </p:txBody>
      </p:sp>
      <p:sp>
        <p:nvSpPr>
          <p:cNvPr id="689" name="Google Shape;689;p57"/>
          <p:cNvSpPr txBox="1"/>
          <p:nvPr/>
        </p:nvSpPr>
        <p:spPr>
          <a:xfrm>
            <a:off x="7507202" y="3242019"/>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rgbClr val="EF476F"/>
                </a:solidFill>
              </a:rPr>
              <a:t>Reject</a:t>
            </a:r>
            <a:endParaRPr sz="1700" i="1">
              <a:solidFill>
                <a:srgbClr val="EF476F"/>
              </a:solidFill>
            </a:endParaRPr>
          </a:p>
        </p:txBody>
      </p:sp>
      <p:grpSp>
        <p:nvGrpSpPr>
          <p:cNvPr id="690" name="Google Shape;690;p57"/>
          <p:cNvGrpSpPr/>
          <p:nvPr/>
        </p:nvGrpSpPr>
        <p:grpSpPr>
          <a:xfrm>
            <a:off x="7895548" y="1780398"/>
            <a:ext cx="669387" cy="1147641"/>
            <a:chOff x="6972439" y="1368106"/>
            <a:chExt cx="413100" cy="696807"/>
          </a:xfrm>
        </p:grpSpPr>
        <p:sp>
          <p:nvSpPr>
            <p:cNvPr id="691" name="Google Shape;691;p57"/>
            <p:cNvSpPr/>
            <p:nvPr/>
          </p:nvSpPr>
          <p:spPr>
            <a:xfrm rot="-5400000" flipH="1">
              <a:off x="6972439" y="1651813"/>
              <a:ext cx="413100" cy="413100"/>
            </a:xfrm>
            <a:prstGeom prst="chord">
              <a:avLst>
                <a:gd name="adj1" fmla="val 5399588"/>
                <a:gd name="adj2" fmla="val 16200000"/>
              </a:avLst>
            </a:prstGeom>
            <a:solidFill>
              <a:schemeClr val="dk2"/>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57"/>
            <p:cNvSpPr/>
            <p:nvPr/>
          </p:nvSpPr>
          <p:spPr>
            <a:xfrm flipH="1">
              <a:off x="7037078" y="1368106"/>
              <a:ext cx="283800" cy="283800"/>
            </a:xfrm>
            <a:prstGeom prst="ellipse">
              <a:avLst/>
            </a:prstGeom>
            <a:solidFill>
              <a:schemeClr val="dk2"/>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3" name="Google Shape;693;p57"/>
          <p:cNvSpPr txBox="1"/>
          <p:nvPr/>
        </p:nvSpPr>
        <p:spPr>
          <a:xfrm>
            <a:off x="5017850" y="282550"/>
            <a:ext cx="3583200" cy="55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b="1">
                <a:solidFill>
                  <a:schemeClr val="dk1"/>
                </a:solidFill>
              </a:rPr>
              <a:t>The Ultimatum Game</a:t>
            </a:r>
            <a:endParaRPr sz="2400" b="1">
              <a:solidFill>
                <a:schemeClr val="dk1"/>
              </a:solidFill>
            </a:endParaRPr>
          </a:p>
        </p:txBody>
      </p:sp>
      <p:grpSp>
        <p:nvGrpSpPr>
          <p:cNvPr id="694" name="Google Shape;694;p57"/>
          <p:cNvGrpSpPr/>
          <p:nvPr/>
        </p:nvGrpSpPr>
        <p:grpSpPr>
          <a:xfrm>
            <a:off x="5297175" y="1780398"/>
            <a:ext cx="669387" cy="1147641"/>
            <a:chOff x="6972439" y="1368106"/>
            <a:chExt cx="413100" cy="696807"/>
          </a:xfrm>
        </p:grpSpPr>
        <p:sp>
          <p:nvSpPr>
            <p:cNvPr id="695" name="Google Shape;695;p57"/>
            <p:cNvSpPr/>
            <p:nvPr/>
          </p:nvSpPr>
          <p:spPr>
            <a:xfrm rot="-5400000" flipH="1">
              <a:off x="6972439" y="1651813"/>
              <a:ext cx="413100" cy="413100"/>
            </a:xfrm>
            <a:prstGeom prst="chord">
              <a:avLst>
                <a:gd name="adj1" fmla="val 5399588"/>
                <a:gd name="adj2" fmla="val 16200000"/>
              </a:avLst>
            </a:prstGeom>
            <a:solidFill>
              <a:srgbClr val="980000"/>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6" name="Google Shape;696;p57"/>
            <p:cNvSpPr/>
            <p:nvPr/>
          </p:nvSpPr>
          <p:spPr>
            <a:xfrm flipH="1">
              <a:off x="7037078" y="1368106"/>
              <a:ext cx="283800" cy="283800"/>
            </a:xfrm>
            <a:prstGeom prst="ellipse">
              <a:avLst/>
            </a:prstGeom>
            <a:solidFill>
              <a:srgbClr val="980000"/>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697" name="Google Shape;697;p57"/>
          <p:cNvSpPr txBox="1"/>
          <p:nvPr/>
        </p:nvSpPr>
        <p:spPr>
          <a:xfrm>
            <a:off x="4890300" y="1295075"/>
            <a:ext cx="1453500" cy="396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b="1">
                <a:solidFill>
                  <a:srgbClr val="980000"/>
                </a:solidFill>
              </a:rPr>
              <a:t>Proposer</a:t>
            </a:r>
            <a:endParaRPr sz="2200" b="1">
              <a:solidFill>
                <a:srgbClr val="980000"/>
              </a:solidFill>
            </a:endParaRPr>
          </a:p>
        </p:txBody>
      </p:sp>
      <p:pic>
        <p:nvPicPr>
          <p:cNvPr id="698" name="Google Shape;698;p57" descr="Money Icon PNG Images, Vectors Free Download - Pngtree"/>
          <p:cNvPicPr preferRelativeResize="0"/>
          <p:nvPr/>
        </p:nvPicPr>
        <p:blipFill>
          <a:blip r:embed="rId3">
            <a:alphaModFix/>
          </a:blip>
          <a:stretch>
            <a:fillRect/>
          </a:stretch>
        </p:blipFill>
        <p:spPr>
          <a:xfrm>
            <a:off x="5180482" y="2642167"/>
            <a:ext cx="903210" cy="917790"/>
          </a:xfrm>
          <a:prstGeom prst="rect">
            <a:avLst/>
          </a:prstGeom>
          <a:noFill/>
          <a:ln>
            <a:noFill/>
          </a:ln>
        </p:spPr>
      </p:pic>
      <p:sp>
        <p:nvSpPr>
          <p:cNvPr id="699" name="Google Shape;699;p5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41</a:t>
            </a:fld>
            <a:endParaRPr/>
          </a:p>
        </p:txBody>
      </p:sp>
      <p:sp>
        <p:nvSpPr>
          <p:cNvPr id="700" name="Google Shape;700;p57"/>
          <p:cNvSpPr txBox="1"/>
          <p:nvPr/>
        </p:nvSpPr>
        <p:spPr>
          <a:xfrm>
            <a:off x="7148425" y="2538344"/>
            <a:ext cx="669300" cy="38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2"/>
                </a:solidFill>
              </a:rPr>
              <a:t>offer</a:t>
            </a:r>
            <a:endParaRPr sz="1800">
              <a:solidFill>
                <a:schemeClr val="dk2"/>
              </a:solidFill>
            </a:endParaRPr>
          </a:p>
        </p:txBody>
      </p:sp>
      <p:sp>
        <p:nvSpPr>
          <p:cNvPr id="701" name="Google Shape;701;p57"/>
          <p:cNvSpPr txBox="1"/>
          <p:nvPr/>
        </p:nvSpPr>
        <p:spPr>
          <a:xfrm>
            <a:off x="6110325" y="2538350"/>
            <a:ext cx="903300" cy="38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2"/>
                </a:solidFill>
              </a:rPr>
              <a:t>keep</a:t>
            </a:r>
            <a:endParaRPr sz="1800">
              <a:solidFill>
                <a:schemeClr val="dk2"/>
              </a:solidFill>
            </a:endParaRPr>
          </a:p>
        </p:txBody>
      </p:sp>
      <p:sp>
        <p:nvSpPr>
          <p:cNvPr id="702" name="Google Shape;702;p57"/>
          <p:cNvSpPr txBox="1"/>
          <p:nvPr/>
        </p:nvSpPr>
        <p:spPr>
          <a:xfrm>
            <a:off x="220775" y="2106950"/>
            <a:ext cx="4557900" cy="1309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200" b="1">
                <a:solidFill>
                  <a:schemeClr val="dk1"/>
                </a:solidFill>
              </a:rPr>
              <a:t>Aging</a:t>
            </a:r>
            <a:endParaRPr sz="2000">
              <a:solidFill>
                <a:schemeClr val="dk1"/>
              </a:solidFill>
            </a:endParaRPr>
          </a:p>
        </p:txBody>
      </p:sp>
      <p:sp>
        <p:nvSpPr>
          <p:cNvPr id="703" name="Google Shape;703;p57"/>
          <p:cNvSpPr txBox="1"/>
          <p:nvPr/>
        </p:nvSpPr>
        <p:spPr>
          <a:xfrm>
            <a:off x="220775" y="3457000"/>
            <a:ext cx="4847700" cy="1309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200" b="1">
                <a:solidFill>
                  <a:schemeClr val="dk1"/>
                </a:solidFill>
              </a:rPr>
              <a:t>Social Context</a:t>
            </a:r>
            <a:endParaRPr sz="2000">
              <a:solidFill>
                <a:schemeClr val="dk1"/>
              </a:solidFill>
            </a:endParaRPr>
          </a:p>
        </p:txBody>
      </p:sp>
      <p:sp>
        <p:nvSpPr>
          <p:cNvPr id="704" name="Google Shape;704;p57"/>
          <p:cNvSpPr/>
          <p:nvPr/>
        </p:nvSpPr>
        <p:spPr>
          <a:xfrm rot="5690350">
            <a:off x="5951188" y="1738078"/>
            <a:ext cx="1984373" cy="1754345"/>
          </a:xfrm>
          <a:prstGeom prst="wedgeEllipseCallout">
            <a:avLst>
              <a:gd name="adj1" fmla="val -16836"/>
              <a:gd name="adj2" fmla="val 64246"/>
            </a:avLst>
          </a:prstGeom>
          <a:noFill/>
          <a:ln w="2857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705" name="Google Shape;705;p57"/>
          <p:cNvGrpSpPr/>
          <p:nvPr/>
        </p:nvGrpSpPr>
        <p:grpSpPr>
          <a:xfrm>
            <a:off x="6110325" y="1954700"/>
            <a:ext cx="1707398" cy="1234078"/>
            <a:chOff x="6110325" y="1954700"/>
            <a:chExt cx="1707398" cy="1234078"/>
          </a:xfrm>
        </p:grpSpPr>
        <p:sp>
          <p:nvSpPr>
            <p:cNvPr id="706" name="Google Shape;706;p57"/>
            <p:cNvSpPr/>
            <p:nvPr/>
          </p:nvSpPr>
          <p:spPr>
            <a:xfrm rot="5400000" flipH="1">
              <a:off x="6267180" y="2413128"/>
              <a:ext cx="879000" cy="672300"/>
            </a:xfrm>
            <a:prstGeom prst="uturnArrow">
              <a:avLst>
                <a:gd name="adj1" fmla="val 25000"/>
                <a:gd name="adj2" fmla="val 25000"/>
                <a:gd name="adj3" fmla="val 24629"/>
                <a:gd name="adj4" fmla="val 43750"/>
                <a:gd name="adj5" fmla="val 100000"/>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07" name="Google Shape;707;p57"/>
            <p:cNvSpPr txBox="1"/>
            <p:nvPr/>
          </p:nvSpPr>
          <p:spPr>
            <a:xfrm>
              <a:off x="6110325" y="1954700"/>
              <a:ext cx="772500" cy="32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D9D9D9"/>
                  </a:solidFill>
                </a:rPr>
                <a:t>$$$$</a:t>
              </a:r>
              <a:endParaRPr sz="1800" b="1">
                <a:solidFill>
                  <a:srgbClr val="D9D9D9"/>
                </a:solidFill>
              </a:endParaRPr>
            </a:p>
          </p:txBody>
        </p:sp>
        <p:sp>
          <p:nvSpPr>
            <p:cNvPr id="708" name="Google Shape;708;p57"/>
            <p:cNvSpPr txBox="1"/>
            <p:nvPr/>
          </p:nvSpPr>
          <p:spPr>
            <a:xfrm>
              <a:off x="7245323" y="1954700"/>
              <a:ext cx="572400" cy="32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D9D9D9"/>
                  </a:solidFill>
                </a:rPr>
                <a:t>$$</a:t>
              </a:r>
              <a:endParaRPr sz="1800" b="1">
                <a:solidFill>
                  <a:srgbClr val="D9D9D9"/>
                </a:solidFill>
              </a:endParaRPr>
            </a:p>
          </p:txBody>
        </p:sp>
        <p:sp>
          <p:nvSpPr>
            <p:cNvPr id="709" name="Google Shape;709;p57"/>
            <p:cNvSpPr/>
            <p:nvPr/>
          </p:nvSpPr>
          <p:spPr>
            <a:xfrm>
              <a:off x="6882825" y="2372128"/>
              <a:ext cx="672300" cy="443400"/>
            </a:xfrm>
            <a:prstGeom prst="bentArrow">
              <a:avLst>
                <a:gd name="adj1" fmla="val 25000"/>
                <a:gd name="adj2" fmla="val 26477"/>
                <a:gd name="adj3" fmla="val 24010"/>
                <a:gd name="adj4" fmla="val 43750"/>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710" name="Google Shape;710;p57"/>
          <p:cNvSpPr txBox="1"/>
          <p:nvPr/>
        </p:nvSpPr>
        <p:spPr>
          <a:xfrm>
            <a:off x="220775" y="433800"/>
            <a:ext cx="4731000" cy="16329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2200" b="1">
                <a:solidFill>
                  <a:schemeClr val="dk1"/>
                </a:solidFill>
              </a:rPr>
              <a:t>Fairness - Offer size</a:t>
            </a:r>
            <a:endParaRPr sz="22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Fixed $20 endowment</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Fairness (Offer size) </a:t>
            </a:r>
            <a:endParaRPr sz="2000">
              <a:solidFill>
                <a:schemeClr val="dk1"/>
              </a:solidFill>
            </a:endParaRPr>
          </a:p>
          <a:p>
            <a:pPr marL="1371600" lvl="0" indent="0" algn="l" rtl="0">
              <a:lnSpc>
                <a:spcPct val="115000"/>
              </a:lnSpc>
              <a:spcBef>
                <a:spcPts val="0"/>
              </a:spcBef>
              <a:spcAft>
                <a:spcPts val="0"/>
              </a:spcAft>
              <a:buNone/>
            </a:pPr>
            <a:r>
              <a:rPr lang="en" sz="2000">
                <a:solidFill>
                  <a:schemeClr val="dk1"/>
                </a:solidFill>
              </a:rPr>
              <a:t>=  5% ~ 50% ($1 to $10 )</a:t>
            </a:r>
            <a:endParaRPr sz="2000">
              <a:solidFill>
                <a:schemeClr val="dk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58"/>
          <p:cNvSpPr/>
          <p:nvPr/>
        </p:nvSpPr>
        <p:spPr>
          <a:xfrm>
            <a:off x="7482452" y="1140100"/>
            <a:ext cx="1503000" cy="2612700"/>
          </a:xfrm>
          <a:prstGeom prst="roundRect">
            <a:avLst>
              <a:gd name="adj" fmla="val 16667"/>
            </a:avLst>
          </a:prstGeom>
          <a:solidFill>
            <a:srgbClr val="FFF2CC"/>
          </a:solidFill>
          <a:ln w="28575" cap="flat" cmpd="sng">
            <a:solidFill>
              <a:schemeClr val="accent6"/>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16" name="Google Shape;716;p58"/>
          <p:cNvSpPr txBox="1"/>
          <p:nvPr/>
        </p:nvSpPr>
        <p:spPr>
          <a:xfrm>
            <a:off x="7507202" y="1295072"/>
            <a:ext cx="1453500" cy="396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b="1">
                <a:solidFill>
                  <a:schemeClr val="dk2"/>
                </a:solidFill>
              </a:rPr>
              <a:t>Recipient</a:t>
            </a:r>
            <a:endParaRPr sz="2200" b="1">
              <a:solidFill>
                <a:schemeClr val="dk2"/>
              </a:solidFill>
            </a:endParaRPr>
          </a:p>
        </p:txBody>
      </p:sp>
      <p:sp>
        <p:nvSpPr>
          <p:cNvPr id="717" name="Google Shape;717;p58"/>
          <p:cNvSpPr txBox="1"/>
          <p:nvPr/>
        </p:nvSpPr>
        <p:spPr>
          <a:xfrm>
            <a:off x="7507202" y="2651607"/>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chemeClr val="accent5"/>
                </a:solidFill>
              </a:rPr>
              <a:t>Accept</a:t>
            </a:r>
            <a:endParaRPr sz="1700" i="1">
              <a:solidFill>
                <a:srgbClr val="EF476F"/>
              </a:solidFill>
            </a:endParaRPr>
          </a:p>
        </p:txBody>
      </p:sp>
      <p:sp>
        <p:nvSpPr>
          <p:cNvPr id="718" name="Google Shape;718;p58"/>
          <p:cNvSpPr txBox="1"/>
          <p:nvPr/>
        </p:nvSpPr>
        <p:spPr>
          <a:xfrm>
            <a:off x="7507202" y="2946813"/>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chemeClr val="dk1"/>
                </a:solidFill>
              </a:rPr>
              <a:t>or</a:t>
            </a:r>
            <a:endParaRPr sz="1700" i="1">
              <a:solidFill>
                <a:srgbClr val="EF476F"/>
              </a:solidFill>
            </a:endParaRPr>
          </a:p>
        </p:txBody>
      </p:sp>
      <p:sp>
        <p:nvSpPr>
          <p:cNvPr id="719" name="Google Shape;719;p58"/>
          <p:cNvSpPr txBox="1"/>
          <p:nvPr/>
        </p:nvSpPr>
        <p:spPr>
          <a:xfrm>
            <a:off x="7507202" y="3242019"/>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rgbClr val="EF476F"/>
                </a:solidFill>
              </a:rPr>
              <a:t>Reject</a:t>
            </a:r>
            <a:endParaRPr sz="1700" i="1">
              <a:solidFill>
                <a:srgbClr val="EF476F"/>
              </a:solidFill>
            </a:endParaRPr>
          </a:p>
        </p:txBody>
      </p:sp>
      <p:sp>
        <p:nvSpPr>
          <p:cNvPr id="720" name="Google Shape;720;p58"/>
          <p:cNvSpPr txBox="1"/>
          <p:nvPr/>
        </p:nvSpPr>
        <p:spPr>
          <a:xfrm>
            <a:off x="5017850" y="282550"/>
            <a:ext cx="3583200" cy="55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b="1">
                <a:solidFill>
                  <a:schemeClr val="dk1"/>
                </a:solidFill>
              </a:rPr>
              <a:t>The Ultimatum Game</a:t>
            </a:r>
            <a:endParaRPr sz="2400" b="1">
              <a:solidFill>
                <a:schemeClr val="dk1"/>
              </a:solidFill>
            </a:endParaRPr>
          </a:p>
        </p:txBody>
      </p:sp>
      <p:grpSp>
        <p:nvGrpSpPr>
          <p:cNvPr id="721" name="Google Shape;721;p58"/>
          <p:cNvGrpSpPr/>
          <p:nvPr/>
        </p:nvGrpSpPr>
        <p:grpSpPr>
          <a:xfrm>
            <a:off x="5297175" y="1780398"/>
            <a:ext cx="669387" cy="1147641"/>
            <a:chOff x="6972439" y="1368106"/>
            <a:chExt cx="413100" cy="696807"/>
          </a:xfrm>
        </p:grpSpPr>
        <p:sp>
          <p:nvSpPr>
            <p:cNvPr id="722" name="Google Shape;722;p58"/>
            <p:cNvSpPr/>
            <p:nvPr/>
          </p:nvSpPr>
          <p:spPr>
            <a:xfrm rot="-5400000" flipH="1">
              <a:off x="6972439" y="1651813"/>
              <a:ext cx="413100" cy="413100"/>
            </a:xfrm>
            <a:prstGeom prst="chord">
              <a:avLst>
                <a:gd name="adj1" fmla="val 5399588"/>
                <a:gd name="adj2" fmla="val 16200000"/>
              </a:avLst>
            </a:prstGeom>
            <a:solidFill>
              <a:srgbClr val="980000"/>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3" name="Google Shape;723;p58"/>
            <p:cNvSpPr/>
            <p:nvPr/>
          </p:nvSpPr>
          <p:spPr>
            <a:xfrm flipH="1">
              <a:off x="7037078" y="1368106"/>
              <a:ext cx="283800" cy="283800"/>
            </a:xfrm>
            <a:prstGeom prst="ellipse">
              <a:avLst/>
            </a:prstGeom>
            <a:solidFill>
              <a:srgbClr val="980000"/>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724" name="Google Shape;724;p58"/>
          <p:cNvSpPr txBox="1"/>
          <p:nvPr/>
        </p:nvSpPr>
        <p:spPr>
          <a:xfrm>
            <a:off x="4890300" y="1295075"/>
            <a:ext cx="1453500" cy="396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b="1">
                <a:solidFill>
                  <a:srgbClr val="980000"/>
                </a:solidFill>
              </a:rPr>
              <a:t>Proposer</a:t>
            </a:r>
            <a:endParaRPr sz="2200" b="1">
              <a:solidFill>
                <a:srgbClr val="980000"/>
              </a:solidFill>
            </a:endParaRPr>
          </a:p>
        </p:txBody>
      </p:sp>
      <p:grpSp>
        <p:nvGrpSpPr>
          <p:cNvPr id="725" name="Google Shape;725;p58"/>
          <p:cNvGrpSpPr/>
          <p:nvPr/>
        </p:nvGrpSpPr>
        <p:grpSpPr>
          <a:xfrm>
            <a:off x="7895548" y="1780398"/>
            <a:ext cx="669387" cy="1147641"/>
            <a:chOff x="6972439" y="1368106"/>
            <a:chExt cx="413100" cy="696807"/>
          </a:xfrm>
        </p:grpSpPr>
        <p:sp>
          <p:nvSpPr>
            <p:cNvPr id="726" name="Google Shape;726;p58"/>
            <p:cNvSpPr/>
            <p:nvPr/>
          </p:nvSpPr>
          <p:spPr>
            <a:xfrm rot="-5400000" flipH="1">
              <a:off x="6972439" y="1651813"/>
              <a:ext cx="413100" cy="413100"/>
            </a:xfrm>
            <a:prstGeom prst="chord">
              <a:avLst>
                <a:gd name="adj1" fmla="val 5399588"/>
                <a:gd name="adj2" fmla="val 16200000"/>
              </a:avLst>
            </a:prstGeom>
            <a:solidFill>
              <a:schemeClr val="dk2"/>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58"/>
            <p:cNvSpPr/>
            <p:nvPr/>
          </p:nvSpPr>
          <p:spPr>
            <a:xfrm flipH="1">
              <a:off x="7037078" y="1368106"/>
              <a:ext cx="283800" cy="283800"/>
            </a:xfrm>
            <a:prstGeom prst="ellipse">
              <a:avLst/>
            </a:prstGeom>
            <a:solidFill>
              <a:schemeClr val="dk2"/>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28" name="Google Shape;728;p58" descr="Money Icon PNG Images, Vectors Free Download - Pngtree"/>
          <p:cNvPicPr preferRelativeResize="0"/>
          <p:nvPr/>
        </p:nvPicPr>
        <p:blipFill>
          <a:blip r:embed="rId3">
            <a:alphaModFix/>
          </a:blip>
          <a:stretch>
            <a:fillRect/>
          </a:stretch>
        </p:blipFill>
        <p:spPr>
          <a:xfrm>
            <a:off x="5180482" y="2642167"/>
            <a:ext cx="903210" cy="917790"/>
          </a:xfrm>
          <a:prstGeom prst="rect">
            <a:avLst/>
          </a:prstGeom>
          <a:noFill/>
          <a:ln>
            <a:noFill/>
          </a:ln>
        </p:spPr>
      </p:pic>
      <p:sp>
        <p:nvSpPr>
          <p:cNvPr id="729" name="Google Shape;729;p5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42</a:t>
            </a:fld>
            <a:endParaRPr/>
          </a:p>
        </p:txBody>
      </p:sp>
      <p:sp>
        <p:nvSpPr>
          <p:cNvPr id="730" name="Google Shape;730;p58"/>
          <p:cNvSpPr txBox="1"/>
          <p:nvPr/>
        </p:nvSpPr>
        <p:spPr>
          <a:xfrm>
            <a:off x="7148425" y="2538344"/>
            <a:ext cx="669300" cy="38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2"/>
                </a:solidFill>
              </a:rPr>
              <a:t>offer</a:t>
            </a:r>
            <a:endParaRPr sz="1800">
              <a:solidFill>
                <a:schemeClr val="dk2"/>
              </a:solidFill>
            </a:endParaRPr>
          </a:p>
        </p:txBody>
      </p:sp>
      <p:sp>
        <p:nvSpPr>
          <p:cNvPr id="731" name="Google Shape;731;p58"/>
          <p:cNvSpPr txBox="1"/>
          <p:nvPr/>
        </p:nvSpPr>
        <p:spPr>
          <a:xfrm>
            <a:off x="6110325" y="2538350"/>
            <a:ext cx="903300" cy="38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2"/>
                </a:solidFill>
              </a:rPr>
              <a:t>keep</a:t>
            </a:r>
            <a:endParaRPr sz="1800">
              <a:solidFill>
                <a:schemeClr val="dk2"/>
              </a:solidFill>
            </a:endParaRPr>
          </a:p>
        </p:txBody>
      </p:sp>
      <p:sp>
        <p:nvSpPr>
          <p:cNvPr id="732" name="Google Shape;732;p58"/>
          <p:cNvSpPr txBox="1"/>
          <p:nvPr/>
        </p:nvSpPr>
        <p:spPr>
          <a:xfrm>
            <a:off x="220775" y="2106950"/>
            <a:ext cx="4557900" cy="1309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200" b="1">
                <a:solidFill>
                  <a:schemeClr val="dk1"/>
                </a:solidFill>
              </a:rPr>
              <a:t>Aging - Participant Age</a:t>
            </a:r>
            <a:endParaRPr sz="22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Younger adults (18-35, N = 25)</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Older adult (65-80, N = 22)</a:t>
            </a:r>
            <a:endParaRPr sz="2000">
              <a:solidFill>
                <a:schemeClr val="dk1"/>
              </a:solidFill>
            </a:endParaRPr>
          </a:p>
        </p:txBody>
      </p:sp>
      <p:sp>
        <p:nvSpPr>
          <p:cNvPr id="733" name="Google Shape;733;p58"/>
          <p:cNvSpPr txBox="1"/>
          <p:nvPr/>
        </p:nvSpPr>
        <p:spPr>
          <a:xfrm>
            <a:off x="220775" y="3457000"/>
            <a:ext cx="4847700" cy="1309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200" b="1">
                <a:solidFill>
                  <a:schemeClr val="dk1"/>
                </a:solidFill>
              </a:rPr>
              <a:t>Social Context</a:t>
            </a:r>
            <a:endParaRPr sz="2000">
              <a:solidFill>
                <a:schemeClr val="dk1"/>
              </a:solidFill>
            </a:endParaRPr>
          </a:p>
        </p:txBody>
      </p:sp>
      <p:sp>
        <p:nvSpPr>
          <p:cNvPr id="734" name="Google Shape;734;p58"/>
          <p:cNvSpPr/>
          <p:nvPr/>
        </p:nvSpPr>
        <p:spPr>
          <a:xfrm rot="5690350">
            <a:off x="5951188" y="1738078"/>
            <a:ext cx="1984373" cy="1754345"/>
          </a:xfrm>
          <a:prstGeom prst="wedgeEllipseCallout">
            <a:avLst>
              <a:gd name="adj1" fmla="val -16836"/>
              <a:gd name="adj2" fmla="val 64246"/>
            </a:avLst>
          </a:prstGeom>
          <a:noFill/>
          <a:ln w="2857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735" name="Google Shape;735;p58"/>
          <p:cNvGrpSpPr/>
          <p:nvPr/>
        </p:nvGrpSpPr>
        <p:grpSpPr>
          <a:xfrm>
            <a:off x="6110325" y="1954700"/>
            <a:ext cx="1707398" cy="1234078"/>
            <a:chOff x="6110325" y="1954700"/>
            <a:chExt cx="1707398" cy="1234078"/>
          </a:xfrm>
        </p:grpSpPr>
        <p:sp>
          <p:nvSpPr>
            <p:cNvPr id="736" name="Google Shape;736;p58"/>
            <p:cNvSpPr/>
            <p:nvPr/>
          </p:nvSpPr>
          <p:spPr>
            <a:xfrm rot="5400000" flipH="1">
              <a:off x="6267180" y="2413128"/>
              <a:ext cx="879000" cy="672300"/>
            </a:xfrm>
            <a:prstGeom prst="uturnArrow">
              <a:avLst>
                <a:gd name="adj1" fmla="val 25000"/>
                <a:gd name="adj2" fmla="val 25000"/>
                <a:gd name="adj3" fmla="val 24629"/>
                <a:gd name="adj4" fmla="val 43750"/>
                <a:gd name="adj5" fmla="val 100000"/>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37" name="Google Shape;737;p58"/>
            <p:cNvSpPr txBox="1"/>
            <p:nvPr/>
          </p:nvSpPr>
          <p:spPr>
            <a:xfrm>
              <a:off x="6110325" y="1954700"/>
              <a:ext cx="772500" cy="32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D9D9D9"/>
                  </a:solidFill>
                </a:rPr>
                <a:t>$$$$</a:t>
              </a:r>
              <a:endParaRPr sz="1800" b="1">
                <a:solidFill>
                  <a:srgbClr val="D9D9D9"/>
                </a:solidFill>
              </a:endParaRPr>
            </a:p>
          </p:txBody>
        </p:sp>
        <p:sp>
          <p:nvSpPr>
            <p:cNvPr id="738" name="Google Shape;738;p58"/>
            <p:cNvSpPr txBox="1"/>
            <p:nvPr/>
          </p:nvSpPr>
          <p:spPr>
            <a:xfrm>
              <a:off x="7245323" y="1954700"/>
              <a:ext cx="572400" cy="32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D9D9D9"/>
                  </a:solidFill>
                </a:rPr>
                <a:t>$$</a:t>
              </a:r>
              <a:endParaRPr sz="1800" b="1">
                <a:solidFill>
                  <a:srgbClr val="D9D9D9"/>
                </a:solidFill>
              </a:endParaRPr>
            </a:p>
          </p:txBody>
        </p:sp>
        <p:sp>
          <p:nvSpPr>
            <p:cNvPr id="739" name="Google Shape;739;p58"/>
            <p:cNvSpPr/>
            <p:nvPr/>
          </p:nvSpPr>
          <p:spPr>
            <a:xfrm>
              <a:off x="6882825" y="2372128"/>
              <a:ext cx="672300" cy="443400"/>
            </a:xfrm>
            <a:prstGeom prst="bentArrow">
              <a:avLst>
                <a:gd name="adj1" fmla="val 25000"/>
                <a:gd name="adj2" fmla="val 26477"/>
                <a:gd name="adj3" fmla="val 24010"/>
                <a:gd name="adj4" fmla="val 43750"/>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740" name="Google Shape;740;p58"/>
          <p:cNvSpPr txBox="1"/>
          <p:nvPr/>
        </p:nvSpPr>
        <p:spPr>
          <a:xfrm>
            <a:off x="220775" y="433800"/>
            <a:ext cx="4731000" cy="16329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2200" b="1">
                <a:solidFill>
                  <a:schemeClr val="dk1"/>
                </a:solidFill>
              </a:rPr>
              <a:t>Fairness - Offer size</a:t>
            </a:r>
            <a:endParaRPr sz="22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Fixed $20 endowment</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Fairness (Offer size) </a:t>
            </a:r>
            <a:endParaRPr sz="2000">
              <a:solidFill>
                <a:schemeClr val="dk1"/>
              </a:solidFill>
            </a:endParaRPr>
          </a:p>
          <a:p>
            <a:pPr marL="1371600" lvl="0" indent="0" algn="l" rtl="0">
              <a:lnSpc>
                <a:spcPct val="115000"/>
              </a:lnSpc>
              <a:spcBef>
                <a:spcPts val="0"/>
              </a:spcBef>
              <a:spcAft>
                <a:spcPts val="0"/>
              </a:spcAft>
              <a:buNone/>
            </a:pPr>
            <a:r>
              <a:rPr lang="en" sz="2000">
                <a:solidFill>
                  <a:schemeClr val="dk1"/>
                </a:solidFill>
              </a:rPr>
              <a:t>=  5% ~ 50% ($1 to $10 )</a:t>
            </a:r>
            <a:endParaRPr sz="2000">
              <a:solidFill>
                <a:schemeClr val="dk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5" name="Google Shape;745;p59"/>
          <p:cNvSpPr/>
          <p:nvPr/>
        </p:nvSpPr>
        <p:spPr>
          <a:xfrm>
            <a:off x="7482452" y="1140100"/>
            <a:ext cx="1503000" cy="2612700"/>
          </a:xfrm>
          <a:prstGeom prst="roundRect">
            <a:avLst>
              <a:gd name="adj" fmla="val 16667"/>
            </a:avLst>
          </a:prstGeom>
          <a:solidFill>
            <a:srgbClr val="FFF2CC"/>
          </a:solidFill>
          <a:ln w="28575" cap="flat" cmpd="sng">
            <a:solidFill>
              <a:schemeClr val="accent6"/>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46" name="Google Shape;746;p59"/>
          <p:cNvSpPr txBox="1"/>
          <p:nvPr/>
        </p:nvSpPr>
        <p:spPr>
          <a:xfrm>
            <a:off x="7507202" y="1295072"/>
            <a:ext cx="1453500" cy="396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b="1">
                <a:solidFill>
                  <a:schemeClr val="dk2"/>
                </a:solidFill>
              </a:rPr>
              <a:t>Recipient</a:t>
            </a:r>
            <a:endParaRPr sz="2200" b="1">
              <a:solidFill>
                <a:schemeClr val="dk2"/>
              </a:solidFill>
            </a:endParaRPr>
          </a:p>
        </p:txBody>
      </p:sp>
      <p:sp>
        <p:nvSpPr>
          <p:cNvPr id="747" name="Google Shape;747;p59"/>
          <p:cNvSpPr txBox="1"/>
          <p:nvPr/>
        </p:nvSpPr>
        <p:spPr>
          <a:xfrm>
            <a:off x="7507202" y="2651607"/>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chemeClr val="accent5"/>
                </a:solidFill>
              </a:rPr>
              <a:t>Accept</a:t>
            </a:r>
            <a:endParaRPr sz="1700" i="1">
              <a:solidFill>
                <a:srgbClr val="EF476F"/>
              </a:solidFill>
            </a:endParaRPr>
          </a:p>
        </p:txBody>
      </p:sp>
      <p:sp>
        <p:nvSpPr>
          <p:cNvPr id="748" name="Google Shape;748;p59"/>
          <p:cNvSpPr txBox="1"/>
          <p:nvPr/>
        </p:nvSpPr>
        <p:spPr>
          <a:xfrm>
            <a:off x="7507202" y="2946813"/>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chemeClr val="dk1"/>
                </a:solidFill>
              </a:rPr>
              <a:t>or</a:t>
            </a:r>
            <a:endParaRPr sz="1700" i="1">
              <a:solidFill>
                <a:srgbClr val="EF476F"/>
              </a:solidFill>
            </a:endParaRPr>
          </a:p>
        </p:txBody>
      </p:sp>
      <p:sp>
        <p:nvSpPr>
          <p:cNvPr id="749" name="Google Shape;749;p59"/>
          <p:cNvSpPr txBox="1"/>
          <p:nvPr/>
        </p:nvSpPr>
        <p:spPr>
          <a:xfrm>
            <a:off x="7507202" y="3242019"/>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rgbClr val="EF476F"/>
                </a:solidFill>
              </a:rPr>
              <a:t>Reject</a:t>
            </a:r>
            <a:endParaRPr sz="1700" i="1">
              <a:solidFill>
                <a:srgbClr val="EF476F"/>
              </a:solidFill>
            </a:endParaRPr>
          </a:p>
        </p:txBody>
      </p:sp>
      <p:sp>
        <p:nvSpPr>
          <p:cNvPr id="750" name="Google Shape;750;p59"/>
          <p:cNvSpPr txBox="1"/>
          <p:nvPr/>
        </p:nvSpPr>
        <p:spPr>
          <a:xfrm>
            <a:off x="5017850" y="282550"/>
            <a:ext cx="3583200" cy="55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b="1">
                <a:solidFill>
                  <a:schemeClr val="dk1"/>
                </a:solidFill>
              </a:rPr>
              <a:t>The Ultimatum Game</a:t>
            </a:r>
            <a:endParaRPr sz="2400" b="1">
              <a:solidFill>
                <a:schemeClr val="dk1"/>
              </a:solidFill>
            </a:endParaRPr>
          </a:p>
        </p:txBody>
      </p:sp>
      <p:grpSp>
        <p:nvGrpSpPr>
          <p:cNvPr id="751" name="Google Shape;751;p59"/>
          <p:cNvGrpSpPr/>
          <p:nvPr/>
        </p:nvGrpSpPr>
        <p:grpSpPr>
          <a:xfrm>
            <a:off x="5297175" y="1780398"/>
            <a:ext cx="669387" cy="1147641"/>
            <a:chOff x="6972439" y="1368106"/>
            <a:chExt cx="413100" cy="696807"/>
          </a:xfrm>
        </p:grpSpPr>
        <p:sp>
          <p:nvSpPr>
            <p:cNvPr id="752" name="Google Shape;752;p59"/>
            <p:cNvSpPr/>
            <p:nvPr/>
          </p:nvSpPr>
          <p:spPr>
            <a:xfrm rot="-5400000" flipH="1">
              <a:off x="6972439" y="1651813"/>
              <a:ext cx="413100" cy="413100"/>
            </a:xfrm>
            <a:prstGeom prst="chord">
              <a:avLst>
                <a:gd name="adj1" fmla="val 5399588"/>
                <a:gd name="adj2" fmla="val 16200000"/>
              </a:avLst>
            </a:prstGeom>
            <a:solidFill>
              <a:srgbClr val="980000"/>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53" name="Google Shape;753;p59"/>
            <p:cNvSpPr/>
            <p:nvPr/>
          </p:nvSpPr>
          <p:spPr>
            <a:xfrm flipH="1">
              <a:off x="7037078" y="1368106"/>
              <a:ext cx="283800" cy="283800"/>
            </a:xfrm>
            <a:prstGeom prst="ellipse">
              <a:avLst/>
            </a:prstGeom>
            <a:solidFill>
              <a:srgbClr val="980000"/>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754" name="Google Shape;754;p59"/>
          <p:cNvSpPr txBox="1"/>
          <p:nvPr/>
        </p:nvSpPr>
        <p:spPr>
          <a:xfrm>
            <a:off x="4890300" y="1295075"/>
            <a:ext cx="1453500" cy="396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b="1">
                <a:solidFill>
                  <a:srgbClr val="980000"/>
                </a:solidFill>
              </a:rPr>
              <a:t>Proposer</a:t>
            </a:r>
            <a:endParaRPr sz="2200" b="1">
              <a:solidFill>
                <a:srgbClr val="980000"/>
              </a:solidFill>
            </a:endParaRPr>
          </a:p>
        </p:txBody>
      </p:sp>
      <p:grpSp>
        <p:nvGrpSpPr>
          <p:cNvPr id="755" name="Google Shape;755;p59"/>
          <p:cNvGrpSpPr/>
          <p:nvPr/>
        </p:nvGrpSpPr>
        <p:grpSpPr>
          <a:xfrm>
            <a:off x="7895548" y="1780398"/>
            <a:ext cx="669387" cy="1147641"/>
            <a:chOff x="6972439" y="1368106"/>
            <a:chExt cx="413100" cy="696807"/>
          </a:xfrm>
        </p:grpSpPr>
        <p:sp>
          <p:nvSpPr>
            <p:cNvPr id="756" name="Google Shape;756;p59"/>
            <p:cNvSpPr/>
            <p:nvPr/>
          </p:nvSpPr>
          <p:spPr>
            <a:xfrm rot="-5400000" flipH="1">
              <a:off x="6972439" y="1651813"/>
              <a:ext cx="413100" cy="413100"/>
            </a:xfrm>
            <a:prstGeom prst="chord">
              <a:avLst>
                <a:gd name="adj1" fmla="val 5399588"/>
                <a:gd name="adj2" fmla="val 16200000"/>
              </a:avLst>
            </a:prstGeom>
            <a:solidFill>
              <a:schemeClr val="dk2"/>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59"/>
            <p:cNvSpPr/>
            <p:nvPr/>
          </p:nvSpPr>
          <p:spPr>
            <a:xfrm flipH="1">
              <a:off x="7037078" y="1368106"/>
              <a:ext cx="283800" cy="283800"/>
            </a:xfrm>
            <a:prstGeom prst="ellipse">
              <a:avLst/>
            </a:prstGeom>
            <a:solidFill>
              <a:schemeClr val="dk2"/>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58" name="Google Shape;758;p59" descr="Money Icon PNG Images, Vectors Free Download - Pngtree"/>
          <p:cNvPicPr preferRelativeResize="0"/>
          <p:nvPr/>
        </p:nvPicPr>
        <p:blipFill>
          <a:blip r:embed="rId3">
            <a:alphaModFix/>
          </a:blip>
          <a:stretch>
            <a:fillRect/>
          </a:stretch>
        </p:blipFill>
        <p:spPr>
          <a:xfrm>
            <a:off x="5180482" y="2642167"/>
            <a:ext cx="903210" cy="917790"/>
          </a:xfrm>
          <a:prstGeom prst="rect">
            <a:avLst/>
          </a:prstGeom>
          <a:noFill/>
          <a:ln>
            <a:noFill/>
          </a:ln>
        </p:spPr>
      </p:pic>
      <p:sp>
        <p:nvSpPr>
          <p:cNvPr id="759" name="Google Shape;759;p5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43</a:t>
            </a:fld>
            <a:endParaRPr/>
          </a:p>
        </p:txBody>
      </p:sp>
      <p:sp>
        <p:nvSpPr>
          <p:cNvPr id="760" name="Google Shape;760;p59"/>
          <p:cNvSpPr txBox="1"/>
          <p:nvPr/>
        </p:nvSpPr>
        <p:spPr>
          <a:xfrm>
            <a:off x="7148425" y="2538344"/>
            <a:ext cx="669300" cy="38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2"/>
                </a:solidFill>
              </a:rPr>
              <a:t>offer</a:t>
            </a:r>
            <a:endParaRPr sz="1800">
              <a:solidFill>
                <a:schemeClr val="dk2"/>
              </a:solidFill>
            </a:endParaRPr>
          </a:p>
        </p:txBody>
      </p:sp>
      <p:sp>
        <p:nvSpPr>
          <p:cNvPr id="761" name="Google Shape;761;p59"/>
          <p:cNvSpPr txBox="1"/>
          <p:nvPr/>
        </p:nvSpPr>
        <p:spPr>
          <a:xfrm>
            <a:off x="6110325" y="2538350"/>
            <a:ext cx="903300" cy="38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2"/>
                </a:solidFill>
              </a:rPr>
              <a:t>keep</a:t>
            </a:r>
            <a:endParaRPr sz="1800">
              <a:solidFill>
                <a:schemeClr val="dk2"/>
              </a:solidFill>
            </a:endParaRPr>
          </a:p>
        </p:txBody>
      </p:sp>
      <p:sp>
        <p:nvSpPr>
          <p:cNvPr id="762" name="Google Shape;762;p59"/>
          <p:cNvSpPr txBox="1"/>
          <p:nvPr/>
        </p:nvSpPr>
        <p:spPr>
          <a:xfrm>
            <a:off x="220775" y="2106950"/>
            <a:ext cx="4557900" cy="1309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200" b="1">
                <a:solidFill>
                  <a:schemeClr val="dk1"/>
                </a:solidFill>
              </a:rPr>
              <a:t>Aging - Participant Age</a:t>
            </a:r>
            <a:endParaRPr sz="22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Younger adults (18-35, N = 25)</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Older adult (65-80, N = 22)</a:t>
            </a:r>
            <a:endParaRPr sz="2000">
              <a:solidFill>
                <a:schemeClr val="dk1"/>
              </a:solidFill>
            </a:endParaRPr>
          </a:p>
        </p:txBody>
      </p:sp>
      <p:sp>
        <p:nvSpPr>
          <p:cNvPr id="763" name="Google Shape;763;p59"/>
          <p:cNvSpPr txBox="1"/>
          <p:nvPr/>
        </p:nvSpPr>
        <p:spPr>
          <a:xfrm>
            <a:off x="220775" y="3457000"/>
            <a:ext cx="4847700" cy="1309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200" b="1">
                <a:solidFill>
                  <a:schemeClr val="dk1"/>
                </a:solidFill>
              </a:rPr>
              <a:t>Social Context</a:t>
            </a:r>
            <a:endParaRPr sz="2000">
              <a:solidFill>
                <a:schemeClr val="dk1"/>
              </a:solidFill>
            </a:endParaRPr>
          </a:p>
        </p:txBody>
      </p:sp>
      <p:sp>
        <p:nvSpPr>
          <p:cNvPr id="764" name="Google Shape;764;p59"/>
          <p:cNvSpPr/>
          <p:nvPr/>
        </p:nvSpPr>
        <p:spPr>
          <a:xfrm rot="5690350">
            <a:off x="5951188" y="1738078"/>
            <a:ext cx="1984373" cy="1754345"/>
          </a:xfrm>
          <a:prstGeom prst="wedgeEllipseCallout">
            <a:avLst>
              <a:gd name="adj1" fmla="val -16836"/>
              <a:gd name="adj2" fmla="val 64246"/>
            </a:avLst>
          </a:prstGeom>
          <a:noFill/>
          <a:ln w="2857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765" name="Google Shape;765;p59"/>
          <p:cNvGrpSpPr/>
          <p:nvPr/>
        </p:nvGrpSpPr>
        <p:grpSpPr>
          <a:xfrm>
            <a:off x="6110325" y="1954700"/>
            <a:ext cx="1707398" cy="1234078"/>
            <a:chOff x="6110325" y="1954700"/>
            <a:chExt cx="1707398" cy="1234078"/>
          </a:xfrm>
        </p:grpSpPr>
        <p:sp>
          <p:nvSpPr>
            <p:cNvPr id="766" name="Google Shape;766;p59"/>
            <p:cNvSpPr/>
            <p:nvPr/>
          </p:nvSpPr>
          <p:spPr>
            <a:xfrm rot="5400000" flipH="1">
              <a:off x="6267180" y="2413128"/>
              <a:ext cx="879000" cy="672300"/>
            </a:xfrm>
            <a:prstGeom prst="uturnArrow">
              <a:avLst>
                <a:gd name="adj1" fmla="val 25000"/>
                <a:gd name="adj2" fmla="val 25000"/>
                <a:gd name="adj3" fmla="val 24629"/>
                <a:gd name="adj4" fmla="val 43750"/>
                <a:gd name="adj5" fmla="val 100000"/>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7" name="Google Shape;767;p59"/>
            <p:cNvSpPr txBox="1"/>
            <p:nvPr/>
          </p:nvSpPr>
          <p:spPr>
            <a:xfrm>
              <a:off x="6110325" y="1954700"/>
              <a:ext cx="772500" cy="32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D9D9D9"/>
                  </a:solidFill>
                </a:rPr>
                <a:t>$$$$</a:t>
              </a:r>
              <a:endParaRPr sz="1800" b="1">
                <a:solidFill>
                  <a:srgbClr val="D9D9D9"/>
                </a:solidFill>
              </a:endParaRPr>
            </a:p>
          </p:txBody>
        </p:sp>
        <p:sp>
          <p:nvSpPr>
            <p:cNvPr id="768" name="Google Shape;768;p59"/>
            <p:cNvSpPr txBox="1"/>
            <p:nvPr/>
          </p:nvSpPr>
          <p:spPr>
            <a:xfrm>
              <a:off x="7245323" y="1954700"/>
              <a:ext cx="572400" cy="32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D9D9D9"/>
                  </a:solidFill>
                </a:rPr>
                <a:t>$$</a:t>
              </a:r>
              <a:endParaRPr sz="1800" b="1">
                <a:solidFill>
                  <a:srgbClr val="D9D9D9"/>
                </a:solidFill>
              </a:endParaRPr>
            </a:p>
          </p:txBody>
        </p:sp>
        <p:sp>
          <p:nvSpPr>
            <p:cNvPr id="769" name="Google Shape;769;p59"/>
            <p:cNvSpPr/>
            <p:nvPr/>
          </p:nvSpPr>
          <p:spPr>
            <a:xfrm>
              <a:off x="6882825" y="2372128"/>
              <a:ext cx="672300" cy="443400"/>
            </a:xfrm>
            <a:prstGeom prst="bentArrow">
              <a:avLst>
                <a:gd name="adj1" fmla="val 25000"/>
                <a:gd name="adj2" fmla="val 26477"/>
                <a:gd name="adj3" fmla="val 24010"/>
                <a:gd name="adj4" fmla="val 43750"/>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770" name="Google Shape;770;p59"/>
          <p:cNvSpPr txBox="1"/>
          <p:nvPr/>
        </p:nvSpPr>
        <p:spPr>
          <a:xfrm>
            <a:off x="220775" y="433800"/>
            <a:ext cx="4731000" cy="16329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2200" b="1">
                <a:solidFill>
                  <a:schemeClr val="dk1"/>
                </a:solidFill>
              </a:rPr>
              <a:t>Fairness - Offer size</a:t>
            </a:r>
            <a:endParaRPr sz="22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Fixed $20 endowment</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Fairness (Offer size) </a:t>
            </a:r>
            <a:endParaRPr sz="2000">
              <a:solidFill>
                <a:schemeClr val="dk1"/>
              </a:solidFill>
            </a:endParaRPr>
          </a:p>
          <a:p>
            <a:pPr marL="1371600" lvl="0" indent="0" algn="l" rtl="0">
              <a:lnSpc>
                <a:spcPct val="115000"/>
              </a:lnSpc>
              <a:spcBef>
                <a:spcPts val="0"/>
              </a:spcBef>
              <a:spcAft>
                <a:spcPts val="0"/>
              </a:spcAft>
              <a:buNone/>
            </a:pPr>
            <a:r>
              <a:rPr lang="en" sz="2000">
                <a:solidFill>
                  <a:schemeClr val="dk1"/>
                </a:solidFill>
              </a:rPr>
              <a:t>=  5% ~ 50% ($1 to $10 )</a:t>
            </a:r>
            <a:endParaRPr sz="2000">
              <a:solidFill>
                <a:schemeClr val="dk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74"/>
        <p:cNvGrpSpPr/>
        <p:nvPr/>
      </p:nvGrpSpPr>
      <p:grpSpPr>
        <a:xfrm>
          <a:off x="0" y="0"/>
          <a:ext cx="0" cy="0"/>
          <a:chOff x="0" y="0"/>
          <a:chExt cx="0" cy="0"/>
        </a:xfrm>
      </p:grpSpPr>
      <p:sp>
        <p:nvSpPr>
          <p:cNvPr id="775" name="Google Shape;775;p60"/>
          <p:cNvSpPr/>
          <p:nvPr/>
        </p:nvSpPr>
        <p:spPr>
          <a:xfrm>
            <a:off x="7482452" y="1140100"/>
            <a:ext cx="1503000" cy="2612700"/>
          </a:xfrm>
          <a:prstGeom prst="roundRect">
            <a:avLst>
              <a:gd name="adj" fmla="val 16667"/>
            </a:avLst>
          </a:prstGeom>
          <a:solidFill>
            <a:srgbClr val="FFF2CC"/>
          </a:solidFill>
          <a:ln w="28575" cap="flat" cmpd="sng">
            <a:solidFill>
              <a:schemeClr val="accent6"/>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76" name="Google Shape;776;p60"/>
          <p:cNvSpPr txBox="1"/>
          <p:nvPr/>
        </p:nvSpPr>
        <p:spPr>
          <a:xfrm>
            <a:off x="7507202" y="1295072"/>
            <a:ext cx="1453500" cy="396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b="1">
                <a:solidFill>
                  <a:schemeClr val="dk2"/>
                </a:solidFill>
              </a:rPr>
              <a:t>Recipient</a:t>
            </a:r>
            <a:endParaRPr sz="2200" b="1">
              <a:solidFill>
                <a:schemeClr val="dk2"/>
              </a:solidFill>
            </a:endParaRPr>
          </a:p>
        </p:txBody>
      </p:sp>
      <p:sp>
        <p:nvSpPr>
          <p:cNvPr id="777" name="Google Shape;777;p60"/>
          <p:cNvSpPr txBox="1"/>
          <p:nvPr/>
        </p:nvSpPr>
        <p:spPr>
          <a:xfrm>
            <a:off x="7507202" y="2651607"/>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chemeClr val="accent5"/>
                </a:solidFill>
              </a:rPr>
              <a:t>Accept</a:t>
            </a:r>
            <a:endParaRPr sz="1700" i="1">
              <a:solidFill>
                <a:srgbClr val="EF476F"/>
              </a:solidFill>
            </a:endParaRPr>
          </a:p>
        </p:txBody>
      </p:sp>
      <p:sp>
        <p:nvSpPr>
          <p:cNvPr id="778" name="Google Shape;778;p60"/>
          <p:cNvSpPr txBox="1"/>
          <p:nvPr/>
        </p:nvSpPr>
        <p:spPr>
          <a:xfrm>
            <a:off x="7507202" y="2946813"/>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chemeClr val="dk1"/>
                </a:solidFill>
              </a:rPr>
              <a:t>or</a:t>
            </a:r>
            <a:endParaRPr sz="1700" i="1">
              <a:solidFill>
                <a:srgbClr val="EF476F"/>
              </a:solidFill>
            </a:endParaRPr>
          </a:p>
        </p:txBody>
      </p:sp>
      <p:sp>
        <p:nvSpPr>
          <p:cNvPr id="779" name="Google Shape;779;p60"/>
          <p:cNvSpPr txBox="1"/>
          <p:nvPr/>
        </p:nvSpPr>
        <p:spPr>
          <a:xfrm>
            <a:off x="7507202" y="3242019"/>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rgbClr val="EF476F"/>
                </a:solidFill>
              </a:rPr>
              <a:t>Reject</a:t>
            </a:r>
            <a:endParaRPr sz="1700" i="1">
              <a:solidFill>
                <a:srgbClr val="EF476F"/>
              </a:solidFill>
            </a:endParaRPr>
          </a:p>
        </p:txBody>
      </p:sp>
      <p:sp>
        <p:nvSpPr>
          <p:cNvPr id="780" name="Google Shape;780;p60"/>
          <p:cNvSpPr txBox="1"/>
          <p:nvPr/>
        </p:nvSpPr>
        <p:spPr>
          <a:xfrm>
            <a:off x="5017850" y="282550"/>
            <a:ext cx="3583200" cy="55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b="1">
                <a:solidFill>
                  <a:schemeClr val="dk1"/>
                </a:solidFill>
              </a:rPr>
              <a:t>The Ultimatum Game</a:t>
            </a:r>
            <a:endParaRPr sz="2400" b="1">
              <a:solidFill>
                <a:schemeClr val="dk1"/>
              </a:solidFill>
            </a:endParaRPr>
          </a:p>
        </p:txBody>
      </p:sp>
      <p:grpSp>
        <p:nvGrpSpPr>
          <p:cNvPr id="781" name="Google Shape;781;p60"/>
          <p:cNvGrpSpPr/>
          <p:nvPr/>
        </p:nvGrpSpPr>
        <p:grpSpPr>
          <a:xfrm>
            <a:off x="5297175" y="1780398"/>
            <a:ext cx="669387" cy="1147641"/>
            <a:chOff x="6972439" y="1368106"/>
            <a:chExt cx="413100" cy="696807"/>
          </a:xfrm>
        </p:grpSpPr>
        <p:sp>
          <p:nvSpPr>
            <p:cNvPr id="782" name="Google Shape;782;p60"/>
            <p:cNvSpPr/>
            <p:nvPr/>
          </p:nvSpPr>
          <p:spPr>
            <a:xfrm rot="-5400000" flipH="1">
              <a:off x="6972439" y="1651813"/>
              <a:ext cx="413100" cy="413100"/>
            </a:xfrm>
            <a:prstGeom prst="chord">
              <a:avLst>
                <a:gd name="adj1" fmla="val 5399588"/>
                <a:gd name="adj2" fmla="val 16200000"/>
              </a:avLst>
            </a:prstGeom>
            <a:solidFill>
              <a:srgbClr val="980000"/>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83" name="Google Shape;783;p60"/>
            <p:cNvSpPr/>
            <p:nvPr/>
          </p:nvSpPr>
          <p:spPr>
            <a:xfrm flipH="1">
              <a:off x="7037078" y="1368106"/>
              <a:ext cx="283800" cy="283800"/>
            </a:xfrm>
            <a:prstGeom prst="ellipse">
              <a:avLst/>
            </a:prstGeom>
            <a:solidFill>
              <a:srgbClr val="980000"/>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784" name="Google Shape;784;p60"/>
          <p:cNvSpPr txBox="1"/>
          <p:nvPr/>
        </p:nvSpPr>
        <p:spPr>
          <a:xfrm>
            <a:off x="4890300" y="1295075"/>
            <a:ext cx="1453500" cy="396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b="1">
                <a:solidFill>
                  <a:srgbClr val="980000"/>
                </a:solidFill>
              </a:rPr>
              <a:t>Proposer</a:t>
            </a:r>
            <a:endParaRPr sz="2200" b="1">
              <a:solidFill>
                <a:srgbClr val="980000"/>
              </a:solidFill>
            </a:endParaRPr>
          </a:p>
        </p:txBody>
      </p:sp>
      <p:grpSp>
        <p:nvGrpSpPr>
          <p:cNvPr id="785" name="Google Shape;785;p60"/>
          <p:cNvGrpSpPr/>
          <p:nvPr/>
        </p:nvGrpSpPr>
        <p:grpSpPr>
          <a:xfrm>
            <a:off x="7895548" y="1780398"/>
            <a:ext cx="669387" cy="1147641"/>
            <a:chOff x="6972439" y="1368106"/>
            <a:chExt cx="413100" cy="696807"/>
          </a:xfrm>
        </p:grpSpPr>
        <p:sp>
          <p:nvSpPr>
            <p:cNvPr id="786" name="Google Shape;786;p60"/>
            <p:cNvSpPr/>
            <p:nvPr/>
          </p:nvSpPr>
          <p:spPr>
            <a:xfrm rot="-5400000" flipH="1">
              <a:off x="6972439" y="1651813"/>
              <a:ext cx="413100" cy="413100"/>
            </a:xfrm>
            <a:prstGeom prst="chord">
              <a:avLst>
                <a:gd name="adj1" fmla="val 5399588"/>
                <a:gd name="adj2" fmla="val 16200000"/>
              </a:avLst>
            </a:prstGeom>
            <a:solidFill>
              <a:schemeClr val="dk2"/>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60"/>
            <p:cNvSpPr/>
            <p:nvPr/>
          </p:nvSpPr>
          <p:spPr>
            <a:xfrm flipH="1">
              <a:off x="7037078" y="1368106"/>
              <a:ext cx="283800" cy="283800"/>
            </a:xfrm>
            <a:prstGeom prst="ellipse">
              <a:avLst/>
            </a:prstGeom>
            <a:solidFill>
              <a:schemeClr val="dk2"/>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88" name="Google Shape;788;p60" descr="Money Icon PNG Images, Vectors Free Download - Pngtree"/>
          <p:cNvPicPr preferRelativeResize="0"/>
          <p:nvPr/>
        </p:nvPicPr>
        <p:blipFill>
          <a:blip r:embed="rId3">
            <a:alphaModFix/>
          </a:blip>
          <a:stretch>
            <a:fillRect/>
          </a:stretch>
        </p:blipFill>
        <p:spPr>
          <a:xfrm>
            <a:off x="5180482" y="2642167"/>
            <a:ext cx="903210" cy="917790"/>
          </a:xfrm>
          <a:prstGeom prst="rect">
            <a:avLst/>
          </a:prstGeom>
          <a:noFill/>
          <a:ln>
            <a:noFill/>
          </a:ln>
        </p:spPr>
      </p:pic>
      <p:sp>
        <p:nvSpPr>
          <p:cNvPr id="789" name="Google Shape;789;p6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44</a:t>
            </a:fld>
            <a:endParaRPr/>
          </a:p>
        </p:txBody>
      </p:sp>
      <p:sp>
        <p:nvSpPr>
          <p:cNvPr id="790" name="Google Shape;790;p60"/>
          <p:cNvSpPr txBox="1"/>
          <p:nvPr/>
        </p:nvSpPr>
        <p:spPr>
          <a:xfrm>
            <a:off x="7148425" y="2538344"/>
            <a:ext cx="669300" cy="38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2"/>
                </a:solidFill>
              </a:rPr>
              <a:t>offer</a:t>
            </a:r>
            <a:endParaRPr sz="1800">
              <a:solidFill>
                <a:schemeClr val="dk2"/>
              </a:solidFill>
            </a:endParaRPr>
          </a:p>
        </p:txBody>
      </p:sp>
      <p:sp>
        <p:nvSpPr>
          <p:cNvPr id="791" name="Google Shape;791;p60"/>
          <p:cNvSpPr txBox="1"/>
          <p:nvPr/>
        </p:nvSpPr>
        <p:spPr>
          <a:xfrm>
            <a:off x="6110325" y="2538350"/>
            <a:ext cx="903300" cy="38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2"/>
                </a:solidFill>
              </a:rPr>
              <a:t>keep</a:t>
            </a:r>
            <a:endParaRPr sz="1800">
              <a:solidFill>
                <a:schemeClr val="dk2"/>
              </a:solidFill>
            </a:endParaRPr>
          </a:p>
        </p:txBody>
      </p:sp>
      <p:sp>
        <p:nvSpPr>
          <p:cNvPr id="792" name="Google Shape;792;p60"/>
          <p:cNvSpPr txBox="1"/>
          <p:nvPr/>
        </p:nvSpPr>
        <p:spPr>
          <a:xfrm>
            <a:off x="220775" y="2106950"/>
            <a:ext cx="4557900" cy="1309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200" b="1">
                <a:solidFill>
                  <a:schemeClr val="dk1"/>
                </a:solidFill>
              </a:rPr>
              <a:t>Aging - Participant Age</a:t>
            </a:r>
            <a:endParaRPr sz="22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Younger adults (18-35, N = 25)</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Older adult (65-80, N = 22)</a:t>
            </a:r>
            <a:endParaRPr sz="2000">
              <a:solidFill>
                <a:schemeClr val="dk1"/>
              </a:solidFill>
            </a:endParaRPr>
          </a:p>
        </p:txBody>
      </p:sp>
      <p:sp>
        <p:nvSpPr>
          <p:cNvPr id="793" name="Google Shape;793;p60"/>
          <p:cNvSpPr/>
          <p:nvPr/>
        </p:nvSpPr>
        <p:spPr>
          <a:xfrm rot="5690350">
            <a:off x="5951188" y="1738078"/>
            <a:ext cx="1984373" cy="1754345"/>
          </a:xfrm>
          <a:prstGeom prst="wedgeEllipseCallout">
            <a:avLst>
              <a:gd name="adj1" fmla="val -16836"/>
              <a:gd name="adj2" fmla="val 64246"/>
            </a:avLst>
          </a:prstGeom>
          <a:noFill/>
          <a:ln w="2857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794" name="Google Shape;794;p60"/>
          <p:cNvGrpSpPr/>
          <p:nvPr/>
        </p:nvGrpSpPr>
        <p:grpSpPr>
          <a:xfrm>
            <a:off x="6110325" y="1954700"/>
            <a:ext cx="1707398" cy="1234078"/>
            <a:chOff x="6110325" y="1954700"/>
            <a:chExt cx="1707398" cy="1234078"/>
          </a:xfrm>
        </p:grpSpPr>
        <p:sp>
          <p:nvSpPr>
            <p:cNvPr id="795" name="Google Shape;795;p60"/>
            <p:cNvSpPr/>
            <p:nvPr/>
          </p:nvSpPr>
          <p:spPr>
            <a:xfrm rot="5400000" flipH="1">
              <a:off x="6267180" y="2413128"/>
              <a:ext cx="879000" cy="672300"/>
            </a:xfrm>
            <a:prstGeom prst="uturnArrow">
              <a:avLst>
                <a:gd name="adj1" fmla="val 25000"/>
                <a:gd name="adj2" fmla="val 25000"/>
                <a:gd name="adj3" fmla="val 24629"/>
                <a:gd name="adj4" fmla="val 43750"/>
                <a:gd name="adj5" fmla="val 100000"/>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96" name="Google Shape;796;p60"/>
            <p:cNvSpPr txBox="1"/>
            <p:nvPr/>
          </p:nvSpPr>
          <p:spPr>
            <a:xfrm>
              <a:off x="6110325" y="1954700"/>
              <a:ext cx="772500" cy="32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D9D9D9"/>
                  </a:solidFill>
                </a:rPr>
                <a:t>$$$$</a:t>
              </a:r>
              <a:endParaRPr sz="1800" b="1">
                <a:solidFill>
                  <a:srgbClr val="D9D9D9"/>
                </a:solidFill>
              </a:endParaRPr>
            </a:p>
          </p:txBody>
        </p:sp>
        <p:sp>
          <p:nvSpPr>
            <p:cNvPr id="797" name="Google Shape;797;p60"/>
            <p:cNvSpPr txBox="1"/>
            <p:nvPr/>
          </p:nvSpPr>
          <p:spPr>
            <a:xfrm>
              <a:off x="7245323" y="1954700"/>
              <a:ext cx="572400" cy="32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D9D9D9"/>
                  </a:solidFill>
                </a:rPr>
                <a:t>$$</a:t>
              </a:r>
              <a:endParaRPr sz="1800" b="1">
                <a:solidFill>
                  <a:srgbClr val="D9D9D9"/>
                </a:solidFill>
              </a:endParaRPr>
            </a:p>
          </p:txBody>
        </p:sp>
        <p:sp>
          <p:nvSpPr>
            <p:cNvPr id="798" name="Google Shape;798;p60"/>
            <p:cNvSpPr/>
            <p:nvPr/>
          </p:nvSpPr>
          <p:spPr>
            <a:xfrm>
              <a:off x="6882825" y="2372128"/>
              <a:ext cx="672300" cy="443400"/>
            </a:xfrm>
            <a:prstGeom prst="bentArrow">
              <a:avLst>
                <a:gd name="adj1" fmla="val 25000"/>
                <a:gd name="adj2" fmla="val 26477"/>
                <a:gd name="adj3" fmla="val 24010"/>
                <a:gd name="adj4" fmla="val 43750"/>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799" name="Google Shape;799;p60"/>
          <p:cNvSpPr txBox="1"/>
          <p:nvPr/>
        </p:nvSpPr>
        <p:spPr>
          <a:xfrm>
            <a:off x="220775" y="433800"/>
            <a:ext cx="4731000" cy="16329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2200" b="1">
                <a:solidFill>
                  <a:schemeClr val="dk1"/>
                </a:solidFill>
              </a:rPr>
              <a:t>Fairness - Offer size</a:t>
            </a:r>
            <a:endParaRPr sz="22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Fixed $20 endowment</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Fairness (Offer size) </a:t>
            </a:r>
            <a:endParaRPr sz="2000">
              <a:solidFill>
                <a:schemeClr val="dk1"/>
              </a:solidFill>
            </a:endParaRPr>
          </a:p>
          <a:p>
            <a:pPr marL="1371600" lvl="0" indent="0" algn="l" rtl="0">
              <a:lnSpc>
                <a:spcPct val="115000"/>
              </a:lnSpc>
              <a:spcBef>
                <a:spcPts val="0"/>
              </a:spcBef>
              <a:spcAft>
                <a:spcPts val="0"/>
              </a:spcAft>
              <a:buNone/>
            </a:pPr>
            <a:r>
              <a:rPr lang="en" sz="2000">
                <a:solidFill>
                  <a:schemeClr val="dk1"/>
                </a:solidFill>
              </a:rPr>
              <a:t>=  5% ~ 50% ($1 to $10 )</a:t>
            </a:r>
            <a:endParaRPr sz="2000">
              <a:solidFill>
                <a:schemeClr val="dk1"/>
              </a:solidFill>
            </a:endParaRPr>
          </a:p>
        </p:txBody>
      </p:sp>
      <p:sp>
        <p:nvSpPr>
          <p:cNvPr id="800" name="Google Shape;800;p60"/>
          <p:cNvSpPr txBox="1"/>
          <p:nvPr/>
        </p:nvSpPr>
        <p:spPr>
          <a:xfrm>
            <a:off x="220775" y="3457000"/>
            <a:ext cx="4847700" cy="1309800"/>
          </a:xfrm>
          <a:prstGeom prst="rect">
            <a:avLst/>
          </a:prstGeom>
          <a:solidFill>
            <a:schemeClr val="lt1"/>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200" b="1">
                <a:solidFill>
                  <a:schemeClr val="dk1"/>
                </a:solidFill>
              </a:rPr>
              <a:t>Social Context - Partner Similarity</a:t>
            </a:r>
            <a:endParaRPr sz="22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Similar partner</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Dissimilar partner</a:t>
            </a:r>
            <a:endParaRPr sz="2000">
              <a:solidFill>
                <a:schemeClr val="dk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5" name="Google Shape;805;p61"/>
          <p:cNvSpPr/>
          <p:nvPr/>
        </p:nvSpPr>
        <p:spPr>
          <a:xfrm>
            <a:off x="7482452" y="1140100"/>
            <a:ext cx="1503000" cy="2612700"/>
          </a:xfrm>
          <a:prstGeom prst="roundRect">
            <a:avLst>
              <a:gd name="adj" fmla="val 16667"/>
            </a:avLst>
          </a:prstGeom>
          <a:solidFill>
            <a:srgbClr val="FFF2CC"/>
          </a:solidFill>
          <a:ln w="28575" cap="flat" cmpd="sng">
            <a:solidFill>
              <a:schemeClr val="accent6"/>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06" name="Google Shape;806;p61"/>
          <p:cNvSpPr txBox="1"/>
          <p:nvPr/>
        </p:nvSpPr>
        <p:spPr>
          <a:xfrm>
            <a:off x="7507202" y="1295072"/>
            <a:ext cx="1453500" cy="396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b="1">
                <a:solidFill>
                  <a:schemeClr val="dk2"/>
                </a:solidFill>
              </a:rPr>
              <a:t>Recipient</a:t>
            </a:r>
            <a:endParaRPr sz="2200" b="1">
              <a:solidFill>
                <a:schemeClr val="dk2"/>
              </a:solidFill>
            </a:endParaRPr>
          </a:p>
        </p:txBody>
      </p:sp>
      <p:sp>
        <p:nvSpPr>
          <p:cNvPr id="807" name="Google Shape;807;p61"/>
          <p:cNvSpPr txBox="1"/>
          <p:nvPr/>
        </p:nvSpPr>
        <p:spPr>
          <a:xfrm>
            <a:off x="7507202" y="2651607"/>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chemeClr val="accent5"/>
                </a:solidFill>
              </a:rPr>
              <a:t>Accept</a:t>
            </a:r>
            <a:endParaRPr sz="1700" i="1">
              <a:solidFill>
                <a:srgbClr val="EF476F"/>
              </a:solidFill>
            </a:endParaRPr>
          </a:p>
        </p:txBody>
      </p:sp>
      <p:sp>
        <p:nvSpPr>
          <p:cNvPr id="808" name="Google Shape;808;p61"/>
          <p:cNvSpPr txBox="1"/>
          <p:nvPr/>
        </p:nvSpPr>
        <p:spPr>
          <a:xfrm>
            <a:off x="7507202" y="2946813"/>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chemeClr val="dk1"/>
                </a:solidFill>
              </a:rPr>
              <a:t>or</a:t>
            </a:r>
            <a:endParaRPr sz="1700" i="1">
              <a:solidFill>
                <a:srgbClr val="EF476F"/>
              </a:solidFill>
            </a:endParaRPr>
          </a:p>
        </p:txBody>
      </p:sp>
      <p:sp>
        <p:nvSpPr>
          <p:cNvPr id="809" name="Google Shape;809;p61"/>
          <p:cNvSpPr txBox="1"/>
          <p:nvPr/>
        </p:nvSpPr>
        <p:spPr>
          <a:xfrm>
            <a:off x="7507202" y="3242019"/>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rgbClr val="EF476F"/>
                </a:solidFill>
              </a:rPr>
              <a:t>Reject</a:t>
            </a:r>
            <a:endParaRPr sz="1700" i="1">
              <a:solidFill>
                <a:srgbClr val="EF476F"/>
              </a:solidFill>
            </a:endParaRPr>
          </a:p>
        </p:txBody>
      </p:sp>
      <p:sp>
        <p:nvSpPr>
          <p:cNvPr id="810" name="Google Shape;810;p61"/>
          <p:cNvSpPr txBox="1"/>
          <p:nvPr/>
        </p:nvSpPr>
        <p:spPr>
          <a:xfrm>
            <a:off x="5017850" y="282550"/>
            <a:ext cx="3583200" cy="55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b="1">
                <a:solidFill>
                  <a:schemeClr val="dk1"/>
                </a:solidFill>
              </a:rPr>
              <a:t>The Ultimatum Game</a:t>
            </a:r>
            <a:endParaRPr sz="2400" b="1">
              <a:solidFill>
                <a:schemeClr val="dk1"/>
              </a:solidFill>
            </a:endParaRPr>
          </a:p>
        </p:txBody>
      </p:sp>
      <p:grpSp>
        <p:nvGrpSpPr>
          <p:cNvPr id="811" name="Google Shape;811;p61"/>
          <p:cNvGrpSpPr/>
          <p:nvPr/>
        </p:nvGrpSpPr>
        <p:grpSpPr>
          <a:xfrm>
            <a:off x="5297175" y="1780398"/>
            <a:ext cx="669387" cy="1147641"/>
            <a:chOff x="6972439" y="1368106"/>
            <a:chExt cx="413100" cy="696807"/>
          </a:xfrm>
        </p:grpSpPr>
        <p:sp>
          <p:nvSpPr>
            <p:cNvPr id="812" name="Google Shape;812;p61"/>
            <p:cNvSpPr/>
            <p:nvPr/>
          </p:nvSpPr>
          <p:spPr>
            <a:xfrm rot="-5400000" flipH="1">
              <a:off x="6972439" y="1651813"/>
              <a:ext cx="413100" cy="413100"/>
            </a:xfrm>
            <a:prstGeom prst="chord">
              <a:avLst>
                <a:gd name="adj1" fmla="val 5399588"/>
                <a:gd name="adj2" fmla="val 16200000"/>
              </a:avLst>
            </a:prstGeom>
            <a:solidFill>
              <a:srgbClr val="980000"/>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13" name="Google Shape;813;p61"/>
            <p:cNvSpPr/>
            <p:nvPr/>
          </p:nvSpPr>
          <p:spPr>
            <a:xfrm flipH="1">
              <a:off x="7037078" y="1368106"/>
              <a:ext cx="283800" cy="283800"/>
            </a:xfrm>
            <a:prstGeom prst="ellipse">
              <a:avLst/>
            </a:prstGeom>
            <a:solidFill>
              <a:srgbClr val="980000"/>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814" name="Google Shape;814;p61"/>
          <p:cNvSpPr txBox="1"/>
          <p:nvPr/>
        </p:nvSpPr>
        <p:spPr>
          <a:xfrm>
            <a:off x="4890300" y="1295075"/>
            <a:ext cx="1453500" cy="396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b="1">
                <a:solidFill>
                  <a:srgbClr val="980000"/>
                </a:solidFill>
              </a:rPr>
              <a:t>Proposer</a:t>
            </a:r>
            <a:endParaRPr sz="2200" b="1">
              <a:solidFill>
                <a:srgbClr val="980000"/>
              </a:solidFill>
            </a:endParaRPr>
          </a:p>
        </p:txBody>
      </p:sp>
      <p:grpSp>
        <p:nvGrpSpPr>
          <p:cNvPr id="815" name="Google Shape;815;p61"/>
          <p:cNvGrpSpPr/>
          <p:nvPr/>
        </p:nvGrpSpPr>
        <p:grpSpPr>
          <a:xfrm>
            <a:off x="7895548" y="1780398"/>
            <a:ext cx="669387" cy="1147641"/>
            <a:chOff x="6972439" y="1368106"/>
            <a:chExt cx="413100" cy="696807"/>
          </a:xfrm>
        </p:grpSpPr>
        <p:sp>
          <p:nvSpPr>
            <p:cNvPr id="816" name="Google Shape;816;p61"/>
            <p:cNvSpPr/>
            <p:nvPr/>
          </p:nvSpPr>
          <p:spPr>
            <a:xfrm rot="-5400000" flipH="1">
              <a:off x="6972439" y="1651813"/>
              <a:ext cx="413100" cy="413100"/>
            </a:xfrm>
            <a:prstGeom prst="chord">
              <a:avLst>
                <a:gd name="adj1" fmla="val 5399588"/>
                <a:gd name="adj2" fmla="val 16200000"/>
              </a:avLst>
            </a:prstGeom>
            <a:solidFill>
              <a:schemeClr val="dk2"/>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61"/>
            <p:cNvSpPr/>
            <p:nvPr/>
          </p:nvSpPr>
          <p:spPr>
            <a:xfrm flipH="1">
              <a:off x="7037078" y="1368106"/>
              <a:ext cx="283800" cy="283800"/>
            </a:xfrm>
            <a:prstGeom prst="ellipse">
              <a:avLst/>
            </a:prstGeom>
            <a:solidFill>
              <a:schemeClr val="dk2"/>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818" name="Google Shape;818;p61" descr="Money Icon PNG Images, Vectors Free Download - Pngtree"/>
          <p:cNvPicPr preferRelativeResize="0"/>
          <p:nvPr/>
        </p:nvPicPr>
        <p:blipFill>
          <a:blip r:embed="rId3">
            <a:alphaModFix/>
          </a:blip>
          <a:stretch>
            <a:fillRect/>
          </a:stretch>
        </p:blipFill>
        <p:spPr>
          <a:xfrm>
            <a:off x="5180482" y="2642167"/>
            <a:ext cx="903210" cy="917790"/>
          </a:xfrm>
          <a:prstGeom prst="rect">
            <a:avLst/>
          </a:prstGeom>
          <a:noFill/>
          <a:ln>
            <a:noFill/>
          </a:ln>
        </p:spPr>
      </p:pic>
      <p:sp>
        <p:nvSpPr>
          <p:cNvPr id="819" name="Google Shape;819;p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45</a:t>
            </a:fld>
            <a:endParaRPr/>
          </a:p>
        </p:txBody>
      </p:sp>
      <p:sp>
        <p:nvSpPr>
          <p:cNvPr id="820" name="Google Shape;820;p61"/>
          <p:cNvSpPr txBox="1"/>
          <p:nvPr/>
        </p:nvSpPr>
        <p:spPr>
          <a:xfrm>
            <a:off x="7148425" y="2538344"/>
            <a:ext cx="669300" cy="38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2"/>
                </a:solidFill>
              </a:rPr>
              <a:t>offer</a:t>
            </a:r>
            <a:endParaRPr sz="1800">
              <a:solidFill>
                <a:schemeClr val="dk2"/>
              </a:solidFill>
            </a:endParaRPr>
          </a:p>
        </p:txBody>
      </p:sp>
      <p:sp>
        <p:nvSpPr>
          <p:cNvPr id="821" name="Google Shape;821;p61"/>
          <p:cNvSpPr txBox="1"/>
          <p:nvPr/>
        </p:nvSpPr>
        <p:spPr>
          <a:xfrm>
            <a:off x="6110325" y="2538350"/>
            <a:ext cx="903300" cy="38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2"/>
                </a:solidFill>
              </a:rPr>
              <a:t>keep</a:t>
            </a:r>
            <a:endParaRPr sz="1800">
              <a:solidFill>
                <a:schemeClr val="dk2"/>
              </a:solidFill>
            </a:endParaRPr>
          </a:p>
        </p:txBody>
      </p:sp>
      <p:sp>
        <p:nvSpPr>
          <p:cNvPr id="822" name="Google Shape;822;p61"/>
          <p:cNvSpPr txBox="1"/>
          <p:nvPr/>
        </p:nvSpPr>
        <p:spPr>
          <a:xfrm>
            <a:off x="220775" y="2106950"/>
            <a:ext cx="4557900" cy="1309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200" b="1">
                <a:solidFill>
                  <a:schemeClr val="dk1"/>
                </a:solidFill>
              </a:rPr>
              <a:t>Aging - Participant Age</a:t>
            </a:r>
            <a:endParaRPr sz="22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Younger adults (18-35, N = 25)</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Older adult (65-80, N = 22)</a:t>
            </a:r>
            <a:endParaRPr sz="2000">
              <a:solidFill>
                <a:schemeClr val="dk1"/>
              </a:solidFill>
            </a:endParaRPr>
          </a:p>
        </p:txBody>
      </p:sp>
      <p:sp>
        <p:nvSpPr>
          <p:cNvPr id="823" name="Google Shape;823;p61"/>
          <p:cNvSpPr/>
          <p:nvPr/>
        </p:nvSpPr>
        <p:spPr>
          <a:xfrm rot="5690350">
            <a:off x="5951188" y="1738078"/>
            <a:ext cx="1984373" cy="1754345"/>
          </a:xfrm>
          <a:prstGeom prst="wedgeEllipseCallout">
            <a:avLst>
              <a:gd name="adj1" fmla="val -16836"/>
              <a:gd name="adj2" fmla="val 64246"/>
            </a:avLst>
          </a:prstGeom>
          <a:noFill/>
          <a:ln w="2857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824" name="Google Shape;824;p61"/>
          <p:cNvGrpSpPr/>
          <p:nvPr/>
        </p:nvGrpSpPr>
        <p:grpSpPr>
          <a:xfrm>
            <a:off x="6110325" y="1954700"/>
            <a:ext cx="1707398" cy="1234078"/>
            <a:chOff x="6110325" y="1954700"/>
            <a:chExt cx="1707398" cy="1234078"/>
          </a:xfrm>
        </p:grpSpPr>
        <p:sp>
          <p:nvSpPr>
            <p:cNvPr id="825" name="Google Shape;825;p61"/>
            <p:cNvSpPr/>
            <p:nvPr/>
          </p:nvSpPr>
          <p:spPr>
            <a:xfrm rot="5400000" flipH="1">
              <a:off x="6267180" y="2413128"/>
              <a:ext cx="879000" cy="672300"/>
            </a:xfrm>
            <a:prstGeom prst="uturnArrow">
              <a:avLst>
                <a:gd name="adj1" fmla="val 25000"/>
                <a:gd name="adj2" fmla="val 25000"/>
                <a:gd name="adj3" fmla="val 24629"/>
                <a:gd name="adj4" fmla="val 43750"/>
                <a:gd name="adj5" fmla="val 100000"/>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6" name="Google Shape;826;p61"/>
            <p:cNvSpPr txBox="1"/>
            <p:nvPr/>
          </p:nvSpPr>
          <p:spPr>
            <a:xfrm>
              <a:off x="6110325" y="1954700"/>
              <a:ext cx="772500" cy="32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D9D9D9"/>
                  </a:solidFill>
                </a:rPr>
                <a:t>$$$$</a:t>
              </a:r>
              <a:endParaRPr sz="1800" b="1">
                <a:solidFill>
                  <a:srgbClr val="D9D9D9"/>
                </a:solidFill>
              </a:endParaRPr>
            </a:p>
          </p:txBody>
        </p:sp>
        <p:sp>
          <p:nvSpPr>
            <p:cNvPr id="827" name="Google Shape;827;p61"/>
            <p:cNvSpPr txBox="1"/>
            <p:nvPr/>
          </p:nvSpPr>
          <p:spPr>
            <a:xfrm>
              <a:off x="7245323" y="1954700"/>
              <a:ext cx="572400" cy="32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D9D9D9"/>
                  </a:solidFill>
                </a:rPr>
                <a:t>$$</a:t>
              </a:r>
              <a:endParaRPr sz="1800" b="1">
                <a:solidFill>
                  <a:srgbClr val="D9D9D9"/>
                </a:solidFill>
              </a:endParaRPr>
            </a:p>
          </p:txBody>
        </p:sp>
        <p:sp>
          <p:nvSpPr>
            <p:cNvPr id="828" name="Google Shape;828;p61"/>
            <p:cNvSpPr/>
            <p:nvPr/>
          </p:nvSpPr>
          <p:spPr>
            <a:xfrm>
              <a:off x="6882825" y="2372128"/>
              <a:ext cx="672300" cy="443400"/>
            </a:xfrm>
            <a:prstGeom prst="bentArrow">
              <a:avLst>
                <a:gd name="adj1" fmla="val 25000"/>
                <a:gd name="adj2" fmla="val 26477"/>
                <a:gd name="adj3" fmla="val 24010"/>
                <a:gd name="adj4" fmla="val 43750"/>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829" name="Google Shape;829;p61"/>
          <p:cNvSpPr txBox="1"/>
          <p:nvPr/>
        </p:nvSpPr>
        <p:spPr>
          <a:xfrm>
            <a:off x="220775" y="433800"/>
            <a:ext cx="4731000" cy="16329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2200" b="1">
                <a:solidFill>
                  <a:schemeClr val="dk1"/>
                </a:solidFill>
              </a:rPr>
              <a:t>Fairness - Offer size</a:t>
            </a:r>
            <a:endParaRPr sz="22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Fixed $20 endowment</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Fairness (Offer size) </a:t>
            </a:r>
            <a:endParaRPr sz="2000">
              <a:solidFill>
                <a:schemeClr val="dk1"/>
              </a:solidFill>
            </a:endParaRPr>
          </a:p>
          <a:p>
            <a:pPr marL="1371600" lvl="0" indent="0" algn="l" rtl="0">
              <a:lnSpc>
                <a:spcPct val="115000"/>
              </a:lnSpc>
              <a:spcBef>
                <a:spcPts val="0"/>
              </a:spcBef>
              <a:spcAft>
                <a:spcPts val="0"/>
              </a:spcAft>
              <a:buNone/>
            </a:pPr>
            <a:r>
              <a:rPr lang="en" sz="2000">
                <a:solidFill>
                  <a:schemeClr val="dk1"/>
                </a:solidFill>
              </a:rPr>
              <a:t>=  5% ~ 50% ($1 to $10 )</a:t>
            </a:r>
            <a:endParaRPr sz="2000">
              <a:solidFill>
                <a:schemeClr val="dk1"/>
              </a:solidFill>
            </a:endParaRPr>
          </a:p>
        </p:txBody>
      </p:sp>
      <p:sp>
        <p:nvSpPr>
          <p:cNvPr id="830" name="Google Shape;830;p61"/>
          <p:cNvSpPr txBox="1"/>
          <p:nvPr/>
        </p:nvSpPr>
        <p:spPr>
          <a:xfrm>
            <a:off x="220775" y="3457000"/>
            <a:ext cx="4847700" cy="1309800"/>
          </a:xfrm>
          <a:prstGeom prst="rect">
            <a:avLst/>
          </a:prstGeom>
          <a:solidFill>
            <a:schemeClr val="lt1"/>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200" b="1">
                <a:solidFill>
                  <a:schemeClr val="dk1"/>
                </a:solidFill>
              </a:rPr>
              <a:t>Social Context - Partner Similarity</a:t>
            </a:r>
            <a:endParaRPr sz="22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Similar partner = age matched</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Dissimilar partner </a:t>
            </a:r>
            <a:endParaRPr sz="2000">
              <a:solidFill>
                <a:schemeClr val="dk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p62"/>
          <p:cNvSpPr/>
          <p:nvPr/>
        </p:nvSpPr>
        <p:spPr>
          <a:xfrm>
            <a:off x="7482452" y="1140100"/>
            <a:ext cx="1503000" cy="2612700"/>
          </a:xfrm>
          <a:prstGeom prst="roundRect">
            <a:avLst>
              <a:gd name="adj" fmla="val 16667"/>
            </a:avLst>
          </a:prstGeom>
          <a:solidFill>
            <a:srgbClr val="FFF2CC"/>
          </a:solidFill>
          <a:ln w="28575" cap="flat" cmpd="sng">
            <a:solidFill>
              <a:schemeClr val="accent6"/>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36" name="Google Shape;836;p62"/>
          <p:cNvSpPr txBox="1"/>
          <p:nvPr/>
        </p:nvSpPr>
        <p:spPr>
          <a:xfrm>
            <a:off x="7507202" y="1295072"/>
            <a:ext cx="1453500" cy="396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b="1">
                <a:solidFill>
                  <a:schemeClr val="dk2"/>
                </a:solidFill>
              </a:rPr>
              <a:t>Recipient</a:t>
            </a:r>
            <a:endParaRPr sz="2200" b="1">
              <a:solidFill>
                <a:schemeClr val="dk2"/>
              </a:solidFill>
            </a:endParaRPr>
          </a:p>
        </p:txBody>
      </p:sp>
      <p:sp>
        <p:nvSpPr>
          <p:cNvPr id="837" name="Google Shape;837;p62"/>
          <p:cNvSpPr txBox="1"/>
          <p:nvPr/>
        </p:nvSpPr>
        <p:spPr>
          <a:xfrm>
            <a:off x="7507202" y="2651607"/>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chemeClr val="accent5"/>
                </a:solidFill>
              </a:rPr>
              <a:t>Accept</a:t>
            </a:r>
            <a:endParaRPr sz="1700" i="1">
              <a:solidFill>
                <a:srgbClr val="EF476F"/>
              </a:solidFill>
            </a:endParaRPr>
          </a:p>
        </p:txBody>
      </p:sp>
      <p:sp>
        <p:nvSpPr>
          <p:cNvPr id="838" name="Google Shape;838;p62"/>
          <p:cNvSpPr txBox="1"/>
          <p:nvPr/>
        </p:nvSpPr>
        <p:spPr>
          <a:xfrm>
            <a:off x="7507202" y="2946813"/>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chemeClr val="dk1"/>
                </a:solidFill>
              </a:rPr>
              <a:t>or</a:t>
            </a:r>
            <a:endParaRPr sz="1700" i="1">
              <a:solidFill>
                <a:srgbClr val="EF476F"/>
              </a:solidFill>
            </a:endParaRPr>
          </a:p>
        </p:txBody>
      </p:sp>
      <p:sp>
        <p:nvSpPr>
          <p:cNvPr id="839" name="Google Shape;839;p62"/>
          <p:cNvSpPr txBox="1"/>
          <p:nvPr/>
        </p:nvSpPr>
        <p:spPr>
          <a:xfrm>
            <a:off x="7507202" y="3242019"/>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rgbClr val="EF476F"/>
                </a:solidFill>
              </a:rPr>
              <a:t>Reject</a:t>
            </a:r>
            <a:endParaRPr sz="1700" i="1">
              <a:solidFill>
                <a:srgbClr val="EF476F"/>
              </a:solidFill>
            </a:endParaRPr>
          </a:p>
        </p:txBody>
      </p:sp>
      <p:sp>
        <p:nvSpPr>
          <p:cNvPr id="840" name="Google Shape;840;p62"/>
          <p:cNvSpPr txBox="1"/>
          <p:nvPr/>
        </p:nvSpPr>
        <p:spPr>
          <a:xfrm>
            <a:off x="5017850" y="282550"/>
            <a:ext cx="3583200" cy="55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b="1">
                <a:solidFill>
                  <a:schemeClr val="dk1"/>
                </a:solidFill>
              </a:rPr>
              <a:t>The Ultimatum Game</a:t>
            </a:r>
            <a:endParaRPr sz="2400" b="1">
              <a:solidFill>
                <a:schemeClr val="dk1"/>
              </a:solidFill>
            </a:endParaRPr>
          </a:p>
        </p:txBody>
      </p:sp>
      <p:grpSp>
        <p:nvGrpSpPr>
          <p:cNvPr id="841" name="Google Shape;841;p62"/>
          <p:cNvGrpSpPr/>
          <p:nvPr/>
        </p:nvGrpSpPr>
        <p:grpSpPr>
          <a:xfrm>
            <a:off x="5297175" y="1780398"/>
            <a:ext cx="669387" cy="1147641"/>
            <a:chOff x="6972439" y="1368106"/>
            <a:chExt cx="413100" cy="696807"/>
          </a:xfrm>
        </p:grpSpPr>
        <p:sp>
          <p:nvSpPr>
            <p:cNvPr id="842" name="Google Shape;842;p62"/>
            <p:cNvSpPr/>
            <p:nvPr/>
          </p:nvSpPr>
          <p:spPr>
            <a:xfrm rot="-5400000" flipH="1">
              <a:off x="6972439" y="1651813"/>
              <a:ext cx="413100" cy="413100"/>
            </a:xfrm>
            <a:prstGeom prst="chord">
              <a:avLst>
                <a:gd name="adj1" fmla="val 5399588"/>
                <a:gd name="adj2" fmla="val 16200000"/>
              </a:avLst>
            </a:prstGeom>
            <a:solidFill>
              <a:srgbClr val="980000"/>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43" name="Google Shape;843;p62"/>
            <p:cNvSpPr/>
            <p:nvPr/>
          </p:nvSpPr>
          <p:spPr>
            <a:xfrm flipH="1">
              <a:off x="7037078" y="1368106"/>
              <a:ext cx="283800" cy="283800"/>
            </a:xfrm>
            <a:prstGeom prst="ellipse">
              <a:avLst/>
            </a:prstGeom>
            <a:solidFill>
              <a:srgbClr val="980000"/>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844" name="Google Shape;844;p62"/>
          <p:cNvSpPr txBox="1"/>
          <p:nvPr/>
        </p:nvSpPr>
        <p:spPr>
          <a:xfrm>
            <a:off x="4890300" y="1295075"/>
            <a:ext cx="1453500" cy="396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b="1">
                <a:solidFill>
                  <a:srgbClr val="980000"/>
                </a:solidFill>
              </a:rPr>
              <a:t>Proposer</a:t>
            </a:r>
            <a:endParaRPr sz="2200" b="1">
              <a:solidFill>
                <a:srgbClr val="980000"/>
              </a:solidFill>
            </a:endParaRPr>
          </a:p>
        </p:txBody>
      </p:sp>
      <p:grpSp>
        <p:nvGrpSpPr>
          <p:cNvPr id="845" name="Google Shape;845;p62"/>
          <p:cNvGrpSpPr/>
          <p:nvPr/>
        </p:nvGrpSpPr>
        <p:grpSpPr>
          <a:xfrm>
            <a:off x="7895548" y="1780398"/>
            <a:ext cx="669387" cy="1147641"/>
            <a:chOff x="6972439" y="1368106"/>
            <a:chExt cx="413100" cy="696807"/>
          </a:xfrm>
        </p:grpSpPr>
        <p:sp>
          <p:nvSpPr>
            <p:cNvPr id="846" name="Google Shape;846;p62"/>
            <p:cNvSpPr/>
            <p:nvPr/>
          </p:nvSpPr>
          <p:spPr>
            <a:xfrm rot="-5400000" flipH="1">
              <a:off x="6972439" y="1651813"/>
              <a:ext cx="413100" cy="413100"/>
            </a:xfrm>
            <a:prstGeom prst="chord">
              <a:avLst>
                <a:gd name="adj1" fmla="val 5399588"/>
                <a:gd name="adj2" fmla="val 16200000"/>
              </a:avLst>
            </a:prstGeom>
            <a:solidFill>
              <a:schemeClr val="dk2"/>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62"/>
            <p:cNvSpPr/>
            <p:nvPr/>
          </p:nvSpPr>
          <p:spPr>
            <a:xfrm flipH="1">
              <a:off x="7037078" y="1368106"/>
              <a:ext cx="283800" cy="283800"/>
            </a:xfrm>
            <a:prstGeom prst="ellipse">
              <a:avLst/>
            </a:prstGeom>
            <a:solidFill>
              <a:schemeClr val="dk2"/>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848" name="Google Shape;848;p62" descr="Money Icon PNG Images, Vectors Free Download - Pngtree"/>
          <p:cNvPicPr preferRelativeResize="0"/>
          <p:nvPr/>
        </p:nvPicPr>
        <p:blipFill>
          <a:blip r:embed="rId3">
            <a:alphaModFix/>
          </a:blip>
          <a:stretch>
            <a:fillRect/>
          </a:stretch>
        </p:blipFill>
        <p:spPr>
          <a:xfrm>
            <a:off x="5180482" y="2642167"/>
            <a:ext cx="903210" cy="917790"/>
          </a:xfrm>
          <a:prstGeom prst="rect">
            <a:avLst/>
          </a:prstGeom>
          <a:noFill/>
          <a:ln>
            <a:noFill/>
          </a:ln>
        </p:spPr>
      </p:pic>
      <p:sp>
        <p:nvSpPr>
          <p:cNvPr id="849" name="Google Shape;849;p6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46</a:t>
            </a:fld>
            <a:endParaRPr/>
          </a:p>
        </p:txBody>
      </p:sp>
      <p:sp>
        <p:nvSpPr>
          <p:cNvPr id="850" name="Google Shape;850;p62"/>
          <p:cNvSpPr txBox="1"/>
          <p:nvPr/>
        </p:nvSpPr>
        <p:spPr>
          <a:xfrm>
            <a:off x="7148425" y="2538344"/>
            <a:ext cx="669300" cy="38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2"/>
                </a:solidFill>
              </a:rPr>
              <a:t>offer</a:t>
            </a:r>
            <a:endParaRPr sz="1800">
              <a:solidFill>
                <a:schemeClr val="dk2"/>
              </a:solidFill>
            </a:endParaRPr>
          </a:p>
        </p:txBody>
      </p:sp>
      <p:sp>
        <p:nvSpPr>
          <p:cNvPr id="851" name="Google Shape;851;p62"/>
          <p:cNvSpPr txBox="1"/>
          <p:nvPr/>
        </p:nvSpPr>
        <p:spPr>
          <a:xfrm>
            <a:off x="6110325" y="2538350"/>
            <a:ext cx="903300" cy="38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2"/>
                </a:solidFill>
              </a:rPr>
              <a:t>keep</a:t>
            </a:r>
            <a:endParaRPr sz="1800">
              <a:solidFill>
                <a:schemeClr val="dk2"/>
              </a:solidFill>
            </a:endParaRPr>
          </a:p>
        </p:txBody>
      </p:sp>
      <p:sp>
        <p:nvSpPr>
          <p:cNvPr id="852" name="Google Shape;852;p62"/>
          <p:cNvSpPr txBox="1"/>
          <p:nvPr/>
        </p:nvSpPr>
        <p:spPr>
          <a:xfrm>
            <a:off x="220775" y="2106950"/>
            <a:ext cx="4557900" cy="1309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200" b="1">
                <a:solidFill>
                  <a:schemeClr val="dk1"/>
                </a:solidFill>
              </a:rPr>
              <a:t>Aging - Participant Age</a:t>
            </a:r>
            <a:endParaRPr sz="22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Younger adults (18-35, N = 25)</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Older adult (65-80, N = 22)</a:t>
            </a:r>
            <a:endParaRPr sz="2000">
              <a:solidFill>
                <a:schemeClr val="dk1"/>
              </a:solidFill>
            </a:endParaRPr>
          </a:p>
        </p:txBody>
      </p:sp>
      <p:sp>
        <p:nvSpPr>
          <p:cNvPr id="853" name="Google Shape;853;p62"/>
          <p:cNvSpPr/>
          <p:nvPr/>
        </p:nvSpPr>
        <p:spPr>
          <a:xfrm rot="5690350">
            <a:off x="5951188" y="1738078"/>
            <a:ext cx="1984373" cy="1754345"/>
          </a:xfrm>
          <a:prstGeom prst="wedgeEllipseCallout">
            <a:avLst>
              <a:gd name="adj1" fmla="val -16836"/>
              <a:gd name="adj2" fmla="val 64246"/>
            </a:avLst>
          </a:prstGeom>
          <a:noFill/>
          <a:ln w="2857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854" name="Google Shape;854;p62"/>
          <p:cNvGrpSpPr/>
          <p:nvPr/>
        </p:nvGrpSpPr>
        <p:grpSpPr>
          <a:xfrm>
            <a:off x="6110325" y="1954700"/>
            <a:ext cx="1707398" cy="1234078"/>
            <a:chOff x="6110325" y="1954700"/>
            <a:chExt cx="1707398" cy="1234078"/>
          </a:xfrm>
        </p:grpSpPr>
        <p:sp>
          <p:nvSpPr>
            <p:cNvPr id="855" name="Google Shape;855;p62"/>
            <p:cNvSpPr/>
            <p:nvPr/>
          </p:nvSpPr>
          <p:spPr>
            <a:xfrm rot="5400000" flipH="1">
              <a:off x="6267180" y="2413128"/>
              <a:ext cx="879000" cy="672300"/>
            </a:xfrm>
            <a:prstGeom prst="uturnArrow">
              <a:avLst>
                <a:gd name="adj1" fmla="val 25000"/>
                <a:gd name="adj2" fmla="val 25000"/>
                <a:gd name="adj3" fmla="val 24629"/>
                <a:gd name="adj4" fmla="val 43750"/>
                <a:gd name="adj5" fmla="val 100000"/>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6" name="Google Shape;856;p62"/>
            <p:cNvSpPr txBox="1"/>
            <p:nvPr/>
          </p:nvSpPr>
          <p:spPr>
            <a:xfrm>
              <a:off x="6110325" y="1954700"/>
              <a:ext cx="772500" cy="32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D9D9D9"/>
                  </a:solidFill>
                </a:rPr>
                <a:t>$$$$</a:t>
              </a:r>
              <a:endParaRPr sz="1800" b="1">
                <a:solidFill>
                  <a:srgbClr val="D9D9D9"/>
                </a:solidFill>
              </a:endParaRPr>
            </a:p>
          </p:txBody>
        </p:sp>
        <p:sp>
          <p:nvSpPr>
            <p:cNvPr id="857" name="Google Shape;857;p62"/>
            <p:cNvSpPr txBox="1"/>
            <p:nvPr/>
          </p:nvSpPr>
          <p:spPr>
            <a:xfrm>
              <a:off x="7245323" y="1954700"/>
              <a:ext cx="572400" cy="32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D9D9D9"/>
                  </a:solidFill>
                </a:rPr>
                <a:t>$$</a:t>
              </a:r>
              <a:endParaRPr sz="1800" b="1">
                <a:solidFill>
                  <a:srgbClr val="D9D9D9"/>
                </a:solidFill>
              </a:endParaRPr>
            </a:p>
          </p:txBody>
        </p:sp>
        <p:sp>
          <p:nvSpPr>
            <p:cNvPr id="858" name="Google Shape;858;p62"/>
            <p:cNvSpPr/>
            <p:nvPr/>
          </p:nvSpPr>
          <p:spPr>
            <a:xfrm>
              <a:off x="6882825" y="2372128"/>
              <a:ext cx="672300" cy="443400"/>
            </a:xfrm>
            <a:prstGeom prst="bentArrow">
              <a:avLst>
                <a:gd name="adj1" fmla="val 25000"/>
                <a:gd name="adj2" fmla="val 26477"/>
                <a:gd name="adj3" fmla="val 24010"/>
                <a:gd name="adj4" fmla="val 43750"/>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859" name="Google Shape;859;p62"/>
          <p:cNvSpPr txBox="1"/>
          <p:nvPr/>
        </p:nvSpPr>
        <p:spPr>
          <a:xfrm>
            <a:off x="220775" y="433800"/>
            <a:ext cx="4731000" cy="16329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2200" b="1">
                <a:solidFill>
                  <a:schemeClr val="dk1"/>
                </a:solidFill>
              </a:rPr>
              <a:t>Fairness - Offer size</a:t>
            </a:r>
            <a:endParaRPr sz="22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Fixed $20 endowment</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Fairness (Offer size) </a:t>
            </a:r>
            <a:endParaRPr sz="2000">
              <a:solidFill>
                <a:schemeClr val="dk1"/>
              </a:solidFill>
            </a:endParaRPr>
          </a:p>
          <a:p>
            <a:pPr marL="1371600" lvl="0" indent="0" algn="l" rtl="0">
              <a:lnSpc>
                <a:spcPct val="115000"/>
              </a:lnSpc>
              <a:spcBef>
                <a:spcPts val="0"/>
              </a:spcBef>
              <a:spcAft>
                <a:spcPts val="0"/>
              </a:spcAft>
              <a:buNone/>
            </a:pPr>
            <a:r>
              <a:rPr lang="en" sz="2000">
                <a:solidFill>
                  <a:schemeClr val="dk1"/>
                </a:solidFill>
              </a:rPr>
              <a:t>=  5% ~ 50% ($1 to $10 )</a:t>
            </a:r>
            <a:endParaRPr sz="2000">
              <a:solidFill>
                <a:schemeClr val="dk1"/>
              </a:solidFill>
            </a:endParaRPr>
          </a:p>
        </p:txBody>
      </p:sp>
      <p:sp>
        <p:nvSpPr>
          <p:cNvPr id="860" name="Google Shape;860;p62"/>
          <p:cNvSpPr txBox="1"/>
          <p:nvPr/>
        </p:nvSpPr>
        <p:spPr>
          <a:xfrm>
            <a:off x="220775" y="3457000"/>
            <a:ext cx="4847700" cy="1309800"/>
          </a:xfrm>
          <a:prstGeom prst="rect">
            <a:avLst/>
          </a:prstGeom>
          <a:solidFill>
            <a:schemeClr val="lt1"/>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200" b="1">
                <a:solidFill>
                  <a:schemeClr val="dk1"/>
                </a:solidFill>
              </a:rPr>
              <a:t>Social Context - Partner Similarity</a:t>
            </a:r>
            <a:endParaRPr sz="22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Similar partner = age matched</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Dissimilar partner  = age mismatched</a:t>
            </a:r>
            <a:endParaRPr sz="2000">
              <a:solidFill>
                <a:schemeClr val="dk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p63"/>
          <p:cNvSpPr/>
          <p:nvPr/>
        </p:nvSpPr>
        <p:spPr>
          <a:xfrm>
            <a:off x="7482452" y="1140100"/>
            <a:ext cx="1503000" cy="2612700"/>
          </a:xfrm>
          <a:prstGeom prst="roundRect">
            <a:avLst>
              <a:gd name="adj" fmla="val 16667"/>
            </a:avLst>
          </a:prstGeom>
          <a:solidFill>
            <a:srgbClr val="FFF2CC"/>
          </a:solidFill>
          <a:ln w="28575" cap="flat" cmpd="sng">
            <a:solidFill>
              <a:schemeClr val="accent6"/>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66" name="Google Shape;866;p63"/>
          <p:cNvSpPr txBox="1"/>
          <p:nvPr/>
        </p:nvSpPr>
        <p:spPr>
          <a:xfrm>
            <a:off x="5017850" y="282550"/>
            <a:ext cx="3583200" cy="55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b="1">
                <a:solidFill>
                  <a:schemeClr val="dk1"/>
                </a:solidFill>
              </a:rPr>
              <a:t>The Ultimatum Game</a:t>
            </a:r>
            <a:endParaRPr sz="2400" b="1">
              <a:solidFill>
                <a:schemeClr val="dk1"/>
              </a:solidFill>
            </a:endParaRPr>
          </a:p>
        </p:txBody>
      </p:sp>
      <p:grpSp>
        <p:nvGrpSpPr>
          <p:cNvPr id="867" name="Google Shape;867;p63"/>
          <p:cNvGrpSpPr/>
          <p:nvPr/>
        </p:nvGrpSpPr>
        <p:grpSpPr>
          <a:xfrm>
            <a:off x="5297175" y="1780398"/>
            <a:ext cx="669387" cy="1147641"/>
            <a:chOff x="6972439" y="1368106"/>
            <a:chExt cx="413100" cy="696807"/>
          </a:xfrm>
        </p:grpSpPr>
        <p:sp>
          <p:nvSpPr>
            <p:cNvPr id="868" name="Google Shape;868;p63"/>
            <p:cNvSpPr/>
            <p:nvPr/>
          </p:nvSpPr>
          <p:spPr>
            <a:xfrm rot="-5400000" flipH="1">
              <a:off x="6972439" y="1651813"/>
              <a:ext cx="413100" cy="413100"/>
            </a:xfrm>
            <a:prstGeom prst="chord">
              <a:avLst>
                <a:gd name="adj1" fmla="val 5399588"/>
                <a:gd name="adj2" fmla="val 16200000"/>
              </a:avLst>
            </a:prstGeom>
            <a:solidFill>
              <a:srgbClr val="980000"/>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69" name="Google Shape;869;p63"/>
            <p:cNvSpPr/>
            <p:nvPr/>
          </p:nvSpPr>
          <p:spPr>
            <a:xfrm flipH="1">
              <a:off x="7037078" y="1368106"/>
              <a:ext cx="283800" cy="283800"/>
            </a:xfrm>
            <a:prstGeom prst="ellipse">
              <a:avLst/>
            </a:prstGeom>
            <a:solidFill>
              <a:srgbClr val="980000"/>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870" name="Google Shape;870;p63"/>
          <p:cNvSpPr txBox="1"/>
          <p:nvPr/>
        </p:nvSpPr>
        <p:spPr>
          <a:xfrm>
            <a:off x="4890300" y="1295075"/>
            <a:ext cx="1453500" cy="396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b="1">
                <a:solidFill>
                  <a:srgbClr val="980000"/>
                </a:solidFill>
              </a:rPr>
              <a:t>Proposer</a:t>
            </a:r>
            <a:endParaRPr sz="2200" b="1">
              <a:solidFill>
                <a:srgbClr val="980000"/>
              </a:solidFill>
            </a:endParaRPr>
          </a:p>
        </p:txBody>
      </p:sp>
      <p:sp>
        <p:nvSpPr>
          <p:cNvPr id="871" name="Google Shape;871;p63"/>
          <p:cNvSpPr txBox="1"/>
          <p:nvPr/>
        </p:nvSpPr>
        <p:spPr>
          <a:xfrm>
            <a:off x="7507202" y="1295072"/>
            <a:ext cx="1453500" cy="396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b="1">
                <a:solidFill>
                  <a:schemeClr val="dk2"/>
                </a:solidFill>
              </a:rPr>
              <a:t>Recipient</a:t>
            </a:r>
            <a:endParaRPr sz="2200" b="1">
              <a:solidFill>
                <a:schemeClr val="dk2"/>
              </a:solidFill>
            </a:endParaRPr>
          </a:p>
        </p:txBody>
      </p:sp>
      <p:pic>
        <p:nvPicPr>
          <p:cNvPr id="872" name="Google Shape;872;p63" descr="Money Icon PNG Images, Vectors Free Download - Pngtree"/>
          <p:cNvPicPr preferRelativeResize="0"/>
          <p:nvPr/>
        </p:nvPicPr>
        <p:blipFill>
          <a:blip r:embed="rId3">
            <a:alphaModFix/>
          </a:blip>
          <a:stretch>
            <a:fillRect/>
          </a:stretch>
        </p:blipFill>
        <p:spPr>
          <a:xfrm>
            <a:off x="5180482" y="2642167"/>
            <a:ext cx="903210" cy="917790"/>
          </a:xfrm>
          <a:prstGeom prst="rect">
            <a:avLst/>
          </a:prstGeom>
          <a:noFill/>
          <a:ln>
            <a:noFill/>
          </a:ln>
        </p:spPr>
      </p:pic>
      <p:sp>
        <p:nvSpPr>
          <p:cNvPr id="873" name="Google Shape;873;p6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47</a:t>
            </a:fld>
            <a:endParaRPr/>
          </a:p>
        </p:txBody>
      </p:sp>
      <p:sp>
        <p:nvSpPr>
          <p:cNvPr id="874" name="Google Shape;874;p63"/>
          <p:cNvSpPr txBox="1"/>
          <p:nvPr/>
        </p:nvSpPr>
        <p:spPr>
          <a:xfrm>
            <a:off x="7507202" y="2651607"/>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chemeClr val="accent5"/>
                </a:solidFill>
              </a:rPr>
              <a:t>Accept</a:t>
            </a:r>
            <a:endParaRPr sz="1700" i="1">
              <a:solidFill>
                <a:srgbClr val="EF476F"/>
              </a:solidFill>
            </a:endParaRPr>
          </a:p>
        </p:txBody>
      </p:sp>
      <p:sp>
        <p:nvSpPr>
          <p:cNvPr id="875" name="Google Shape;875;p63"/>
          <p:cNvSpPr txBox="1"/>
          <p:nvPr/>
        </p:nvSpPr>
        <p:spPr>
          <a:xfrm>
            <a:off x="7507202" y="2946813"/>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chemeClr val="dk1"/>
                </a:solidFill>
              </a:rPr>
              <a:t>or</a:t>
            </a:r>
            <a:endParaRPr sz="1700" i="1">
              <a:solidFill>
                <a:srgbClr val="EF476F"/>
              </a:solidFill>
            </a:endParaRPr>
          </a:p>
        </p:txBody>
      </p:sp>
      <p:sp>
        <p:nvSpPr>
          <p:cNvPr id="876" name="Google Shape;876;p63"/>
          <p:cNvSpPr txBox="1"/>
          <p:nvPr/>
        </p:nvSpPr>
        <p:spPr>
          <a:xfrm>
            <a:off x="7507202" y="3242019"/>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rgbClr val="EF476F"/>
                </a:solidFill>
              </a:rPr>
              <a:t>Reject</a:t>
            </a:r>
            <a:endParaRPr sz="1700" i="1">
              <a:solidFill>
                <a:srgbClr val="EF476F"/>
              </a:solidFill>
            </a:endParaRPr>
          </a:p>
        </p:txBody>
      </p:sp>
      <p:sp>
        <p:nvSpPr>
          <p:cNvPr id="877" name="Google Shape;877;p63"/>
          <p:cNvSpPr txBox="1"/>
          <p:nvPr/>
        </p:nvSpPr>
        <p:spPr>
          <a:xfrm>
            <a:off x="7148425" y="2538344"/>
            <a:ext cx="669300" cy="38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2"/>
                </a:solidFill>
              </a:rPr>
              <a:t>offer</a:t>
            </a:r>
            <a:endParaRPr sz="1800">
              <a:solidFill>
                <a:schemeClr val="dk2"/>
              </a:solidFill>
            </a:endParaRPr>
          </a:p>
        </p:txBody>
      </p:sp>
      <p:sp>
        <p:nvSpPr>
          <p:cNvPr id="878" name="Google Shape;878;p63"/>
          <p:cNvSpPr txBox="1"/>
          <p:nvPr/>
        </p:nvSpPr>
        <p:spPr>
          <a:xfrm>
            <a:off x="6110325" y="2538350"/>
            <a:ext cx="903300" cy="38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2"/>
                </a:solidFill>
              </a:rPr>
              <a:t>keep</a:t>
            </a:r>
            <a:endParaRPr sz="1800">
              <a:solidFill>
                <a:schemeClr val="dk2"/>
              </a:solidFill>
            </a:endParaRPr>
          </a:p>
        </p:txBody>
      </p:sp>
      <p:sp>
        <p:nvSpPr>
          <p:cNvPr id="879" name="Google Shape;879;p63"/>
          <p:cNvSpPr txBox="1"/>
          <p:nvPr/>
        </p:nvSpPr>
        <p:spPr>
          <a:xfrm>
            <a:off x="220775" y="2106950"/>
            <a:ext cx="4557900" cy="1309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200" b="1">
                <a:solidFill>
                  <a:schemeClr val="dk1"/>
                </a:solidFill>
              </a:rPr>
              <a:t>Aging - Participant Age</a:t>
            </a:r>
            <a:endParaRPr sz="22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Younger adults (18-35, N = 25)</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Older adult (65-80, N = 22)</a:t>
            </a:r>
            <a:endParaRPr sz="2000">
              <a:solidFill>
                <a:schemeClr val="dk1"/>
              </a:solidFill>
            </a:endParaRPr>
          </a:p>
        </p:txBody>
      </p:sp>
      <p:sp>
        <p:nvSpPr>
          <p:cNvPr id="880" name="Google Shape;880;p63"/>
          <p:cNvSpPr txBox="1"/>
          <p:nvPr/>
        </p:nvSpPr>
        <p:spPr>
          <a:xfrm>
            <a:off x="220775" y="3457000"/>
            <a:ext cx="4847700" cy="1309800"/>
          </a:xfrm>
          <a:prstGeom prst="rect">
            <a:avLst/>
          </a:prstGeom>
          <a:solidFill>
            <a:schemeClr val="lt1"/>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200" b="1">
                <a:solidFill>
                  <a:schemeClr val="dk1"/>
                </a:solidFill>
              </a:rPr>
              <a:t>Social Context - Partner Similarity</a:t>
            </a:r>
            <a:endParaRPr sz="22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Similar partner = age matched</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Dissimilar partner  = age mismatched</a:t>
            </a:r>
            <a:endParaRPr sz="2000">
              <a:solidFill>
                <a:schemeClr val="dk1"/>
              </a:solidFill>
            </a:endParaRPr>
          </a:p>
        </p:txBody>
      </p:sp>
      <p:grpSp>
        <p:nvGrpSpPr>
          <p:cNvPr id="881" name="Google Shape;881;p63"/>
          <p:cNvGrpSpPr/>
          <p:nvPr/>
        </p:nvGrpSpPr>
        <p:grpSpPr>
          <a:xfrm>
            <a:off x="6110325" y="1954700"/>
            <a:ext cx="1707398" cy="1234078"/>
            <a:chOff x="6110325" y="1954700"/>
            <a:chExt cx="1707398" cy="1234078"/>
          </a:xfrm>
        </p:grpSpPr>
        <p:sp>
          <p:nvSpPr>
            <p:cNvPr id="882" name="Google Shape;882;p63"/>
            <p:cNvSpPr/>
            <p:nvPr/>
          </p:nvSpPr>
          <p:spPr>
            <a:xfrm rot="5400000" flipH="1">
              <a:off x="6267180" y="2413128"/>
              <a:ext cx="879000" cy="672300"/>
            </a:xfrm>
            <a:prstGeom prst="uturnArrow">
              <a:avLst>
                <a:gd name="adj1" fmla="val 25000"/>
                <a:gd name="adj2" fmla="val 25000"/>
                <a:gd name="adj3" fmla="val 24629"/>
                <a:gd name="adj4" fmla="val 43750"/>
                <a:gd name="adj5" fmla="val 100000"/>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83" name="Google Shape;883;p63"/>
            <p:cNvSpPr txBox="1"/>
            <p:nvPr/>
          </p:nvSpPr>
          <p:spPr>
            <a:xfrm>
              <a:off x="6110325" y="1954700"/>
              <a:ext cx="772500" cy="32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D9D9D9"/>
                  </a:solidFill>
                </a:rPr>
                <a:t>$$$$</a:t>
              </a:r>
              <a:endParaRPr sz="1800" b="1">
                <a:solidFill>
                  <a:srgbClr val="D9D9D9"/>
                </a:solidFill>
              </a:endParaRPr>
            </a:p>
          </p:txBody>
        </p:sp>
        <p:sp>
          <p:nvSpPr>
            <p:cNvPr id="884" name="Google Shape;884;p63"/>
            <p:cNvSpPr txBox="1"/>
            <p:nvPr/>
          </p:nvSpPr>
          <p:spPr>
            <a:xfrm>
              <a:off x="7245323" y="1954700"/>
              <a:ext cx="572400" cy="32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D9D9D9"/>
                  </a:solidFill>
                </a:rPr>
                <a:t>$$</a:t>
              </a:r>
              <a:endParaRPr sz="1800" b="1">
                <a:solidFill>
                  <a:srgbClr val="D9D9D9"/>
                </a:solidFill>
              </a:endParaRPr>
            </a:p>
          </p:txBody>
        </p:sp>
        <p:sp>
          <p:nvSpPr>
            <p:cNvPr id="885" name="Google Shape;885;p63"/>
            <p:cNvSpPr/>
            <p:nvPr/>
          </p:nvSpPr>
          <p:spPr>
            <a:xfrm>
              <a:off x="6882825" y="2372128"/>
              <a:ext cx="672300" cy="443400"/>
            </a:xfrm>
            <a:prstGeom prst="bentArrow">
              <a:avLst>
                <a:gd name="adj1" fmla="val 25000"/>
                <a:gd name="adj2" fmla="val 26477"/>
                <a:gd name="adj3" fmla="val 24010"/>
                <a:gd name="adj4" fmla="val 43750"/>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886" name="Google Shape;886;p63"/>
          <p:cNvSpPr txBox="1"/>
          <p:nvPr/>
        </p:nvSpPr>
        <p:spPr>
          <a:xfrm>
            <a:off x="220775" y="433800"/>
            <a:ext cx="4731000" cy="16329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2200" b="1">
                <a:solidFill>
                  <a:schemeClr val="dk1"/>
                </a:solidFill>
              </a:rPr>
              <a:t>Fairness - Offer size</a:t>
            </a:r>
            <a:endParaRPr sz="22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Fixed $20 endowment</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Fairness (Offer size) </a:t>
            </a:r>
            <a:endParaRPr sz="2000">
              <a:solidFill>
                <a:schemeClr val="dk1"/>
              </a:solidFill>
            </a:endParaRPr>
          </a:p>
          <a:p>
            <a:pPr marL="1371600" lvl="0" indent="0" algn="l" rtl="0">
              <a:lnSpc>
                <a:spcPct val="115000"/>
              </a:lnSpc>
              <a:spcBef>
                <a:spcPts val="0"/>
              </a:spcBef>
              <a:spcAft>
                <a:spcPts val="0"/>
              </a:spcAft>
              <a:buNone/>
            </a:pPr>
            <a:r>
              <a:rPr lang="en" sz="2000">
                <a:solidFill>
                  <a:schemeClr val="dk1"/>
                </a:solidFill>
              </a:rPr>
              <a:t>=  5% ~ 50% ($1 to $10 )</a:t>
            </a:r>
            <a:endParaRPr sz="2000">
              <a:solidFill>
                <a:schemeClr val="dk1"/>
              </a:solidFill>
            </a:endParaRPr>
          </a:p>
        </p:txBody>
      </p:sp>
      <p:pic>
        <p:nvPicPr>
          <p:cNvPr id="887" name="Google Shape;887;p63" title="Figure_Ultimatum_datapaper_updated.png"/>
          <p:cNvPicPr preferRelativeResize="0"/>
          <p:nvPr/>
        </p:nvPicPr>
        <p:blipFill rotWithShape="1">
          <a:blip r:embed="rId4">
            <a:alphaModFix/>
          </a:blip>
          <a:srcRect l="64634" t="12121" r="27964" b="78211"/>
          <a:stretch/>
        </p:blipFill>
        <p:spPr>
          <a:xfrm>
            <a:off x="7802037" y="1730619"/>
            <a:ext cx="863830" cy="881424"/>
          </a:xfrm>
          <a:prstGeom prst="rect">
            <a:avLst/>
          </a:prstGeom>
          <a:noFill/>
          <a:ln>
            <a:noFill/>
          </a:ln>
        </p:spPr>
      </p:pic>
      <p:sp>
        <p:nvSpPr>
          <p:cNvPr id="888" name="Google Shape;888;p63"/>
          <p:cNvSpPr/>
          <p:nvPr/>
        </p:nvSpPr>
        <p:spPr>
          <a:xfrm rot="5690350">
            <a:off x="5951188" y="1738078"/>
            <a:ext cx="1984373" cy="1754345"/>
          </a:xfrm>
          <a:prstGeom prst="wedgeEllipseCallout">
            <a:avLst>
              <a:gd name="adj1" fmla="val -16836"/>
              <a:gd name="adj2" fmla="val 64246"/>
            </a:avLst>
          </a:prstGeom>
          <a:noFill/>
          <a:ln w="2857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grpSp>
        <p:nvGrpSpPr>
          <p:cNvPr id="893" name="Google Shape;893;p64"/>
          <p:cNvGrpSpPr/>
          <p:nvPr/>
        </p:nvGrpSpPr>
        <p:grpSpPr>
          <a:xfrm>
            <a:off x="5145891" y="1730626"/>
            <a:ext cx="903311" cy="881430"/>
            <a:chOff x="4572000" y="553848"/>
            <a:chExt cx="3259874" cy="3326151"/>
          </a:xfrm>
        </p:grpSpPr>
        <p:pic>
          <p:nvPicPr>
            <p:cNvPr id="894" name="Google Shape;894;p64" title="Figure_Ultimatum_datapaper_updated.png"/>
            <p:cNvPicPr preferRelativeResize="0"/>
            <p:nvPr/>
          </p:nvPicPr>
          <p:blipFill rotWithShape="1">
            <a:blip r:embed="rId3">
              <a:alphaModFix/>
            </a:blip>
            <a:srcRect l="64634" t="12121" r="27964" b="80826"/>
            <a:stretch/>
          </p:blipFill>
          <p:spPr>
            <a:xfrm>
              <a:off x="4572000" y="553848"/>
              <a:ext cx="3259874" cy="2426473"/>
            </a:xfrm>
            <a:prstGeom prst="rect">
              <a:avLst/>
            </a:prstGeom>
            <a:noFill/>
            <a:ln>
              <a:noFill/>
            </a:ln>
          </p:spPr>
        </p:pic>
        <p:pic>
          <p:nvPicPr>
            <p:cNvPr id="895" name="Google Shape;895;p64" title="Figure_Ultimatum_datapaper_updated.png"/>
            <p:cNvPicPr preferRelativeResize="0"/>
            <p:nvPr/>
          </p:nvPicPr>
          <p:blipFill rotWithShape="1">
            <a:blip r:embed="rId3">
              <a:alphaModFix/>
            </a:blip>
            <a:srcRect l="51743" t="19249" r="41577" b="78135"/>
            <a:stretch/>
          </p:blipFill>
          <p:spPr>
            <a:xfrm>
              <a:off x="4666150" y="2980325"/>
              <a:ext cx="3071576" cy="899674"/>
            </a:xfrm>
            <a:prstGeom prst="rect">
              <a:avLst/>
            </a:prstGeom>
            <a:noFill/>
            <a:ln>
              <a:noFill/>
            </a:ln>
          </p:spPr>
        </p:pic>
      </p:grpSp>
      <p:sp>
        <p:nvSpPr>
          <p:cNvPr id="896" name="Google Shape;896;p64"/>
          <p:cNvSpPr/>
          <p:nvPr/>
        </p:nvSpPr>
        <p:spPr>
          <a:xfrm>
            <a:off x="7482452" y="1140100"/>
            <a:ext cx="1503000" cy="2612700"/>
          </a:xfrm>
          <a:prstGeom prst="roundRect">
            <a:avLst>
              <a:gd name="adj" fmla="val 16667"/>
            </a:avLst>
          </a:prstGeom>
          <a:solidFill>
            <a:srgbClr val="FFF2CC"/>
          </a:solidFill>
          <a:ln w="28575" cap="flat" cmpd="sng">
            <a:solidFill>
              <a:schemeClr val="accent6"/>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97" name="Google Shape;897;p64"/>
          <p:cNvSpPr txBox="1"/>
          <p:nvPr/>
        </p:nvSpPr>
        <p:spPr>
          <a:xfrm>
            <a:off x="7507202" y="1295072"/>
            <a:ext cx="1453500" cy="396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b="1">
                <a:solidFill>
                  <a:schemeClr val="dk2"/>
                </a:solidFill>
              </a:rPr>
              <a:t>Recipient</a:t>
            </a:r>
            <a:endParaRPr sz="2200" b="1">
              <a:solidFill>
                <a:schemeClr val="dk2"/>
              </a:solidFill>
            </a:endParaRPr>
          </a:p>
        </p:txBody>
      </p:sp>
      <p:sp>
        <p:nvSpPr>
          <p:cNvPr id="898" name="Google Shape;898;p64"/>
          <p:cNvSpPr txBox="1"/>
          <p:nvPr/>
        </p:nvSpPr>
        <p:spPr>
          <a:xfrm>
            <a:off x="7507202" y="2651607"/>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chemeClr val="accent5"/>
                </a:solidFill>
              </a:rPr>
              <a:t>Accept</a:t>
            </a:r>
            <a:endParaRPr sz="1700" i="1">
              <a:solidFill>
                <a:srgbClr val="EF476F"/>
              </a:solidFill>
            </a:endParaRPr>
          </a:p>
        </p:txBody>
      </p:sp>
      <p:sp>
        <p:nvSpPr>
          <p:cNvPr id="899" name="Google Shape;899;p64"/>
          <p:cNvSpPr txBox="1"/>
          <p:nvPr/>
        </p:nvSpPr>
        <p:spPr>
          <a:xfrm>
            <a:off x="7507202" y="2946813"/>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chemeClr val="dk1"/>
                </a:solidFill>
              </a:rPr>
              <a:t>or</a:t>
            </a:r>
            <a:endParaRPr sz="1700" i="1">
              <a:solidFill>
                <a:srgbClr val="EF476F"/>
              </a:solidFill>
            </a:endParaRPr>
          </a:p>
        </p:txBody>
      </p:sp>
      <p:sp>
        <p:nvSpPr>
          <p:cNvPr id="900" name="Google Shape;900;p64"/>
          <p:cNvSpPr txBox="1"/>
          <p:nvPr/>
        </p:nvSpPr>
        <p:spPr>
          <a:xfrm>
            <a:off x="7507202" y="3242019"/>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rgbClr val="EF476F"/>
                </a:solidFill>
              </a:rPr>
              <a:t>Reject</a:t>
            </a:r>
            <a:endParaRPr sz="1700" i="1">
              <a:solidFill>
                <a:srgbClr val="EF476F"/>
              </a:solidFill>
            </a:endParaRPr>
          </a:p>
        </p:txBody>
      </p:sp>
      <p:pic>
        <p:nvPicPr>
          <p:cNvPr id="901" name="Google Shape;901;p64" title="Figure_Ultimatum_datapaper_updated.png"/>
          <p:cNvPicPr preferRelativeResize="0"/>
          <p:nvPr/>
        </p:nvPicPr>
        <p:blipFill rotWithShape="1">
          <a:blip r:embed="rId3">
            <a:alphaModFix/>
          </a:blip>
          <a:srcRect l="64634" t="12121" r="27964" b="78211"/>
          <a:stretch/>
        </p:blipFill>
        <p:spPr>
          <a:xfrm>
            <a:off x="7802037" y="1730619"/>
            <a:ext cx="863830" cy="881424"/>
          </a:xfrm>
          <a:prstGeom prst="rect">
            <a:avLst/>
          </a:prstGeom>
          <a:noFill/>
          <a:ln>
            <a:noFill/>
          </a:ln>
        </p:spPr>
      </p:pic>
      <p:sp>
        <p:nvSpPr>
          <p:cNvPr id="902" name="Google Shape;902;p64"/>
          <p:cNvSpPr txBox="1"/>
          <p:nvPr/>
        </p:nvSpPr>
        <p:spPr>
          <a:xfrm>
            <a:off x="5017850" y="282550"/>
            <a:ext cx="3583200" cy="55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b="1">
                <a:solidFill>
                  <a:schemeClr val="dk1"/>
                </a:solidFill>
              </a:rPr>
              <a:t>The Ultimatum Game</a:t>
            </a:r>
            <a:endParaRPr sz="2400" b="1">
              <a:solidFill>
                <a:schemeClr val="dk1"/>
              </a:solidFill>
            </a:endParaRPr>
          </a:p>
        </p:txBody>
      </p:sp>
      <p:sp>
        <p:nvSpPr>
          <p:cNvPr id="903" name="Google Shape;903;p64"/>
          <p:cNvSpPr txBox="1"/>
          <p:nvPr/>
        </p:nvSpPr>
        <p:spPr>
          <a:xfrm>
            <a:off x="4890300" y="1295075"/>
            <a:ext cx="1453500" cy="396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b="1">
                <a:solidFill>
                  <a:srgbClr val="980000"/>
                </a:solidFill>
              </a:rPr>
              <a:t>Proposer</a:t>
            </a:r>
            <a:endParaRPr sz="2200" b="1">
              <a:solidFill>
                <a:srgbClr val="980000"/>
              </a:solidFill>
            </a:endParaRPr>
          </a:p>
        </p:txBody>
      </p:sp>
      <p:pic>
        <p:nvPicPr>
          <p:cNvPr id="904" name="Google Shape;904;p64" descr="Money Icon PNG Images, Vectors Free Download - Pngtree"/>
          <p:cNvPicPr preferRelativeResize="0"/>
          <p:nvPr/>
        </p:nvPicPr>
        <p:blipFill>
          <a:blip r:embed="rId4">
            <a:alphaModFix/>
          </a:blip>
          <a:stretch>
            <a:fillRect/>
          </a:stretch>
        </p:blipFill>
        <p:spPr>
          <a:xfrm>
            <a:off x="5180482" y="2642167"/>
            <a:ext cx="903210" cy="917790"/>
          </a:xfrm>
          <a:prstGeom prst="rect">
            <a:avLst/>
          </a:prstGeom>
          <a:noFill/>
          <a:ln>
            <a:noFill/>
          </a:ln>
        </p:spPr>
      </p:pic>
      <p:sp>
        <p:nvSpPr>
          <p:cNvPr id="905" name="Google Shape;905;p6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48</a:t>
            </a:fld>
            <a:endParaRPr/>
          </a:p>
        </p:txBody>
      </p:sp>
      <p:sp>
        <p:nvSpPr>
          <p:cNvPr id="906" name="Google Shape;906;p64"/>
          <p:cNvSpPr txBox="1"/>
          <p:nvPr/>
        </p:nvSpPr>
        <p:spPr>
          <a:xfrm>
            <a:off x="7148425" y="2538344"/>
            <a:ext cx="669300" cy="38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2"/>
                </a:solidFill>
              </a:rPr>
              <a:t>offer</a:t>
            </a:r>
            <a:endParaRPr sz="1800">
              <a:solidFill>
                <a:schemeClr val="dk2"/>
              </a:solidFill>
            </a:endParaRPr>
          </a:p>
        </p:txBody>
      </p:sp>
      <p:sp>
        <p:nvSpPr>
          <p:cNvPr id="907" name="Google Shape;907;p64"/>
          <p:cNvSpPr txBox="1"/>
          <p:nvPr/>
        </p:nvSpPr>
        <p:spPr>
          <a:xfrm>
            <a:off x="6110325" y="2538350"/>
            <a:ext cx="903300" cy="38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2"/>
                </a:solidFill>
              </a:rPr>
              <a:t>keep</a:t>
            </a:r>
            <a:endParaRPr sz="1800">
              <a:solidFill>
                <a:schemeClr val="dk2"/>
              </a:solidFill>
            </a:endParaRPr>
          </a:p>
        </p:txBody>
      </p:sp>
      <p:sp>
        <p:nvSpPr>
          <p:cNvPr id="908" name="Google Shape;908;p64"/>
          <p:cNvSpPr txBox="1"/>
          <p:nvPr/>
        </p:nvSpPr>
        <p:spPr>
          <a:xfrm>
            <a:off x="220775" y="2106950"/>
            <a:ext cx="4557900" cy="1309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200" b="1">
                <a:solidFill>
                  <a:schemeClr val="dk1"/>
                </a:solidFill>
              </a:rPr>
              <a:t>Aging - Participant Age</a:t>
            </a:r>
            <a:endParaRPr sz="22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Younger adults (18-35, N = 25)</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Older adult (65-80, N = 22)</a:t>
            </a:r>
            <a:endParaRPr sz="2000">
              <a:solidFill>
                <a:schemeClr val="dk1"/>
              </a:solidFill>
            </a:endParaRPr>
          </a:p>
        </p:txBody>
      </p:sp>
      <p:sp>
        <p:nvSpPr>
          <p:cNvPr id="909" name="Google Shape;909;p64"/>
          <p:cNvSpPr txBox="1"/>
          <p:nvPr/>
        </p:nvSpPr>
        <p:spPr>
          <a:xfrm>
            <a:off x="220775" y="3457000"/>
            <a:ext cx="4847700" cy="1309800"/>
          </a:xfrm>
          <a:prstGeom prst="rect">
            <a:avLst/>
          </a:prstGeom>
          <a:solidFill>
            <a:schemeClr val="lt1"/>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200" b="1">
                <a:solidFill>
                  <a:schemeClr val="dk1"/>
                </a:solidFill>
              </a:rPr>
              <a:t>Social Context - Partner Similarity</a:t>
            </a:r>
            <a:endParaRPr sz="22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b="1">
                <a:solidFill>
                  <a:schemeClr val="dk1"/>
                </a:solidFill>
              </a:rPr>
              <a:t>Similar partner = age matched</a:t>
            </a:r>
            <a:endParaRPr sz="20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Dissimilar partner  = age mismatched</a:t>
            </a:r>
            <a:endParaRPr sz="2000">
              <a:solidFill>
                <a:schemeClr val="dk1"/>
              </a:solidFill>
            </a:endParaRPr>
          </a:p>
        </p:txBody>
      </p:sp>
      <p:grpSp>
        <p:nvGrpSpPr>
          <p:cNvPr id="910" name="Google Shape;910;p64"/>
          <p:cNvGrpSpPr/>
          <p:nvPr/>
        </p:nvGrpSpPr>
        <p:grpSpPr>
          <a:xfrm>
            <a:off x="6110325" y="1954700"/>
            <a:ext cx="1707398" cy="1234078"/>
            <a:chOff x="6110325" y="1954700"/>
            <a:chExt cx="1707398" cy="1234078"/>
          </a:xfrm>
        </p:grpSpPr>
        <p:sp>
          <p:nvSpPr>
            <p:cNvPr id="911" name="Google Shape;911;p64"/>
            <p:cNvSpPr/>
            <p:nvPr/>
          </p:nvSpPr>
          <p:spPr>
            <a:xfrm rot="5400000" flipH="1">
              <a:off x="6267180" y="2413128"/>
              <a:ext cx="879000" cy="672300"/>
            </a:xfrm>
            <a:prstGeom prst="uturnArrow">
              <a:avLst>
                <a:gd name="adj1" fmla="val 25000"/>
                <a:gd name="adj2" fmla="val 25000"/>
                <a:gd name="adj3" fmla="val 24629"/>
                <a:gd name="adj4" fmla="val 43750"/>
                <a:gd name="adj5" fmla="val 100000"/>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12" name="Google Shape;912;p64"/>
            <p:cNvSpPr txBox="1"/>
            <p:nvPr/>
          </p:nvSpPr>
          <p:spPr>
            <a:xfrm>
              <a:off x="6110325" y="1954700"/>
              <a:ext cx="772500" cy="32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D9D9D9"/>
                  </a:solidFill>
                </a:rPr>
                <a:t>$$$$</a:t>
              </a:r>
              <a:endParaRPr sz="1800" b="1">
                <a:solidFill>
                  <a:srgbClr val="D9D9D9"/>
                </a:solidFill>
              </a:endParaRPr>
            </a:p>
          </p:txBody>
        </p:sp>
        <p:sp>
          <p:nvSpPr>
            <p:cNvPr id="913" name="Google Shape;913;p64"/>
            <p:cNvSpPr txBox="1"/>
            <p:nvPr/>
          </p:nvSpPr>
          <p:spPr>
            <a:xfrm>
              <a:off x="7245323" y="1954700"/>
              <a:ext cx="572400" cy="32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D9D9D9"/>
                  </a:solidFill>
                </a:rPr>
                <a:t>$$</a:t>
              </a:r>
              <a:endParaRPr sz="1800" b="1">
                <a:solidFill>
                  <a:srgbClr val="D9D9D9"/>
                </a:solidFill>
              </a:endParaRPr>
            </a:p>
          </p:txBody>
        </p:sp>
        <p:sp>
          <p:nvSpPr>
            <p:cNvPr id="914" name="Google Shape;914;p64"/>
            <p:cNvSpPr/>
            <p:nvPr/>
          </p:nvSpPr>
          <p:spPr>
            <a:xfrm>
              <a:off x="6882825" y="2372128"/>
              <a:ext cx="672300" cy="443400"/>
            </a:xfrm>
            <a:prstGeom prst="bentArrow">
              <a:avLst>
                <a:gd name="adj1" fmla="val 25000"/>
                <a:gd name="adj2" fmla="val 26477"/>
                <a:gd name="adj3" fmla="val 24010"/>
                <a:gd name="adj4" fmla="val 43750"/>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915" name="Google Shape;915;p64"/>
          <p:cNvSpPr txBox="1"/>
          <p:nvPr/>
        </p:nvSpPr>
        <p:spPr>
          <a:xfrm>
            <a:off x="220775" y="433800"/>
            <a:ext cx="4731000" cy="16329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2200" b="1">
                <a:solidFill>
                  <a:schemeClr val="dk1"/>
                </a:solidFill>
              </a:rPr>
              <a:t>Fairness - Offer size</a:t>
            </a:r>
            <a:endParaRPr sz="22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Fixed $20 endowment</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Fairness (Offer size) </a:t>
            </a:r>
            <a:endParaRPr sz="2000">
              <a:solidFill>
                <a:schemeClr val="dk1"/>
              </a:solidFill>
            </a:endParaRPr>
          </a:p>
          <a:p>
            <a:pPr marL="1371600" lvl="0" indent="0" algn="l" rtl="0">
              <a:lnSpc>
                <a:spcPct val="115000"/>
              </a:lnSpc>
              <a:spcBef>
                <a:spcPts val="0"/>
              </a:spcBef>
              <a:spcAft>
                <a:spcPts val="0"/>
              </a:spcAft>
              <a:buNone/>
            </a:pPr>
            <a:r>
              <a:rPr lang="en" sz="2000">
                <a:solidFill>
                  <a:schemeClr val="dk1"/>
                </a:solidFill>
              </a:rPr>
              <a:t>=  5% ~ 50% ($1 to $10 )</a:t>
            </a:r>
            <a:endParaRPr sz="2000">
              <a:solidFill>
                <a:schemeClr val="dk1"/>
              </a:solidFill>
            </a:endParaRPr>
          </a:p>
        </p:txBody>
      </p:sp>
      <p:sp>
        <p:nvSpPr>
          <p:cNvPr id="916" name="Google Shape;916;p64"/>
          <p:cNvSpPr txBox="1"/>
          <p:nvPr/>
        </p:nvSpPr>
        <p:spPr>
          <a:xfrm>
            <a:off x="4837398" y="854675"/>
            <a:ext cx="1589400" cy="4404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rPr>
              <a:t>similar partner</a:t>
            </a:r>
            <a:br>
              <a:rPr lang="en" b="1">
                <a:solidFill>
                  <a:schemeClr val="dk1"/>
                </a:solidFill>
              </a:rPr>
            </a:br>
            <a:r>
              <a:rPr lang="en" b="1">
                <a:solidFill>
                  <a:schemeClr val="dk1"/>
                </a:solidFill>
              </a:rPr>
              <a:t>(age matched)</a:t>
            </a:r>
            <a:endParaRPr>
              <a:solidFill>
                <a:schemeClr val="dk1"/>
              </a:solidFill>
            </a:endParaRPr>
          </a:p>
        </p:txBody>
      </p:sp>
      <p:sp>
        <p:nvSpPr>
          <p:cNvPr id="917" name="Google Shape;917;p64"/>
          <p:cNvSpPr/>
          <p:nvPr/>
        </p:nvSpPr>
        <p:spPr>
          <a:xfrm rot="5690350">
            <a:off x="5951188" y="1738078"/>
            <a:ext cx="1984373" cy="1754345"/>
          </a:xfrm>
          <a:prstGeom prst="wedgeEllipseCallout">
            <a:avLst>
              <a:gd name="adj1" fmla="val -16836"/>
              <a:gd name="adj2" fmla="val 64246"/>
            </a:avLst>
          </a:prstGeom>
          <a:noFill/>
          <a:ln w="2857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p65"/>
          <p:cNvSpPr/>
          <p:nvPr/>
        </p:nvSpPr>
        <p:spPr>
          <a:xfrm>
            <a:off x="7482452" y="1140100"/>
            <a:ext cx="1503000" cy="2612700"/>
          </a:xfrm>
          <a:prstGeom prst="roundRect">
            <a:avLst>
              <a:gd name="adj" fmla="val 16667"/>
            </a:avLst>
          </a:prstGeom>
          <a:solidFill>
            <a:srgbClr val="FFF2CC"/>
          </a:solidFill>
          <a:ln w="28575" cap="flat" cmpd="sng">
            <a:solidFill>
              <a:schemeClr val="accent6"/>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23" name="Google Shape;923;p65"/>
          <p:cNvSpPr txBox="1"/>
          <p:nvPr/>
        </p:nvSpPr>
        <p:spPr>
          <a:xfrm>
            <a:off x="7507202" y="1295072"/>
            <a:ext cx="1453500" cy="396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b="1">
                <a:solidFill>
                  <a:schemeClr val="dk2"/>
                </a:solidFill>
              </a:rPr>
              <a:t>Recipient</a:t>
            </a:r>
            <a:endParaRPr sz="2200" b="1">
              <a:solidFill>
                <a:schemeClr val="dk2"/>
              </a:solidFill>
            </a:endParaRPr>
          </a:p>
        </p:txBody>
      </p:sp>
      <p:sp>
        <p:nvSpPr>
          <p:cNvPr id="924" name="Google Shape;924;p65"/>
          <p:cNvSpPr txBox="1"/>
          <p:nvPr/>
        </p:nvSpPr>
        <p:spPr>
          <a:xfrm>
            <a:off x="7507202" y="2651607"/>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chemeClr val="accent5"/>
                </a:solidFill>
              </a:rPr>
              <a:t>Accept</a:t>
            </a:r>
            <a:endParaRPr sz="1700" i="1">
              <a:solidFill>
                <a:srgbClr val="EF476F"/>
              </a:solidFill>
            </a:endParaRPr>
          </a:p>
        </p:txBody>
      </p:sp>
      <p:sp>
        <p:nvSpPr>
          <p:cNvPr id="925" name="Google Shape;925;p65"/>
          <p:cNvSpPr txBox="1"/>
          <p:nvPr/>
        </p:nvSpPr>
        <p:spPr>
          <a:xfrm>
            <a:off x="7507202" y="2946813"/>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chemeClr val="dk1"/>
                </a:solidFill>
              </a:rPr>
              <a:t>or</a:t>
            </a:r>
            <a:endParaRPr sz="1700" i="1">
              <a:solidFill>
                <a:srgbClr val="EF476F"/>
              </a:solidFill>
            </a:endParaRPr>
          </a:p>
        </p:txBody>
      </p:sp>
      <p:sp>
        <p:nvSpPr>
          <p:cNvPr id="926" name="Google Shape;926;p65"/>
          <p:cNvSpPr txBox="1"/>
          <p:nvPr/>
        </p:nvSpPr>
        <p:spPr>
          <a:xfrm>
            <a:off x="7507202" y="3242019"/>
            <a:ext cx="1453500" cy="38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i="1">
                <a:solidFill>
                  <a:srgbClr val="EF476F"/>
                </a:solidFill>
              </a:rPr>
              <a:t>Reject</a:t>
            </a:r>
            <a:endParaRPr sz="1700" i="1">
              <a:solidFill>
                <a:srgbClr val="EF476F"/>
              </a:solidFill>
            </a:endParaRPr>
          </a:p>
        </p:txBody>
      </p:sp>
      <p:pic>
        <p:nvPicPr>
          <p:cNvPr id="927" name="Google Shape;927;p65" title="Figure_Ultimatum_datapaper_updated.png"/>
          <p:cNvPicPr preferRelativeResize="0"/>
          <p:nvPr/>
        </p:nvPicPr>
        <p:blipFill rotWithShape="1">
          <a:blip r:embed="rId3">
            <a:alphaModFix/>
          </a:blip>
          <a:srcRect l="64634" t="12121" r="27964" b="78211"/>
          <a:stretch/>
        </p:blipFill>
        <p:spPr>
          <a:xfrm>
            <a:off x="7802037" y="1730619"/>
            <a:ext cx="863830" cy="881424"/>
          </a:xfrm>
          <a:prstGeom prst="rect">
            <a:avLst/>
          </a:prstGeom>
          <a:noFill/>
          <a:ln>
            <a:noFill/>
          </a:ln>
        </p:spPr>
      </p:pic>
      <p:pic>
        <p:nvPicPr>
          <p:cNvPr id="928" name="Google Shape;928;p65" title="Figure_Ultimatum_datapaper_updated.png"/>
          <p:cNvPicPr preferRelativeResize="0"/>
          <p:nvPr/>
        </p:nvPicPr>
        <p:blipFill rotWithShape="1">
          <a:blip r:embed="rId3">
            <a:alphaModFix/>
          </a:blip>
          <a:srcRect l="51743" t="12197" r="41577" b="78135"/>
          <a:stretch/>
        </p:blipFill>
        <p:spPr>
          <a:xfrm>
            <a:off x="5173718" y="1730677"/>
            <a:ext cx="863826" cy="881371"/>
          </a:xfrm>
          <a:prstGeom prst="rect">
            <a:avLst/>
          </a:prstGeom>
          <a:noFill/>
          <a:ln>
            <a:noFill/>
          </a:ln>
        </p:spPr>
      </p:pic>
      <p:sp>
        <p:nvSpPr>
          <p:cNvPr id="929" name="Google Shape;929;p65"/>
          <p:cNvSpPr txBox="1"/>
          <p:nvPr/>
        </p:nvSpPr>
        <p:spPr>
          <a:xfrm>
            <a:off x="5017850" y="282550"/>
            <a:ext cx="3583200" cy="55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b="1">
                <a:solidFill>
                  <a:schemeClr val="dk1"/>
                </a:solidFill>
              </a:rPr>
              <a:t>The Ultimatum Game</a:t>
            </a:r>
            <a:endParaRPr sz="2400" b="1">
              <a:solidFill>
                <a:schemeClr val="dk1"/>
              </a:solidFill>
            </a:endParaRPr>
          </a:p>
        </p:txBody>
      </p:sp>
      <p:sp>
        <p:nvSpPr>
          <p:cNvPr id="930" name="Google Shape;930;p65"/>
          <p:cNvSpPr txBox="1"/>
          <p:nvPr/>
        </p:nvSpPr>
        <p:spPr>
          <a:xfrm>
            <a:off x="4890300" y="1295075"/>
            <a:ext cx="1453500" cy="396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b="1">
                <a:solidFill>
                  <a:srgbClr val="980000"/>
                </a:solidFill>
              </a:rPr>
              <a:t>Proposer</a:t>
            </a:r>
            <a:endParaRPr sz="2200" b="1">
              <a:solidFill>
                <a:srgbClr val="980000"/>
              </a:solidFill>
            </a:endParaRPr>
          </a:p>
        </p:txBody>
      </p:sp>
      <p:pic>
        <p:nvPicPr>
          <p:cNvPr id="931" name="Google Shape;931;p65" descr="Money Icon PNG Images, Vectors Free Download - Pngtree"/>
          <p:cNvPicPr preferRelativeResize="0"/>
          <p:nvPr/>
        </p:nvPicPr>
        <p:blipFill>
          <a:blip r:embed="rId4">
            <a:alphaModFix/>
          </a:blip>
          <a:stretch>
            <a:fillRect/>
          </a:stretch>
        </p:blipFill>
        <p:spPr>
          <a:xfrm>
            <a:off x="5180482" y="2642167"/>
            <a:ext cx="903210" cy="917790"/>
          </a:xfrm>
          <a:prstGeom prst="rect">
            <a:avLst/>
          </a:prstGeom>
          <a:noFill/>
          <a:ln>
            <a:noFill/>
          </a:ln>
        </p:spPr>
      </p:pic>
      <p:sp>
        <p:nvSpPr>
          <p:cNvPr id="932" name="Google Shape;932;p6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49</a:t>
            </a:fld>
            <a:endParaRPr/>
          </a:p>
        </p:txBody>
      </p:sp>
      <p:sp>
        <p:nvSpPr>
          <p:cNvPr id="933" name="Google Shape;933;p65"/>
          <p:cNvSpPr txBox="1"/>
          <p:nvPr/>
        </p:nvSpPr>
        <p:spPr>
          <a:xfrm>
            <a:off x="7148425" y="2538344"/>
            <a:ext cx="669300" cy="38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2"/>
                </a:solidFill>
              </a:rPr>
              <a:t>offer</a:t>
            </a:r>
            <a:endParaRPr sz="1800">
              <a:solidFill>
                <a:schemeClr val="dk2"/>
              </a:solidFill>
            </a:endParaRPr>
          </a:p>
        </p:txBody>
      </p:sp>
      <p:sp>
        <p:nvSpPr>
          <p:cNvPr id="934" name="Google Shape;934;p65"/>
          <p:cNvSpPr txBox="1"/>
          <p:nvPr/>
        </p:nvSpPr>
        <p:spPr>
          <a:xfrm>
            <a:off x="6110325" y="2538350"/>
            <a:ext cx="903300" cy="38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2"/>
                </a:solidFill>
              </a:rPr>
              <a:t>keep</a:t>
            </a:r>
            <a:endParaRPr sz="1800">
              <a:solidFill>
                <a:schemeClr val="dk2"/>
              </a:solidFill>
            </a:endParaRPr>
          </a:p>
        </p:txBody>
      </p:sp>
      <p:sp>
        <p:nvSpPr>
          <p:cNvPr id="935" name="Google Shape;935;p65"/>
          <p:cNvSpPr txBox="1"/>
          <p:nvPr/>
        </p:nvSpPr>
        <p:spPr>
          <a:xfrm>
            <a:off x="220775" y="3457000"/>
            <a:ext cx="5388300" cy="1309800"/>
          </a:xfrm>
          <a:prstGeom prst="rect">
            <a:avLst/>
          </a:prstGeom>
          <a:solidFill>
            <a:schemeClr val="lt1"/>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200" b="1">
                <a:solidFill>
                  <a:schemeClr val="dk1"/>
                </a:solidFill>
              </a:rPr>
              <a:t>Social Context - Partner Similarity</a:t>
            </a:r>
            <a:endParaRPr sz="22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Similar partner = age matched</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b="1">
                <a:solidFill>
                  <a:schemeClr val="dk1"/>
                </a:solidFill>
              </a:rPr>
              <a:t>Dissimilar partner  = age mismatched</a:t>
            </a:r>
            <a:endParaRPr sz="2000" b="1">
              <a:solidFill>
                <a:schemeClr val="dk1"/>
              </a:solidFill>
            </a:endParaRPr>
          </a:p>
        </p:txBody>
      </p:sp>
      <p:grpSp>
        <p:nvGrpSpPr>
          <p:cNvPr id="936" name="Google Shape;936;p65"/>
          <p:cNvGrpSpPr/>
          <p:nvPr/>
        </p:nvGrpSpPr>
        <p:grpSpPr>
          <a:xfrm>
            <a:off x="6110325" y="1954700"/>
            <a:ext cx="1707398" cy="1234078"/>
            <a:chOff x="6110325" y="1954700"/>
            <a:chExt cx="1707398" cy="1234078"/>
          </a:xfrm>
        </p:grpSpPr>
        <p:sp>
          <p:nvSpPr>
            <p:cNvPr id="937" name="Google Shape;937;p65"/>
            <p:cNvSpPr/>
            <p:nvPr/>
          </p:nvSpPr>
          <p:spPr>
            <a:xfrm rot="5400000" flipH="1">
              <a:off x="6267180" y="2413128"/>
              <a:ext cx="879000" cy="672300"/>
            </a:xfrm>
            <a:prstGeom prst="uturnArrow">
              <a:avLst>
                <a:gd name="adj1" fmla="val 25000"/>
                <a:gd name="adj2" fmla="val 25000"/>
                <a:gd name="adj3" fmla="val 24629"/>
                <a:gd name="adj4" fmla="val 43750"/>
                <a:gd name="adj5" fmla="val 100000"/>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38" name="Google Shape;938;p65"/>
            <p:cNvSpPr txBox="1"/>
            <p:nvPr/>
          </p:nvSpPr>
          <p:spPr>
            <a:xfrm>
              <a:off x="6110325" y="1954700"/>
              <a:ext cx="772500" cy="32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D9D9D9"/>
                  </a:solidFill>
                </a:rPr>
                <a:t>$$$$</a:t>
              </a:r>
              <a:endParaRPr sz="1800" b="1">
                <a:solidFill>
                  <a:srgbClr val="D9D9D9"/>
                </a:solidFill>
              </a:endParaRPr>
            </a:p>
          </p:txBody>
        </p:sp>
        <p:sp>
          <p:nvSpPr>
            <p:cNvPr id="939" name="Google Shape;939;p65"/>
            <p:cNvSpPr txBox="1"/>
            <p:nvPr/>
          </p:nvSpPr>
          <p:spPr>
            <a:xfrm>
              <a:off x="7245323" y="1954700"/>
              <a:ext cx="572400" cy="32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D9D9D9"/>
                  </a:solidFill>
                </a:rPr>
                <a:t>$$</a:t>
              </a:r>
              <a:endParaRPr sz="1800" b="1">
                <a:solidFill>
                  <a:srgbClr val="D9D9D9"/>
                </a:solidFill>
              </a:endParaRPr>
            </a:p>
          </p:txBody>
        </p:sp>
        <p:sp>
          <p:nvSpPr>
            <p:cNvPr id="940" name="Google Shape;940;p65"/>
            <p:cNvSpPr/>
            <p:nvPr/>
          </p:nvSpPr>
          <p:spPr>
            <a:xfrm>
              <a:off x="6882825" y="2372128"/>
              <a:ext cx="672300" cy="443400"/>
            </a:xfrm>
            <a:prstGeom prst="bentArrow">
              <a:avLst>
                <a:gd name="adj1" fmla="val 25000"/>
                <a:gd name="adj2" fmla="val 26477"/>
                <a:gd name="adj3" fmla="val 24010"/>
                <a:gd name="adj4" fmla="val 43750"/>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941" name="Google Shape;941;p65"/>
          <p:cNvSpPr txBox="1"/>
          <p:nvPr/>
        </p:nvSpPr>
        <p:spPr>
          <a:xfrm>
            <a:off x="220775" y="433800"/>
            <a:ext cx="4731000" cy="16329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2200" b="1">
                <a:solidFill>
                  <a:schemeClr val="dk1"/>
                </a:solidFill>
              </a:rPr>
              <a:t>Fairness - Offer size</a:t>
            </a:r>
            <a:endParaRPr sz="22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Fixed $20 endowment</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Fairness (Offer size) </a:t>
            </a:r>
            <a:endParaRPr sz="2000">
              <a:solidFill>
                <a:schemeClr val="dk1"/>
              </a:solidFill>
            </a:endParaRPr>
          </a:p>
          <a:p>
            <a:pPr marL="1371600" lvl="0" indent="0" algn="l" rtl="0">
              <a:lnSpc>
                <a:spcPct val="115000"/>
              </a:lnSpc>
              <a:spcBef>
                <a:spcPts val="0"/>
              </a:spcBef>
              <a:spcAft>
                <a:spcPts val="0"/>
              </a:spcAft>
              <a:buNone/>
            </a:pPr>
            <a:r>
              <a:rPr lang="en" sz="2000">
                <a:solidFill>
                  <a:schemeClr val="dk1"/>
                </a:solidFill>
              </a:rPr>
              <a:t>=  5% ~ 50% ($1 to $10 )</a:t>
            </a:r>
            <a:endParaRPr sz="2000">
              <a:solidFill>
                <a:schemeClr val="dk1"/>
              </a:solidFill>
            </a:endParaRPr>
          </a:p>
        </p:txBody>
      </p:sp>
      <p:sp>
        <p:nvSpPr>
          <p:cNvPr id="942" name="Google Shape;942;p65"/>
          <p:cNvSpPr txBox="1"/>
          <p:nvPr/>
        </p:nvSpPr>
        <p:spPr>
          <a:xfrm>
            <a:off x="4551151" y="854675"/>
            <a:ext cx="2161800" cy="4404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rPr>
              <a:t>dissimilar partner</a:t>
            </a:r>
            <a:br>
              <a:rPr lang="en" b="1">
                <a:solidFill>
                  <a:schemeClr val="dk1"/>
                </a:solidFill>
              </a:rPr>
            </a:br>
            <a:r>
              <a:rPr lang="en" b="1">
                <a:solidFill>
                  <a:schemeClr val="dk1"/>
                </a:solidFill>
              </a:rPr>
              <a:t>(age mismatched)</a:t>
            </a:r>
            <a:endParaRPr>
              <a:solidFill>
                <a:schemeClr val="dk1"/>
              </a:solidFill>
            </a:endParaRPr>
          </a:p>
        </p:txBody>
      </p:sp>
      <p:sp>
        <p:nvSpPr>
          <p:cNvPr id="943" name="Google Shape;943;p65"/>
          <p:cNvSpPr/>
          <p:nvPr/>
        </p:nvSpPr>
        <p:spPr>
          <a:xfrm rot="5690350">
            <a:off x="5951188" y="1738078"/>
            <a:ext cx="1984373" cy="1754345"/>
          </a:xfrm>
          <a:prstGeom prst="wedgeEllipseCallout">
            <a:avLst>
              <a:gd name="adj1" fmla="val -16836"/>
              <a:gd name="adj2" fmla="val 64246"/>
            </a:avLst>
          </a:prstGeom>
          <a:noFill/>
          <a:ln w="2857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44" name="Google Shape;944;p65"/>
          <p:cNvSpPr txBox="1"/>
          <p:nvPr/>
        </p:nvSpPr>
        <p:spPr>
          <a:xfrm>
            <a:off x="220775" y="2106950"/>
            <a:ext cx="4557900" cy="1309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200" b="1">
                <a:solidFill>
                  <a:schemeClr val="dk1"/>
                </a:solidFill>
              </a:rPr>
              <a:t>Aging - Participant Age</a:t>
            </a:r>
            <a:endParaRPr sz="22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Younger adults (18-35, N = 25)</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Older adult (65-80, N = 22)</a:t>
            </a:r>
            <a:endParaRPr sz="2000">
              <a:solidFill>
                <a:schemeClr val="dk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p6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50</a:t>
            </a:fld>
            <a:endParaRPr/>
          </a:p>
        </p:txBody>
      </p:sp>
      <p:grpSp>
        <p:nvGrpSpPr>
          <p:cNvPr id="950" name="Google Shape;950;p66"/>
          <p:cNvGrpSpPr/>
          <p:nvPr/>
        </p:nvGrpSpPr>
        <p:grpSpPr>
          <a:xfrm>
            <a:off x="2074525" y="204025"/>
            <a:ext cx="4778600" cy="4005275"/>
            <a:chOff x="2074525" y="204025"/>
            <a:chExt cx="4778600" cy="4005275"/>
          </a:xfrm>
        </p:grpSpPr>
        <p:pic>
          <p:nvPicPr>
            <p:cNvPr id="951" name="Google Shape;951;p66" title="Figure_Ultimatum_datapaper_updated.png"/>
            <p:cNvPicPr preferRelativeResize="0"/>
            <p:nvPr/>
          </p:nvPicPr>
          <p:blipFill rotWithShape="1">
            <a:blip r:embed="rId3">
              <a:alphaModFix/>
            </a:blip>
            <a:srcRect t="6083" r="22863" b="11141"/>
            <a:stretch/>
          </p:blipFill>
          <p:spPr>
            <a:xfrm>
              <a:off x="2074525" y="204025"/>
              <a:ext cx="4778474" cy="4005275"/>
            </a:xfrm>
            <a:prstGeom prst="rect">
              <a:avLst/>
            </a:prstGeom>
            <a:noFill/>
            <a:ln>
              <a:noFill/>
            </a:ln>
          </p:spPr>
        </p:pic>
        <p:sp>
          <p:nvSpPr>
            <p:cNvPr id="952" name="Google Shape;952;p66"/>
            <p:cNvSpPr/>
            <p:nvPr/>
          </p:nvSpPr>
          <p:spPr>
            <a:xfrm>
              <a:off x="5113425" y="204025"/>
              <a:ext cx="1739700" cy="12393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3" name="Google Shape;953;p66"/>
            <p:cNvSpPr/>
            <p:nvPr/>
          </p:nvSpPr>
          <p:spPr>
            <a:xfrm>
              <a:off x="5426900" y="886875"/>
              <a:ext cx="1426200" cy="12672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954" name="Google Shape;954;p66"/>
          <p:cNvGrpSpPr/>
          <p:nvPr/>
        </p:nvGrpSpPr>
        <p:grpSpPr>
          <a:xfrm>
            <a:off x="6616425" y="1573050"/>
            <a:ext cx="1895100" cy="1267225"/>
            <a:chOff x="5013225" y="401600"/>
            <a:chExt cx="1895100" cy="1267225"/>
          </a:xfrm>
        </p:grpSpPr>
        <p:sp>
          <p:nvSpPr>
            <p:cNvPr id="955" name="Google Shape;955;p66"/>
            <p:cNvSpPr txBox="1"/>
            <p:nvPr/>
          </p:nvSpPr>
          <p:spPr>
            <a:xfrm>
              <a:off x="5013225" y="1228425"/>
              <a:ext cx="1895100" cy="44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rPr>
                <a:t>dissimilar partner</a:t>
              </a:r>
              <a:br>
                <a:rPr lang="en" b="1">
                  <a:solidFill>
                    <a:schemeClr val="dk1"/>
                  </a:solidFill>
                </a:rPr>
              </a:br>
              <a:r>
                <a:rPr lang="en" b="1">
                  <a:solidFill>
                    <a:schemeClr val="dk1"/>
                  </a:solidFill>
                </a:rPr>
                <a:t>(age mismatched)</a:t>
              </a:r>
              <a:endParaRPr>
                <a:solidFill>
                  <a:schemeClr val="dk1"/>
                </a:solidFill>
              </a:endParaRPr>
            </a:p>
          </p:txBody>
        </p:sp>
        <p:pic>
          <p:nvPicPr>
            <p:cNvPr id="956" name="Google Shape;956;p66" title="Figure_Ultimatum_datapaper_updated.png"/>
            <p:cNvPicPr preferRelativeResize="0"/>
            <p:nvPr/>
          </p:nvPicPr>
          <p:blipFill rotWithShape="1">
            <a:blip r:embed="rId3">
              <a:alphaModFix/>
            </a:blip>
            <a:srcRect l="50336" t="10988" r="39666" b="77279"/>
            <a:stretch/>
          </p:blipFill>
          <p:spPr>
            <a:xfrm>
              <a:off x="5521475" y="401600"/>
              <a:ext cx="902001" cy="826823"/>
            </a:xfrm>
            <a:prstGeom prst="rect">
              <a:avLst/>
            </a:prstGeom>
            <a:noFill/>
            <a:ln>
              <a:noFill/>
            </a:ln>
          </p:spPr>
        </p:pic>
      </p:grpSp>
      <p:sp>
        <p:nvSpPr>
          <p:cNvPr id="957" name="Google Shape;957;p66"/>
          <p:cNvSpPr txBox="1"/>
          <p:nvPr/>
        </p:nvSpPr>
        <p:spPr>
          <a:xfrm>
            <a:off x="6769310" y="984875"/>
            <a:ext cx="1589400" cy="4404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rPr>
              <a:t>similar partner</a:t>
            </a:r>
            <a:br>
              <a:rPr lang="en" b="1">
                <a:solidFill>
                  <a:schemeClr val="dk1"/>
                </a:solidFill>
              </a:rPr>
            </a:br>
            <a:r>
              <a:rPr lang="en" b="1">
                <a:solidFill>
                  <a:schemeClr val="dk1"/>
                </a:solidFill>
              </a:rPr>
              <a:t>(age matched)</a:t>
            </a:r>
            <a:endParaRPr>
              <a:solidFill>
                <a:schemeClr val="dk1"/>
              </a:solidFill>
            </a:endParaRPr>
          </a:p>
        </p:txBody>
      </p:sp>
      <p:sp>
        <p:nvSpPr>
          <p:cNvPr id="958" name="Google Shape;958;p66"/>
          <p:cNvSpPr txBox="1"/>
          <p:nvPr/>
        </p:nvSpPr>
        <p:spPr>
          <a:xfrm>
            <a:off x="5125425" y="433825"/>
            <a:ext cx="1803900" cy="393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u="sng">
                <a:solidFill>
                  <a:schemeClr val="dk2"/>
                </a:solidFill>
              </a:rPr>
              <a:t>Partner Type</a:t>
            </a:r>
            <a:endParaRPr sz="1800" b="1" u="sng">
              <a:solidFill>
                <a:schemeClr val="dk2"/>
              </a:solidFill>
            </a:endParaRPr>
          </a:p>
        </p:txBody>
      </p:sp>
      <p:sp>
        <p:nvSpPr>
          <p:cNvPr id="959" name="Google Shape;959;p66"/>
          <p:cNvSpPr txBox="1"/>
          <p:nvPr/>
        </p:nvSpPr>
        <p:spPr>
          <a:xfrm>
            <a:off x="-44300" y="4663225"/>
            <a:ext cx="7155000" cy="470100"/>
          </a:xfrm>
          <a:prstGeom prst="rect">
            <a:avLst/>
          </a:prstGeom>
          <a:noFill/>
          <a:ln>
            <a:noFill/>
          </a:ln>
        </p:spPr>
        <p:txBody>
          <a:bodyPr spcFirstLastPara="1" wrap="square" lIns="91425" tIns="91425" rIns="91425" bIns="91425" anchor="b" anchorCtr="0">
            <a:noAutofit/>
          </a:bodyPr>
          <a:lstStyle/>
          <a:p>
            <a:pPr marL="279400" lvl="0" indent="-279400" algn="l" rtl="0">
              <a:lnSpc>
                <a:spcPct val="200000"/>
              </a:lnSpc>
              <a:spcBef>
                <a:spcPts val="0"/>
              </a:spcBef>
              <a:spcAft>
                <a:spcPts val="0"/>
              </a:spcAft>
              <a:buNone/>
            </a:pPr>
            <a:r>
              <a:rPr lang="en" sz="1100" b="1">
                <a:solidFill>
                  <a:schemeClr val="dk1"/>
                </a:solidFill>
              </a:rPr>
              <a:t>Smith et al. (2024). Scientific Data</a:t>
            </a:r>
            <a:endParaRPr sz="1100" b="1">
              <a:solidFill>
                <a:srgbClr val="666666"/>
              </a:solidFill>
            </a:endParaRPr>
          </a:p>
        </p:txBody>
      </p:sp>
      <p:sp>
        <p:nvSpPr>
          <p:cNvPr id="960" name="Google Shape;960;p66"/>
          <p:cNvSpPr txBox="1"/>
          <p:nvPr/>
        </p:nvSpPr>
        <p:spPr>
          <a:xfrm>
            <a:off x="207250" y="3514725"/>
            <a:ext cx="2202000" cy="10704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Blocks = 18</a:t>
            </a:r>
            <a:endParaRPr sz="1800">
              <a:solidFill>
                <a:schemeClr val="dk1"/>
              </a:solidFill>
            </a:endParaRPr>
          </a:p>
          <a:p>
            <a:pPr marL="0" lvl="0" indent="0" algn="l" rtl="0">
              <a:spcBef>
                <a:spcPts val="0"/>
              </a:spcBef>
              <a:spcAft>
                <a:spcPts val="0"/>
              </a:spcAft>
              <a:buNone/>
            </a:pPr>
            <a:r>
              <a:rPr lang="en" sz="1800">
                <a:solidFill>
                  <a:schemeClr val="dk1"/>
                </a:solidFill>
              </a:rPr>
              <a:t>Trials per block = 8</a:t>
            </a:r>
            <a:endParaRPr sz="1800">
              <a:solidFill>
                <a:schemeClr val="dk1"/>
              </a:solidFill>
            </a:endParaRPr>
          </a:p>
          <a:p>
            <a:pPr marL="0" lvl="0" indent="0" algn="l" rtl="0">
              <a:spcBef>
                <a:spcPts val="0"/>
              </a:spcBef>
              <a:spcAft>
                <a:spcPts val="0"/>
              </a:spcAft>
              <a:buNone/>
            </a:pPr>
            <a:r>
              <a:rPr lang="en" sz="1800">
                <a:solidFill>
                  <a:schemeClr val="dk1"/>
                </a:solidFill>
              </a:rPr>
              <a:t>Total trials = 144</a:t>
            </a:r>
            <a:endParaRPr sz="1800">
              <a:solidFill>
                <a:schemeClr val="dk1"/>
              </a:solidFill>
            </a:endParaRPr>
          </a:p>
        </p:txBody>
      </p:sp>
      <p:grpSp>
        <p:nvGrpSpPr>
          <p:cNvPr id="961" name="Google Shape;961;p66"/>
          <p:cNvGrpSpPr/>
          <p:nvPr/>
        </p:nvGrpSpPr>
        <p:grpSpPr>
          <a:xfrm>
            <a:off x="7112975" y="158063"/>
            <a:ext cx="902001" cy="826823"/>
            <a:chOff x="7277075" y="1725450"/>
            <a:chExt cx="902001" cy="826823"/>
          </a:xfrm>
        </p:grpSpPr>
        <p:pic>
          <p:nvPicPr>
            <p:cNvPr id="962" name="Google Shape;962;p66" title="Figure_Ultimatum_datapaper_updated.png"/>
            <p:cNvPicPr preferRelativeResize="0"/>
            <p:nvPr/>
          </p:nvPicPr>
          <p:blipFill rotWithShape="1">
            <a:blip r:embed="rId3">
              <a:alphaModFix/>
            </a:blip>
            <a:srcRect l="50336" t="10988" r="39666" b="77279"/>
            <a:stretch/>
          </p:blipFill>
          <p:spPr>
            <a:xfrm>
              <a:off x="7277075" y="1725450"/>
              <a:ext cx="902001" cy="826823"/>
            </a:xfrm>
            <a:prstGeom prst="rect">
              <a:avLst/>
            </a:prstGeom>
            <a:noFill/>
            <a:ln>
              <a:noFill/>
            </a:ln>
          </p:spPr>
        </p:pic>
        <p:grpSp>
          <p:nvGrpSpPr>
            <p:cNvPr id="963" name="Google Shape;963;p66"/>
            <p:cNvGrpSpPr/>
            <p:nvPr/>
          </p:nvGrpSpPr>
          <p:grpSpPr>
            <a:xfrm>
              <a:off x="7367236" y="1815752"/>
              <a:ext cx="671208" cy="684854"/>
              <a:chOff x="4572000" y="553848"/>
              <a:chExt cx="3259874" cy="3326151"/>
            </a:xfrm>
          </p:grpSpPr>
          <p:pic>
            <p:nvPicPr>
              <p:cNvPr id="964" name="Google Shape;964;p66" title="Figure_Ultimatum_datapaper_updated.png"/>
              <p:cNvPicPr preferRelativeResize="0"/>
              <p:nvPr/>
            </p:nvPicPr>
            <p:blipFill rotWithShape="1">
              <a:blip r:embed="rId3">
                <a:alphaModFix/>
              </a:blip>
              <a:srcRect l="64634" t="12121" r="27964" b="80826"/>
              <a:stretch/>
            </p:blipFill>
            <p:spPr>
              <a:xfrm>
                <a:off x="4572000" y="553848"/>
                <a:ext cx="3259874" cy="2426473"/>
              </a:xfrm>
              <a:prstGeom prst="rect">
                <a:avLst/>
              </a:prstGeom>
              <a:noFill/>
              <a:ln>
                <a:noFill/>
              </a:ln>
            </p:spPr>
          </p:pic>
          <p:pic>
            <p:nvPicPr>
              <p:cNvPr id="965" name="Google Shape;965;p66" title="Figure_Ultimatum_datapaper_updated.png"/>
              <p:cNvPicPr preferRelativeResize="0"/>
              <p:nvPr/>
            </p:nvPicPr>
            <p:blipFill rotWithShape="1">
              <a:blip r:embed="rId3">
                <a:alphaModFix/>
              </a:blip>
              <a:srcRect l="51743" t="19249" r="41577" b="78135"/>
              <a:stretch/>
            </p:blipFill>
            <p:spPr>
              <a:xfrm>
                <a:off x="4666150" y="2980325"/>
                <a:ext cx="3071576" cy="899674"/>
              </a:xfrm>
              <a:prstGeom prst="rect">
                <a:avLst/>
              </a:prstGeom>
              <a:noFill/>
              <a:ln>
                <a:noFill/>
              </a:ln>
            </p:spPr>
          </p:pic>
        </p:gr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sp>
        <p:nvSpPr>
          <p:cNvPr id="970" name="Google Shape;970;p6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51</a:t>
            </a:fld>
            <a:endParaRPr/>
          </a:p>
        </p:txBody>
      </p:sp>
      <p:grpSp>
        <p:nvGrpSpPr>
          <p:cNvPr id="971" name="Google Shape;971;p67"/>
          <p:cNvGrpSpPr/>
          <p:nvPr/>
        </p:nvGrpSpPr>
        <p:grpSpPr>
          <a:xfrm>
            <a:off x="2074525" y="204025"/>
            <a:ext cx="4778600" cy="4005275"/>
            <a:chOff x="2074525" y="204025"/>
            <a:chExt cx="4778600" cy="4005275"/>
          </a:xfrm>
        </p:grpSpPr>
        <p:pic>
          <p:nvPicPr>
            <p:cNvPr id="972" name="Google Shape;972;p67" title="Figure_Ultimatum_datapaper_updated.png"/>
            <p:cNvPicPr preferRelativeResize="0"/>
            <p:nvPr/>
          </p:nvPicPr>
          <p:blipFill rotWithShape="1">
            <a:blip r:embed="rId3">
              <a:alphaModFix/>
            </a:blip>
            <a:srcRect t="6083" r="22863" b="11141"/>
            <a:stretch/>
          </p:blipFill>
          <p:spPr>
            <a:xfrm>
              <a:off x="2074525" y="204025"/>
              <a:ext cx="4778474" cy="4005275"/>
            </a:xfrm>
            <a:prstGeom prst="rect">
              <a:avLst/>
            </a:prstGeom>
            <a:noFill/>
            <a:ln>
              <a:noFill/>
            </a:ln>
          </p:spPr>
        </p:pic>
        <p:sp>
          <p:nvSpPr>
            <p:cNvPr id="973" name="Google Shape;973;p67"/>
            <p:cNvSpPr/>
            <p:nvPr/>
          </p:nvSpPr>
          <p:spPr>
            <a:xfrm>
              <a:off x="5113425" y="204025"/>
              <a:ext cx="1739700" cy="12393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74" name="Google Shape;974;p67"/>
            <p:cNvSpPr/>
            <p:nvPr/>
          </p:nvSpPr>
          <p:spPr>
            <a:xfrm>
              <a:off x="5426900" y="886875"/>
              <a:ext cx="1426200" cy="12672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975" name="Google Shape;975;p67"/>
          <p:cNvGrpSpPr/>
          <p:nvPr/>
        </p:nvGrpSpPr>
        <p:grpSpPr>
          <a:xfrm>
            <a:off x="6616425" y="1573050"/>
            <a:ext cx="1895100" cy="1267225"/>
            <a:chOff x="5013225" y="401600"/>
            <a:chExt cx="1895100" cy="1267225"/>
          </a:xfrm>
        </p:grpSpPr>
        <p:sp>
          <p:nvSpPr>
            <p:cNvPr id="976" name="Google Shape;976;p67"/>
            <p:cNvSpPr txBox="1"/>
            <p:nvPr/>
          </p:nvSpPr>
          <p:spPr>
            <a:xfrm>
              <a:off x="5013225" y="1228425"/>
              <a:ext cx="1895100" cy="44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rPr>
                <a:t>dissimilar partner</a:t>
              </a:r>
              <a:br>
                <a:rPr lang="en" b="1">
                  <a:solidFill>
                    <a:schemeClr val="dk1"/>
                  </a:solidFill>
                </a:rPr>
              </a:br>
              <a:r>
                <a:rPr lang="en" b="1">
                  <a:solidFill>
                    <a:schemeClr val="dk1"/>
                  </a:solidFill>
                </a:rPr>
                <a:t>(age mismatched)</a:t>
              </a:r>
              <a:endParaRPr>
                <a:solidFill>
                  <a:schemeClr val="dk1"/>
                </a:solidFill>
              </a:endParaRPr>
            </a:p>
          </p:txBody>
        </p:sp>
        <p:pic>
          <p:nvPicPr>
            <p:cNvPr id="977" name="Google Shape;977;p67" title="Figure_Ultimatum_datapaper_updated.png"/>
            <p:cNvPicPr preferRelativeResize="0"/>
            <p:nvPr/>
          </p:nvPicPr>
          <p:blipFill rotWithShape="1">
            <a:blip r:embed="rId3">
              <a:alphaModFix/>
            </a:blip>
            <a:srcRect l="50336" t="10988" r="39666" b="77279"/>
            <a:stretch/>
          </p:blipFill>
          <p:spPr>
            <a:xfrm>
              <a:off x="5521475" y="401600"/>
              <a:ext cx="902001" cy="826823"/>
            </a:xfrm>
            <a:prstGeom prst="rect">
              <a:avLst/>
            </a:prstGeom>
            <a:noFill/>
            <a:ln>
              <a:noFill/>
            </a:ln>
          </p:spPr>
        </p:pic>
      </p:grpSp>
      <p:sp>
        <p:nvSpPr>
          <p:cNvPr id="978" name="Google Shape;978;p67"/>
          <p:cNvSpPr txBox="1"/>
          <p:nvPr/>
        </p:nvSpPr>
        <p:spPr>
          <a:xfrm>
            <a:off x="6769310" y="984875"/>
            <a:ext cx="1589400" cy="4404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rPr>
              <a:t>similar partner</a:t>
            </a:r>
            <a:br>
              <a:rPr lang="en" b="1">
                <a:solidFill>
                  <a:schemeClr val="dk1"/>
                </a:solidFill>
              </a:rPr>
            </a:br>
            <a:r>
              <a:rPr lang="en" b="1">
                <a:solidFill>
                  <a:schemeClr val="dk1"/>
                </a:solidFill>
              </a:rPr>
              <a:t>(age matched)</a:t>
            </a:r>
            <a:endParaRPr>
              <a:solidFill>
                <a:schemeClr val="dk1"/>
              </a:solidFill>
            </a:endParaRPr>
          </a:p>
        </p:txBody>
      </p:sp>
      <p:sp>
        <p:nvSpPr>
          <p:cNvPr id="979" name="Google Shape;979;p67"/>
          <p:cNvSpPr txBox="1"/>
          <p:nvPr/>
        </p:nvSpPr>
        <p:spPr>
          <a:xfrm>
            <a:off x="5125425" y="433825"/>
            <a:ext cx="1803900" cy="393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u="sng">
                <a:solidFill>
                  <a:schemeClr val="dk2"/>
                </a:solidFill>
              </a:rPr>
              <a:t>Partner Type</a:t>
            </a:r>
            <a:endParaRPr sz="1800" b="1" u="sng">
              <a:solidFill>
                <a:schemeClr val="dk2"/>
              </a:solidFill>
            </a:endParaRPr>
          </a:p>
        </p:txBody>
      </p:sp>
      <p:sp>
        <p:nvSpPr>
          <p:cNvPr id="980" name="Google Shape;980;p67"/>
          <p:cNvSpPr txBox="1"/>
          <p:nvPr/>
        </p:nvSpPr>
        <p:spPr>
          <a:xfrm>
            <a:off x="-44300" y="4663225"/>
            <a:ext cx="7155000" cy="470100"/>
          </a:xfrm>
          <a:prstGeom prst="rect">
            <a:avLst/>
          </a:prstGeom>
          <a:noFill/>
          <a:ln>
            <a:noFill/>
          </a:ln>
        </p:spPr>
        <p:txBody>
          <a:bodyPr spcFirstLastPara="1" wrap="square" lIns="91425" tIns="91425" rIns="91425" bIns="91425" anchor="b" anchorCtr="0">
            <a:noAutofit/>
          </a:bodyPr>
          <a:lstStyle/>
          <a:p>
            <a:pPr marL="279400" lvl="0" indent="-279400" algn="l" rtl="0">
              <a:lnSpc>
                <a:spcPct val="200000"/>
              </a:lnSpc>
              <a:spcBef>
                <a:spcPts val="0"/>
              </a:spcBef>
              <a:spcAft>
                <a:spcPts val="0"/>
              </a:spcAft>
              <a:buNone/>
            </a:pPr>
            <a:r>
              <a:rPr lang="en" sz="1100" b="1">
                <a:solidFill>
                  <a:schemeClr val="dk1"/>
                </a:solidFill>
              </a:rPr>
              <a:t>Smith et al. (2024). Scientific Data</a:t>
            </a:r>
            <a:endParaRPr sz="1100" b="1">
              <a:solidFill>
                <a:srgbClr val="666666"/>
              </a:solidFill>
            </a:endParaRPr>
          </a:p>
        </p:txBody>
      </p:sp>
      <p:cxnSp>
        <p:nvCxnSpPr>
          <p:cNvPr id="981" name="Google Shape;981;p67"/>
          <p:cNvCxnSpPr/>
          <p:nvPr/>
        </p:nvCxnSpPr>
        <p:spPr>
          <a:xfrm>
            <a:off x="1734775" y="441625"/>
            <a:ext cx="0" cy="2551800"/>
          </a:xfrm>
          <a:prstGeom prst="straightConnector1">
            <a:avLst/>
          </a:prstGeom>
          <a:noFill/>
          <a:ln w="9525" cap="flat" cmpd="sng">
            <a:solidFill>
              <a:schemeClr val="dk1"/>
            </a:solidFill>
            <a:prstDash val="solid"/>
            <a:round/>
            <a:headEnd type="triangle" w="med" len="med"/>
            <a:tailEnd type="triangle" w="med" len="med"/>
          </a:ln>
        </p:spPr>
      </p:cxnSp>
      <p:sp>
        <p:nvSpPr>
          <p:cNvPr id="982" name="Google Shape;982;p67"/>
          <p:cNvSpPr txBox="1"/>
          <p:nvPr/>
        </p:nvSpPr>
        <p:spPr>
          <a:xfrm>
            <a:off x="207250" y="3514725"/>
            <a:ext cx="2202000" cy="10704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Blocks = 18</a:t>
            </a:r>
            <a:endParaRPr sz="1800">
              <a:solidFill>
                <a:schemeClr val="dk1"/>
              </a:solidFill>
            </a:endParaRPr>
          </a:p>
          <a:p>
            <a:pPr marL="0" lvl="0" indent="0" algn="l" rtl="0">
              <a:spcBef>
                <a:spcPts val="0"/>
              </a:spcBef>
              <a:spcAft>
                <a:spcPts val="0"/>
              </a:spcAft>
              <a:buNone/>
            </a:pPr>
            <a:r>
              <a:rPr lang="en" sz="1800">
                <a:solidFill>
                  <a:schemeClr val="dk1"/>
                </a:solidFill>
              </a:rPr>
              <a:t>Trials per block = 8</a:t>
            </a:r>
            <a:endParaRPr sz="1800">
              <a:solidFill>
                <a:schemeClr val="dk1"/>
              </a:solidFill>
            </a:endParaRPr>
          </a:p>
          <a:p>
            <a:pPr marL="0" lvl="0" indent="0" algn="l" rtl="0">
              <a:spcBef>
                <a:spcPts val="0"/>
              </a:spcBef>
              <a:spcAft>
                <a:spcPts val="0"/>
              </a:spcAft>
              <a:buNone/>
            </a:pPr>
            <a:r>
              <a:rPr lang="en" sz="1800">
                <a:solidFill>
                  <a:schemeClr val="dk1"/>
                </a:solidFill>
              </a:rPr>
              <a:t>Total trials = 144</a:t>
            </a:r>
            <a:endParaRPr sz="1800">
              <a:solidFill>
                <a:schemeClr val="dk1"/>
              </a:solidFill>
            </a:endParaRPr>
          </a:p>
        </p:txBody>
      </p:sp>
      <p:sp>
        <p:nvSpPr>
          <p:cNvPr id="983" name="Google Shape;983;p67"/>
          <p:cNvSpPr txBox="1"/>
          <p:nvPr/>
        </p:nvSpPr>
        <p:spPr>
          <a:xfrm rot="-5400000">
            <a:off x="493375" y="1462025"/>
            <a:ext cx="1808400" cy="6744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1800">
                <a:solidFill>
                  <a:schemeClr val="dk1"/>
                </a:solidFill>
              </a:rPr>
              <a:t>GLM regressor</a:t>
            </a:r>
            <a:endParaRPr sz="1800">
              <a:solidFill>
                <a:schemeClr val="dk1"/>
              </a:solidFill>
            </a:endParaRPr>
          </a:p>
        </p:txBody>
      </p:sp>
      <p:grpSp>
        <p:nvGrpSpPr>
          <p:cNvPr id="984" name="Google Shape;984;p67"/>
          <p:cNvGrpSpPr/>
          <p:nvPr/>
        </p:nvGrpSpPr>
        <p:grpSpPr>
          <a:xfrm>
            <a:off x="7112975" y="158063"/>
            <a:ext cx="902001" cy="826823"/>
            <a:chOff x="7277075" y="1725450"/>
            <a:chExt cx="902001" cy="826823"/>
          </a:xfrm>
        </p:grpSpPr>
        <p:pic>
          <p:nvPicPr>
            <p:cNvPr id="985" name="Google Shape;985;p67" title="Figure_Ultimatum_datapaper_updated.png"/>
            <p:cNvPicPr preferRelativeResize="0"/>
            <p:nvPr/>
          </p:nvPicPr>
          <p:blipFill rotWithShape="1">
            <a:blip r:embed="rId3">
              <a:alphaModFix/>
            </a:blip>
            <a:srcRect l="50336" t="10988" r="39666" b="77279"/>
            <a:stretch/>
          </p:blipFill>
          <p:spPr>
            <a:xfrm>
              <a:off x="7277075" y="1725450"/>
              <a:ext cx="902001" cy="826823"/>
            </a:xfrm>
            <a:prstGeom prst="rect">
              <a:avLst/>
            </a:prstGeom>
            <a:noFill/>
            <a:ln>
              <a:noFill/>
            </a:ln>
          </p:spPr>
        </p:pic>
        <p:grpSp>
          <p:nvGrpSpPr>
            <p:cNvPr id="986" name="Google Shape;986;p67"/>
            <p:cNvGrpSpPr/>
            <p:nvPr/>
          </p:nvGrpSpPr>
          <p:grpSpPr>
            <a:xfrm>
              <a:off x="7367236" y="1815752"/>
              <a:ext cx="671208" cy="684854"/>
              <a:chOff x="4572000" y="553848"/>
              <a:chExt cx="3259874" cy="3326151"/>
            </a:xfrm>
          </p:grpSpPr>
          <p:pic>
            <p:nvPicPr>
              <p:cNvPr id="987" name="Google Shape;987;p67" title="Figure_Ultimatum_datapaper_updated.png"/>
              <p:cNvPicPr preferRelativeResize="0"/>
              <p:nvPr/>
            </p:nvPicPr>
            <p:blipFill rotWithShape="1">
              <a:blip r:embed="rId3">
                <a:alphaModFix/>
              </a:blip>
              <a:srcRect l="64634" t="12121" r="27964" b="80826"/>
              <a:stretch/>
            </p:blipFill>
            <p:spPr>
              <a:xfrm>
                <a:off x="4572000" y="553848"/>
                <a:ext cx="3259874" cy="2426473"/>
              </a:xfrm>
              <a:prstGeom prst="rect">
                <a:avLst/>
              </a:prstGeom>
              <a:noFill/>
              <a:ln>
                <a:noFill/>
              </a:ln>
            </p:spPr>
          </p:pic>
          <p:pic>
            <p:nvPicPr>
              <p:cNvPr id="988" name="Google Shape;988;p67" title="Figure_Ultimatum_datapaper_updated.png"/>
              <p:cNvPicPr preferRelativeResize="0"/>
              <p:nvPr/>
            </p:nvPicPr>
            <p:blipFill rotWithShape="1">
              <a:blip r:embed="rId3">
                <a:alphaModFix/>
              </a:blip>
              <a:srcRect l="51743" t="19249" r="41577" b="78135"/>
              <a:stretch/>
            </p:blipFill>
            <p:spPr>
              <a:xfrm>
                <a:off x="4666150" y="2980325"/>
                <a:ext cx="3071576" cy="899674"/>
              </a:xfrm>
              <a:prstGeom prst="rect">
                <a:avLst/>
              </a:prstGeom>
              <a:noFill/>
              <a:ln>
                <a:noFill/>
              </a:ln>
            </p:spPr>
          </p:pic>
        </p:gr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92"/>
        <p:cNvGrpSpPr/>
        <p:nvPr/>
      </p:nvGrpSpPr>
      <p:grpSpPr>
        <a:xfrm>
          <a:off x="0" y="0"/>
          <a:ext cx="0" cy="0"/>
          <a:chOff x="0" y="0"/>
          <a:chExt cx="0" cy="0"/>
        </a:xfrm>
      </p:grpSpPr>
      <p:sp>
        <p:nvSpPr>
          <p:cNvPr id="993" name="Google Shape;993;p6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52</a:t>
            </a:fld>
            <a:endParaRPr/>
          </a:p>
        </p:txBody>
      </p:sp>
      <p:sp>
        <p:nvSpPr>
          <p:cNvPr id="994" name="Google Shape;994;p68"/>
          <p:cNvSpPr txBox="1"/>
          <p:nvPr/>
        </p:nvSpPr>
        <p:spPr>
          <a:xfrm>
            <a:off x="-10375" y="147650"/>
            <a:ext cx="8842800" cy="11271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r>
              <a:rPr lang="en" sz="2800" b="1">
                <a:solidFill>
                  <a:schemeClr val="dk1"/>
                </a:solidFill>
                <a:highlight>
                  <a:schemeClr val="lt1"/>
                </a:highlight>
              </a:rPr>
              <a:t>Age-related changes</a:t>
            </a:r>
            <a:endParaRPr sz="2800" b="1">
              <a:solidFill>
                <a:schemeClr val="dk1"/>
              </a:solidFill>
              <a:highlight>
                <a:schemeClr val="lt1"/>
              </a:highlight>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p6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53</a:t>
            </a:fld>
            <a:endParaRPr/>
          </a:p>
        </p:txBody>
      </p:sp>
      <p:sp>
        <p:nvSpPr>
          <p:cNvPr id="1000" name="Google Shape;1000;p69"/>
          <p:cNvSpPr txBox="1"/>
          <p:nvPr/>
        </p:nvSpPr>
        <p:spPr>
          <a:xfrm>
            <a:off x="-10375" y="147650"/>
            <a:ext cx="8842800" cy="11271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r>
              <a:rPr lang="en" sz="2800" b="1">
                <a:solidFill>
                  <a:schemeClr val="dk1"/>
                </a:solidFill>
                <a:highlight>
                  <a:schemeClr val="lt1"/>
                </a:highlight>
              </a:rPr>
              <a:t>Age-related changes in choice behaviors</a:t>
            </a:r>
            <a:endParaRPr sz="2800" b="1">
              <a:solidFill>
                <a:schemeClr val="dk1"/>
              </a:solidFill>
              <a:highlight>
                <a:schemeClr val="lt1"/>
              </a:highlight>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004"/>
        <p:cNvGrpSpPr/>
        <p:nvPr/>
      </p:nvGrpSpPr>
      <p:grpSpPr>
        <a:xfrm>
          <a:off x="0" y="0"/>
          <a:ext cx="0" cy="0"/>
          <a:chOff x="0" y="0"/>
          <a:chExt cx="0" cy="0"/>
        </a:xfrm>
      </p:grpSpPr>
      <p:sp>
        <p:nvSpPr>
          <p:cNvPr id="1005" name="Google Shape;1005;p7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54</a:t>
            </a:fld>
            <a:endParaRPr/>
          </a:p>
        </p:txBody>
      </p:sp>
      <p:sp>
        <p:nvSpPr>
          <p:cNvPr id="1006" name="Google Shape;1006;p70"/>
          <p:cNvSpPr txBox="1"/>
          <p:nvPr/>
        </p:nvSpPr>
        <p:spPr>
          <a:xfrm>
            <a:off x="344000" y="4103400"/>
            <a:ext cx="9014400" cy="958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600" b="1">
              <a:solidFill>
                <a:schemeClr val="dk1"/>
              </a:solidFill>
              <a:highlight>
                <a:schemeClr val="lt1"/>
              </a:highlight>
            </a:endParaRPr>
          </a:p>
        </p:txBody>
      </p:sp>
      <p:pic>
        <p:nvPicPr>
          <p:cNvPr id="1007" name="Google Shape;1007;p70"/>
          <p:cNvPicPr preferRelativeResize="0"/>
          <p:nvPr/>
        </p:nvPicPr>
        <p:blipFill rotWithShape="1">
          <a:blip r:embed="rId3">
            <a:alphaModFix/>
          </a:blip>
          <a:srcRect t="6331" r="18200"/>
          <a:stretch/>
        </p:blipFill>
        <p:spPr>
          <a:xfrm>
            <a:off x="686737" y="1106450"/>
            <a:ext cx="3752207" cy="3210951"/>
          </a:xfrm>
          <a:prstGeom prst="rect">
            <a:avLst/>
          </a:prstGeom>
          <a:noFill/>
          <a:ln>
            <a:noFill/>
          </a:ln>
        </p:spPr>
      </p:pic>
      <p:pic>
        <p:nvPicPr>
          <p:cNvPr id="1008" name="Google Shape;1008;p70"/>
          <p:cNvPicPr preferRelativeResize="0"/>
          <p:nvPr/>
        </p:nvPicPr>
        <p:blipFill rotWithShape="1">
          <a:blip r:embed="rId3">
            <a:alphaModFix/>
          </a:blip>
          <a:srcRect l="81101" t="35917" b="41518"/>
          <a:stretch/>
        </p:blipFill>
        <p:spPr>
          <a:xfrm>
            <a:off x="1208500" y="4103400"/>
            <a:ext cx="918852" cy="819849"/>
          </a:xfrm>
          <a:prstGeom prst="rect">
            <a:avLst/>
          </a:prstGeom>
          <a:noFill/>
          <a:ln>
            <a:noFill/>
          </a:ln>
        </p:spPr>
      </p:pic>
      <p:pic>
        <p:nvPicPr>
          <p:cNvPr id="1009" name="Google Shape;1009;p70"/>
          <p:cNvPicPr preferRelativeResize="0"/>
          <p:nvPr/>
        </p:nvPicPr>
        <p:blipFill rotWithShape="1">
          <a:blip r:embed="rId3">
            <a:alphaModFix/>
          </a:blip>
          <a:srcRect l="81101" t="35917" b="41518"/>
          <a:stretch/>
        </p:blipFill>
        <p:spPr>
          <a:xfrm>
            <a:off x="5099800" y="4103400"/>
            <a:ext cx="918852" cy="819849"/>
          </a:xfrm>
          <a:prstGeom prst="rect">
            <a:avLst/>
          </a:prstGeom>
          <a:noFill/>
          <a:ln>
            <a:noFill/>
          </a:ln>
        </p:spPr>
      </p:pic>
      <p:sp>
        <p:nvSpPr>
          <p:cNvPr id="1010" name="Google Shape;1010;p70"/>
          <p:cNvSpPr txBox="1"/>
          <p:nvPr/>
        </p:nvSpPr>
        <p:spPr>
          <a:xfrm>
            <a:off x="4736250" y="1767175"/>
            <a:ext cx="4204800" cy="120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 Older, lower threshold to reject</a:t>
            </a:r>
            <a:endParaRPr sz="1800">
              <a:solidFill>
                <a:schemeClr val="dk1"/>
              </a:solidFill>
            </a:endParaRPr>
          </a:p>
          <a:p>
            <a:pPr marL="0" lvl="0" indent="0" algn="l" rtl="0">
              <a:spcBef>
                <a:spcPts val="0"/>
              </a:spcBef>
              <a:spcAft>
                <a:spcPts val="0"/>
              </a:spcAft>
              <a:buNone/>
            </a:pPr>
            <a:endParaRPr sz="1800">
              <a:solidFill>
                <a:schemeClr val="dk1"/>
              </a:solidFill>
            </a:endParaRPr>
          </a:p>
          <a:p>
            <a:pPr marL="0" lvl="0" indent="0" algn="l" rtl="0">
              <a:spcBef>
                <a:spcPts val="0"/>
              </a:spcBef>
              <a:spcAft>
                <a:spcPts val="0"/>
              </a:spcAft>
              <a:buNone/>
            </a:pPr>
            <a:r>
              <a:rPr lang="en" sz="1800">
                <a:solidFill>
                  <a:schemeClr val="dk1"/>
                </a:solidFill>
              </a:rPr>
              <a:t>- Older, more sensitive to violation</a:t>
            </a:r>
            <a:endParaRPr sz="1800">
              <a:solidFill>
                <a:schemeClr val="dk1"/>
              </a:solidFill>
            </a:endParaRPr>
          </a:p>
        </p:txBody>
      </p:sp>
      <p:sp>
        <p:nvSpPr>
          <p:cNvPr id="1011" name="Google Shape;1011;p70"/>
          <p:cNvSpPr txBox="1"/>
          <p:nvPr/>
        </p:nvSpPr>
        <p:spPr>
          <a:xfrm>
            <a:off x="-10375" y="147650"/>
            <a:ext cx="8842800" cy="11271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r>
              <a:rPr lang="en" sz="2800" b="1">
                <a:solidFill>
                  <a:schemeClr val="dk1"/>
                </a:solidFill>
                <a:highlight>
                  <a:schemeClr val="lt1"/>
                </a:highlight>
              </a:rPr>
              <a:t>Age-related changes in choice behaviors</a:t>
            </a:r>
            <a:endParaRPr sz="2800" b="1">
              <a:solidFill>
                <a:schemeClr val="dk1"/>
              </a:solidFill>
              <a:highlight>
                <a:schemeClr val="lt1"/>
              </a:highlight>
            </a:endParaRPr>
          </a:p>
        </p:txBody>
      </p:sp>
      <p:sp>
        <p:nvSpPr>
          <p:cNvPr id="1012" name="Google Shape;1012;p70"/>
          <p:cNvSpPr txBox="1"/>
          <p:nvPr/>
        </p:nvSpPr>
        <p:spPr>
          <a:xfrm>
            <a:off x="-44300" y="4663225"/>
            <a:ext cx="7155000" cy="470100"/>
          </a:xfrm>
          <a:prstGeom prst="rect">
            <a:avLst/>
          </a:prstGeom>
          <a:noFill/>
          <a:ln>
            <a:noFill/>
          </a:ln>
        </p:spPr>
        <p:txBody>
          <a:bodyPr spcFirstLastPara="1" wrap="square" lIns="91425" tIns="91425" rIns="91425" bIns="91425" anchor="b" anchorCtr="0">
            <a:noAutofit/>
          </a:bodyPr>
          <a:lstStyle/>
          <a:p>
            <a:pPr marL="279400" lvl="0" indent="-279400" algn="l" rtl="0">
              <a:lnSpc>
                <a:spcPct val="100000"/>
              </a:lnSpc>
              <a:spcBef>
                <a:spcPts val="0"/>
              </a:spcBef>
              <a:spcAft>
                <a:spcPts val="0"/>
              </a:spcAft>
              <a:buNone/>
            </a:pPr>
            <a:r>
              <a:rPr lang="en" sz="1100" b="1">
                <a:solidFill>
                  <a:schemeClr val="dk1"/>
                </a:solidFill>
              </a:rPr>
              <a:t>Yang et al., in prep (1)</a:t>
            </a:r>
            <a:endParaRPr sz="1100" b="1">
              <a:solidFill>
                <a:schemeClr val="dk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p7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55</a:t>
            </a:fld>
            <a:endParaRPr/>
          </a:p>
        </p:txBody>
      </p:sp>
      <p:sp>
        <p:nvSpPr>
          <p:cNvPr id="1018" name="Google Shape;1018;p71"/>
          <p:cNvSpPr txBox="1"/>
          <p:nvPr/>
        </p:nvSpPr>
        <p:spPr>
          <a:xfrm>
            <a:off x="344000" y="4103400"/>
            <a:ext cx="9014400" cy="958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600" b="1">
              <a:solidFill>
                <a:schemeClr val="dk1"/>
              </a:solidFill>
              <a:highlight>
                <a:schemeClr val="lt1"/>
              </a:highlight>
            </a:endParaRPr>
          </a:p>
        </p:txBody>
      </p:sp>
      <p:pic>
        <p:nvPicPr>
          <p:cNvPr id="1019" name="Google Shape;1019;p71"/>
          <p:cNvPicPr preferRelativeResize="0"/>
          <p:nvPr/>
        </p:nvPicPr>
        <p:blipFill rotWithShape="1">
          <a:blip r:embed="rId3">
            <a:alphaModFix/>
          </a:blip>
          <a:srcRect t="6331" r="18200"/>
          <a:stretch/>
        </p:blipFill>
        <p:spPr>
          <a:xfrm>
            <a:off x="686737" y="1106450"/>
            <a:ext cx="3752207" cy="3210951"/>
          </a:xfrm>
          <a:prstGeom prst="rect">
            <a:avLst/>
          </a:prstGeom>
          <a:noFill/>
          <a:ln>
            <a:noFill/>
          </a:ln>
        </p:spPr>
      </p:pic>
      <p:pic>
        <p:nvPicPr>
          <p:cNvPr id="1020" name="Google Shape;1020;p71"/>
          <p:cNvPicPr preferRelativeResize="0"/>
          <p:nvPr/>
        </p:nvPicPr>
        <p:blipFill rotWithShape="1">
          <a:blip r:embed="rId3">
            <a:alphaModFix/>
          </a:blip>
          <a:srcRect l="81101" t="35917" b="41518"/>
          <a:stretch/>
        </p:blipFill>
        <p:spPr>
          <a:xfrm>
            <a:off x="1208500" y="4103400"/>
            <a:ext cx="918852" cy="819849"/>
          </a:xfrm>
          <a:prstGeom prst="rect">
            <a:avLst/>
          </a:prstGeom>
          <a:noFill/>
          <a:ln>
            <a:noFill/>
          </a:ln>
        </p:spPr>
      </p:pic>
      <p:pic>
        <p:nvPicPr>
          <p:cNvPr id="1021" name="Google Shape;1021;p71"/>
          <p:cNvPicPr preferRelativeResize="0"/>
          <p:nvPr/>
        </p:nvPicPr>
        <p:blipFill rotWithShape="1">
          <a:blip r:embed="rId3">
            <a:alphaModFix/>
          </a:blip>
          <a:srcRect l="81101" t="35917" b="41518"/>
          <a:stretch/>
        </p:blipFill>
        <p:spPr>
          <a:xfrm>
            <a:off x="5099800" y="4103400"/>
            <a:ext cx="918852" cy="819849"/>
          </a:xfrm>
          <a:prstGeom prst="rect">
            <a:avLst/>
          </a:prstGeom>
          <a:noFill/>
          <a:ln>
            <a:noFill/>
          </a:ln>
        </p:spPr>
      </p:pic>
      <p:sp>
        <p:nvSpPr>
          <p:cNvPr id="1022" name="Google Shape;1022;p71"/>
          <p:cNvSpPr txBox="1"/>
          <p:nvPr/>
        </p:nvSpPr>
        <p:spPr>
          <a:xfrm>
            <a:off x="4736250" y="1767175"/>
            <a:ext cx="4204800" cy="19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 Older, lower threshold to reject</a:t>
            </a:r>
            <a:endParaRPr sz="1800">
              <a:solidFill>
                <a:schemeClr val="dk1"/>
              </a:solidFill>
            </a:endParaRPr>
          </a:p>
          <a:p>
            <a:pPr marL="0" lvl="0" indent="0" algn="l" rtl="0">
              <a:spcBef>
                <a:spcPts val="0"/>
              </a:spcBef>
              <a:spcAft>
                <a:spcPts val="0"/>
              </a:spcAft>
              <a:buNone/>
            </a:pPr>
            <a:endParaRPr sz="1800">
              <a:solidFill>
                <a:schemeClr val="dk1"/>
              </a:solidFill>
            </a:endParaRPr>
          </a:p>
          <a:p>
            <a:pPr marL="0" lvl="0" indent="0" algn="l" rtl="0">
              <a:spcBef>
                <a:spcPts val="0"/>
              </a:spcBef>
              <a:spcAft>
                <a:spcPts val="0"/>
              </a:spcAft>
              <a:buNone/>
            </a:pPr>
            <a:r>
              <a:rPr lang="en" sz="1800">
                <a:solidFill>
                  <a:schemeClr val="dk1"/>
                </a:solidFill>
              </a:rPr>
              <a:t>- Older, more sensitive to violation</a:t>
            </a:r>
            <a:endParaRPr sz="1800">
              <a:solidFill>
                <a:schemeClr val="dk1"/>
              </a:solidFill>
            </a:endParaRPr>
          </a:p>
          <a:p>
            <a:pPr marL="0" lvl="0" indent="0" algn="l" rtl="0">
              <a:spcBef>
                <a:spcPts val="0"/>
              </a:spcBef>
              <a:spcAft>
                <a:spcPts val="0"/>
              </a:spcAft>
              <a:buNone/>
            </a:pPr>
            <a:endParaRPr sz="1800">
              <a:solidFill>
                <a:schemeClr val="dk1"/>
              </a:solidFill>
            </a:endParaRPr>
          </a:p>
          <a:p>
            <a:pPr marL="0" lvl="0" indent="0" algn="l" rtl="0">
              <a:spcBef>
                <a:spcPts val="0"/>
              </a:spcBef>
              <a:spcAft>
                <a:spcPts val="0"/>
              </a:spcAft>
              <a:buNone/>
            </a:pPr>
            <a:r>
              <a:rPr lang="en" sz="1800">
                <a:solidFill>
                  <a:schemeClr val="dk1"/>
                </a:solidFill>
              </a:rPr>
              <a:t>- No age * social context interaction or social context main effect</a:t>
            </a:r>
            <a:endParaRPr sz="1800">
              <a:solidFill>
                <a:schemeClr val="dk1"/>
              </a:solidFill>
            </a:endParaRPr>
          </a:p>
        </p:txBody>
      </p:sp>
      <p:sp>
        <p:nvSpPr>
          <p:cNvPr id="1023" name="Google Shape;1023;p71"/>
          <p:cNvSpPr txBox="1"/>
          <p:nvPr/>
        </p:nvSpPr>
        <p:spPr>
          <a:xfrm>
            <a:off x="-10375" y="147650"/>
            <a:ext cx="8842800" cy="11271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r>
              <a:rPr lang="en" sz="2800" b="1">
                <a:solidFill>
                  <a:schemeClr val="dk1"/>
                </a:solidFill>
                <a:highlight>
                  <a:schemeClr val="lt1"/>
                </a:highlight>
              </a:rPr>
              <a:t>Age-related changes in choice behaviors</a:t>
            </a:r>
            <a:endParaRPr sz="2800" b="1">
              <a:solidFill>
                <a:schemeClr val="dk1"/>
              </a:solidFill>
              <a:highlight>
                <a:schemeClr val="lt1"/>
              </a:highlight>
            </a:endParaRPr>
          </a:p>
        </p:txBody>
      </p:sp>
      <p:sp>
        <p:nvSpPr>
          <p:cNvPr id="1024" name="Google Shape;1024;p71"/>
          <p:cNvSpPr txBox="1"/>
          <p:nvPr/>
        </p:nvSpPr>
        <p:spPr>
          <a:xfrm>
            <a:off x="-44300" y="4663225"/>
            <a:ext cx="7155000" cy="470100"/>
          </a:xfrm>
          <a:prstGeom prst="rect">
            <a:avLst/>
          </a:prstGeom>
          <a:noFill/>
          <a:ln>
            <a:noFill/>
          </a:ln>
        </p:spPr>
        <p:txBody>
          <a:bodyPr spcFirstLastPara="1" wrap="square" lIns="91425" tIns="91425" rIns="91425" bIns="91425" anchor="b" anchorCtr="0">
            <a:noAutofit/>
          </a:bodyPr>
          <a:lstStyle/>
          <a:p>
            <a:pPr marL="279400" lvl="0" indent="-279400" algn="l" rtl="0">
              <a:lnSpc>
                <a:spcPct val="100000"/>
              </a:lnSpc>
              <a:spcBef>
                <a:spcPts val="0"/>
              </a:spcBef>
              <a:spcAft>
                <a:spcPts val="0"/>
              </a:spcAft>
              <a:buNone/>
            </a:pPr>
            <a:r>
              <a:rPr lang="en" sz="1100" b="1">
                <a:solidFill>
                  <a:schemeClr val="dk1"/>
                </a:solidFill>
              </a:rPr>
              <a:t>Yang et al., in prep (1)</a:t>
            </a:r>
            <a:endParaRPr sz="1100" b="1">
              <a:solidFill>
                <a:schemeClr val="dk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028"/>
        <p:cNvGrpSpPr/>
        <p:nvPr/>
      </p:nvGrpSpPr>
      <p:grpSpPr>
        <a:xfrm>
          <a:off x="0" y="0"/>
          <a:ext cx="0" cy="0"/>
          <a:chOff x="0" y="0"/>
          <a:chExt cx="0" cy="0"/>
        </a:xfrm>
      </p:grpSpPr>
      <p:sp>
        <p:nvSpPr>
          <p:cNvPr id="1029" name="Google Shape;1029;p7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56</a:t>
            </a:fld>
            <a:endParaRPr/>
          </a:p>
        </p:txBody>
      </p:sp>
      <p:sp>
        <p:nvSpPr>
          <p:cNvPr id="1030" name="Google Shape;1030;p72"/>
          <p:cNvSpPr txBox="1"/>
          <p:nvPr/>
        </p:nvSpPr>
        <p:spPr>
          <a:xfrm>
            <a:off x="248775" y="1321500"/>
            <a:ext cx="6827700" cy="2500500"/>
          </a:xfrm>
          <a:prstGeom prst="rect">
            <a:avLst/>
          </a:prstGeom>
          <a:noFill/>
          <a:ln>
            <a:noFill/>
          </a:ln>
        </p:spPr>
        <p:txBody>
          <a:bodyPr spcFirstLastPara="1" wrap="square" lIns="91425" tIns="91425" rIns="91425" bIns="91425" anchor="t" anchorCtr="0">
            <a:noAutofit/>
          </a:bodyPr>
          <a:lstStyle/>
          <a:p>
            <a:pPr marL="457200" lvl="0" indent="-368300" algn="l" rtl="0">
              <a:lnSpc>
                <a:spcPct val="115000"/>
              </a:lnSpc>
              <a:spcBef>
                <a:spcPts val="0"/>
              </a:spcBef>
              <a:spcAft>
                <a:spcPts val="0"/>
              </a:spcAft>
              <a:buClr>
                <a:schemeClr val="dk1"/>
              </a:buClr>
              <a:buSzPts val="2200"/>
              <a:buChar char="●"/>
            </a:pPr>
            <a:r>
              <a:rPr lang="en" sz="2200" b="1">
                <a:solidFill>
                  <a:schemeClr val="dk1"/>
                </a:solidFill>
              </a:rPr>
              <a:t>Functional connectivity</a:t>
            </a:r>
            <a:br>
              <a:rPr lang="en" sz="2200">
                <a:solidFill>
                  <a:schemeClr val="dk1"/>
                </a:solidFill>
              </a:rPr>
            </a:br>
            <a:r>
              <a:rPr lang="en" sz="2200">
                <a:solidFill>
                  <a:srgbClr val="38761D"/>
                </a:solidFill>
              </a:rPr>
              <a:t>- Default Mode Network (DMN)</a:t>
            </a:r>
            <a:br>
              <a:rPr lang="en" sz="2200">
                <a:solidFill>
                  <a:schemeClr val="dk1"/>
                </a:solidFill>
              </a:rPr>
            </a:br>
            <a:r>
              <a:rPr lang="en" sz="2200">
                <a:solidFill>
                  <a:srgbClr val="1155CC"/>
                </a:solidFill>
              </a:rPr>
              <a:t>- Executive Control Network (ECN)</a:t>
            </a:r>
            <a:r>
              <a:rPr lang="en" sz="2200">
                <a:solidFill>
                  <a:schemeClr val="dk1"/>
                </a:solidFill>
              </a:rPr>
              <a:t>  </a:t>
            </a:r>
            <a:endParaRPr sz="2200">
              <a:solidFill>
                <a:schemeClr val="dk1"/>
              </a:solidFill>
            </a:endParaRPr>
          </a:p>
          <a:p>
            <a:pPr marL="457200" lvl="0" indent="-368300" algn="l" rtl="0">
              <a:lnSpc>
                <a:spcPct val="115000"/>
              </a:lnSpc>
              <a:spcBef>
                <a:spcPts val="1000"/>
              </a:spcBef>
              <a:spcAft>
                <a:spcPts val="1000"/>
              </a:spcAft>
              <a:buClr>
                <a:schemeClr val="dk1"/>
              </a:buClr>
              <a:buSzPts val="2200"/>
              <a:buChar char="●"/>
            </a:pPr>
            <a:r>
              <a:rPr lang="en" sz="2200" b="1">
                <a:solidFill>
                  <a:schemeClr val="dk1"/>
                </a:solidFill>
              </a:rPr>
              <a:t>Connectivity-behavior association</a:t>
            </a:r>
            <a:br>
              <a:rPr lang="en" sz="2200" b="1">
                <a:solidFill>
                  <a:schemeClr val="dk1"/>
                </a:solidFill>
              </a:rPr>
            </a:br>
            <a:r>
              <a:rPr lang="en" sz="2200">
                <a:solidFill>
                  <a:schemeClr val="dk1"/>
                </a:solidFill>
              </a:rPr>
              <a:t>- Fairness norm</a:t>
            </a:r>
            <a:br>
              <a:rPr lang="en" sz="2200">
                <a:solidFill>
                  <a:schemeClr val="dk1"/>
                </a:solidFill>
              </a:rPr>
            </a:br>
            <a:r>
              <a:rPr lang="en" sz="2200">
                <a:solidFill>
                  <a:schemeClr val="dk1"/>
                </a:solidFill>
              </a:rPr>
              <a:t>- Norm violation sensitivity</a:t>
            </a:r>
            <a:endParaRPr sz="2200">
              <a:solidFill>
                <a:schemeClr val="dk1"/>
              </a:solidFill>
            </a:endParaRPr>
          </a:p>
        </p:txBody>
      </p:sp>
      <p:sp>
        <p:nvSpPr>
          <p:cNvPr id="1031" name="Google Shape;1031;p72"/>
          <p:cNvSpPr txBox="1"/>
          <p:nvPr/>
        </p:nvSpPr>
        <p:spPr>
          <a:xfrm>
            <a:off x="-44300" y="4663225"/>
            <a:ext cx="7155000" cy="470100"/>
          </a:xfrm>
          <a:prstGeom prst="rect">
            <a:avLst/>
          </a:prstGeom>
          <a:noFill/>
          <a:ln>
            <a:noFill/>
          </a:ln>
        </p:spPr>
        <p:txBody>
          <a:bodyPr spcFirstLastPara="1" wrap="square" lIns="91425" tIns="91425" rIns="91425" bIns="91425" anchor="b" anchorCtr="0">
            <a:noAutofit/>
          </a:bodyPr>
          <a:lstStyle/>
          <a:p>
            <a:pPr marL="279400" lvl="0" indent="-279400" algn="l" rtl="0">
              <a:lnSpc>
                <a:spcPct val="100000"/>
              </a:lnSpc>
              <a:spcBef>
                <a:spcPts val="0"/>
              </a:spcBef>
              <a:spcAft>
                <a:spcPts val="0"/>
              </a:spcAft>
              <a:buNone/>
            </a:pPr>
            <a:r>
              <a:rPr lang="en" sz="1100" b="1">
                <a:solidFill>
                  <a:schemeClr val="dk1"/>
                </a:solidFill>
              </a:rPr>
              <a:t>Yang et al., in prep (1)</a:t>
            </a:r>
            <a:endParaRPr sz="1100" b="1">
              <a:solidFill>
                <a:schemeClr val="dk1"/>
              </a:solidFill>
            </a:endParaRPr>
          </a:p>
        </p:txBody>
      </p:sp>
      <p:grpSp>
        <p:nvGrpSpPr>
          <p:cNvPr id="1032" name="Google Shape;1032;p72"/>
          <p:cNvGrpSpPr/>
          <p:nvPr/>
        </p:nvGrpSpPr>
        <p:grpSpPr>
          <a:xfrm>
            <a:off x="5661021" y="1494830"/>
            <a:ext cx="2990804" cy="1305648"/>
            <a:chOff x="5661021" y="1190030"/>
            <a:chExt cx="2990804" cy="1305648"/>
          </a:xfrm>
        </p:grpSpPr>
        <p:grpSp>
          <p:nvGrpSpPr>
            <p:cNvPr id="1033" name="Google Shape;1033;p72"/>
            <p:cNvGrpSpPr/>
            <p:nvPr/>
          </p:nvGrpSpPr>
          <p:grpSpPr>
            <a:xfrm>
              <a:off x="5661021" y="1425796"/>
              <a:ext cx="2764051" cy="1069883"/>
              <a:chOff x="-321558" y="1161346"/>
              <a:chExt cx="1727100" cy="663000"/>
            </a:xfrm>
          </p:grpSpPr>
          <p:sp>
            <p:nvSpPr>
              <p:cNvPr id="1034" name="Google Shape;1034;p72"/>
              <p:cNvSpPr/>
              <p:nvPr/>
            </p:nvSpPr>
            <p:spPr>
              <a:xfrm>
                <a:off x="-321558" y="1161346"/>
                <a:ext cx="1727100" cy="663000"/>
              </a:xfrm>
              <a:prstGeom prst="roundRect">
                <a:avLst>
                  <a:gd name="adj" fmla="val 16667"/>
                </a:avLst>
              </a:prstGeom>
              <a:solidFill>
                <a:schemeClr val="lt1"/>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035" name="Google Shape;1035;p72"/>
              <p:cNvGrpSpPr/>
              <p:nvPr/>
            </p:nvGrpSpPr>
            <p:grpSpPr>
              <a:xfrm>
                <a:off x="-259808" y="1189551"/>
                <a:ext cx="1624776" cy="606602"/>
                <a:chOff x="-259808" y="1189551"/>
                <a:chExt cx="1624776" cy="606602"/>
              </a:xfrm>
            </p:grpSpPr>
            <p:pic>
              <p:nvPicPr>
                <p:cNvPr id="1036" name="Google Shape;1036;p72" title="DMN_2green.png"/>
                <p:cNvPicPr preferRelativeResize="0"/>
                <p:nvPr/>
              </p:nvPicPr>
              <p:blipFill rotWithShape="1">
                <a:blip r:embed="rId3">
                  <a:alphaModFix/>
                </a:blip>
                <a:srcRect t="11465" r="55062" b="46348"/>
                <a:stretch/>
              </p:blipFill>
              <p:spPr>
                <a:xfrm>
                  <a:off x="275952" y="1210719"/>
                  <a:ext cx="487076" cy="544200"/>
                </a:xfrm>
                <a:prstGeom prst="rect">
                  <a:avLst/>
                </a:prstGeom>
                <a:noFill/>
                <a:ln>
                  <a:noFill/>
                </a:ln>
              </p:spPr>
            </p:pic>
            <p:pic>
              <p:nvPicPr>
                <p:cNvPr id="1037" name="Google Shape;1037;p72" title="DMN_2green.png"/>
                <p:cNvPicPr preferRelativeResize="0"/>
                <p:nvPr/>
              </p:nvPicPr>
              <p:blipFill rotWithShape="1">
                <a:blip r:embed="rId3">
                  <a:alphaModFix/>
                </a:blip>
                <a:srcRect l="45048" t="11466" b="46346"/>
                <a:stretch/>
              </p:blipFill>
              <p:spPr>
                <a:xfrm>
                  <a:off x="769380" y="1210705"/>
                  <a:ext cx="595588" cy="544215"/>
                </a:xfrm>
                <a:prstGeom prst="rect">
                  <a:avLst/>
                </a:prstGeom>
                <a:noFill/>
                <a:ln>
                  <a:noFill/>
                </a:ln>
              </p:spPr>
            </p:pic>
            <p:pic>
              <p:nvPicPr>
                <p:cNvPr id="1038" name="Google Shape;1038;p72" title="DMN_2green.png"/>
                <p:cNvPicPr preferRelativeResize="0"/>
                <p:nvPr/>
              </p:nvPicPr>
              <p:blipFill rotWithShape="1">
                <a:blip r:embed="rId3">
                  <a:alphaModFix/>
                </a:blip>
                <a:srcRect t="52978" r="55062"/>
                <a:stretch/>
              </p:blipFill>
              <p:spPr>
                <a:xfrm>
                  <a:off x="-259808" y="1189551"/>
                  <a:ext cx="487076" cy="606602"/>
                </a:xfrm>
                <a:prstGeom prst="rect">
                  <a:avLst/>
                </a:prstGeom>
                <a:noFill/>
                <a:ln>
                  <a:noFill/>
                </a:ln>
              </p:spPr>
            </p:pic>
          </p:grpSp>
        </p:grpSp>
        <p:sp>
          <p:nvSpPr>
            <p:cNvPr id="1039" name="Google Shape;1039;p72"/>
            <p:cNvSpPr txBox="1"/>
            <p:nvPr/>
          </p:nvSpPr>
          <p:spPr>
            <a:xfrm>
              <a:off x="5713925" y="1190030"/>
              <a:ext cx="2937900" cy="47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r>
                <a:rPr lang="en" sz="1600" b="1">
                  <a:solidFill>
                    <a:srgbClr val="38761D"/>
                  </a:solidFill>
                  <a:highlight>
                    <a:schemeClr val="lt1"/>
                  </a:highlight>
                </a:rPr>
                <a:t>Default Mode Network</a:t>
              </a:r>
              <a:endParaRPr sz="1600" b="1">
                <a:highlight>
                  <a:schemeClr val="lt1"/>
                </a:highlight>
              </a:endParaRPr>
            </a:p>
          </p:txBody>
        </p:sp>
      </p:grpSp>
      <p:grpSp>
        <p:nvGrpSpPr>
          <p:cNvPr id="1040" name="Google Shape;1040;p72"/>
          <p:cNvGrpSpPr/>
          <p:nvPr/>
        </p:nvGrpSpPr>
        <p:grpSpPr>
          <a:xfrm>
            <a:off x="5661030" y="2786832"/>
            <a:ext cx="2990795" cy="1323171"/>
            <a:chOff x="5661030" y="2786832"/>
            <a:chExt cx="2990795" cy="1323171"/>
          </a:xfrm>
        </p:grpSpPr>
        <p:grpSp>
          <p:nvGrpSpPr>
            <p:cNvPr id="1041" name="Google Shape;1041;p72"/>
            <p:cNvGrpSpPr/>
            <p:nvPr/>
          </p:nvGrpSpPr>
          <p:grpSpPr>
            <a:xfrm>
              <a:off x="5661030" y="3048903"/>
              <a:ext cx="2764200" cy="1061100"/>
              <a:chOff x="5661005" y="2942303"/>
              <a:chExt cx="2764200" cy="1061100"/>
            </a:xfrm>
          </p:grpSpPr>
          <p:sp>
            <p:nvSpPr>
              <p:cNvPr id="1042" name="Google Shape;1042;p72"/>
              <p:cNvSpPr/>
              <p:nvPr/>
            </p:nvSpPr>
            <p:spPr>
              <a:xfrm>
                <a:off x="5661005" y="2942303"/>
                <a:ext cx="2764200" cy="1061100"/>
              </a:xfrm>
              <a:prstGeom prst="roundRect">
                <a:avLst>
                  <a:gd name="adj" fmla="val 16667"/>
                </a:avLst>
              </a:prstGeom>
              <a:solidFill>
                <a:schemeClr val="lt1"/>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043" name="Google Shape;1043;p72"/>
              <p:cNvGrpSpPr/>
              <p:nvPr/>
            </p:nvGrpSpPr>
            <p:grpSpPr>
              <a:xfrm>
                <a:off x="5793771" y="2976214"/>
                <a:ext cx="2532437" cy="958984"/>
                <a:chOff x="-9625" y="1107063"/>
                <a:chExt cx="1987628" cy="752676"/>
              </a:xfrm>
            </p:grpSpPr>
            <p:pic>
              <p:nvPicPr>
                <p:cNvPr id="1044" name="Google Shape;1044;p72" title="ECN_7cool.png"/>
                <p:cNvPicPr preferRelativeResize="0"/>
                <p:nvPr/>
              </p:nvPicPr>
              <p:blipFill rotWithShape="1">
                <a:blip r:embed="rId4">
                  <a:alphaModFix/>
                </a:blip>
                <a:srcRect t="11395" r="55952" b="51773"/>
                <a:stretch/>
              </p:blipFill>
              <p:spPr>
                <a:xfrm>
                  <a:off x="648489" y="1206657"/>
                  <a:ext cx="547751" cy="553498"/>
                </a:xfrm>
                <a:prstGeom prst="rect">
                  <a:avLst/>
                </a:prstGeom>
                <a:noFill/>
                <a:ln>
                  <a:noFill/>
                </a:ln>
              </p:spPr>
            </p:pic>
            <p:pic>
              <p:nvPicPr>
                <p:cNvPr id="1045" name="Google Shape;1045;p72" title="ECN_7cool.png"/>
                <p:cNvPicPr preferRelativeResize="0"/>
                <p:nvPr/>
              </p:nvPicPr>
              <p:blipFill rotWithShape="1">
                <a:blip r:embed="rId4">
                  <a:alphaModFix/>
                </a:blip>
                <a:srcRect l="43454" t="9886" b="45877"/>
                <a:stretch/>
              </p:blipFill>
              <p:spPr>
                <a:xfrm>
                  <a:off x="1274852" y="1151025"/>
                  <a:ext cx="703151" cy="664755"/>
                </a:xfrm>
                <a:prstGeom prst="rect">
                  <a:avLst/>
                </a:prstGeom>
                <a:noFill/>
                <a:ln>
                  <a:noFill/>
                </a:ln>
              </p:spPr>
            </p:pic>
            <p:pic>
              <p:nvPicPr>
                <p:cNvPr id="1046" name="Google Shape;1046;p72" title="ECN_7cool.png"/>
                <p:cNvPicPr preferRelativeResize="0"/>
                <p:nvPr/>
              </p:nvPicPr>
              <p:blipFill rotWithShape="1">
                <a:blip r:embed="rId4">
                  <a:alphaModFix/>
                </a:blip>
                <a:srcRect t="49917" r="55952"/>
                <a:stretch/>
              </p:blipFill>
              <p:spPr>
                <a:xfrm>
                  <a:off x="-9625" y="1107063"/>
                  <a:ext cx="547751" cy="752676"/>
                </a:xfrm>
                <a:prstGeom prst="rect">
                  <a:avLst/>
                </a:prstGeom>
                <a:noFill/>
                <a:ln>
                  <a:noFill/>
                </a:ln>
              </p:spPr>
            </p:pic>
          </p:grpSp>
        </p:grpSp>
        <p:sp>
          <p:nvSpPr>
            <p:cNvPr id="1047" name="Google Shape;1047;p72"/>
            <p:cNvSpPr txBox="1"/>
            <p:nvPr/>
          </p:nvSpPr>
          <p:spPr>
            <a:xfrm>
              <a:off x="5713925" y="2786832"/>
              <a:ext cx="2937900" cy="47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r>
                <a:rPr lang="en" sz="1600" b="1">
                  <a:solidFill>
                    <a:srgbClr val="3C78D8"/>
                  </a:solidFill>
                  <a:highlight>
                    <a:schemeClr val="lt1"/>
                  </a:highlight>
                </a:rPr>
                <a:t>Executive Control Network</a:t>
              </a:r>
              <a:endParaRPr sz="1600" b="1">
                <a:solidFill>
                  <a:srgbClr val="3C78D8"/>
                </a:solidFill>
                <a:highlight>
                  <a:schemeClr val="lt1"/>
                </a:highlight>
              </a:endParaRPr>
            </a:p>
          </p:txBody>
        </p:sp>
      </p:grpSp>
      <p:sp>
        <p:nvSpPr>
          <p:cNvPr id="1048" name="Google Shape;1048;p72"/>
          <p:cNvSpPr txBox="1"/>
          <p:nvPr/>
        </p:nvSpPr>
        <p:spPr>
          <a:xfrm>
            <a:off x="-10375" y="147650"/>
            <a:ext cx="8842800" cy="1127100"/>
          </a:xfrm>
          <a:prstGeom prst="rect">
            <a:avLst/>
          </a:prstGeom>
          <a:noFill/>
          <a:ln>
            <a:noFill/>
          </a:ln>
        </p:spPr>
        <p:txBody>
          <a:bodyPr spcFirstLastPara="1" wrap="square" lIns="91425" tIns="91425" rIns="91425" bIns="91425" anchor="ctr" anchorCtr="0">
            <a:noAutofit/>
          </a:bodyPr>
          <a:lstStyle/>
          <a:p>
            <a:pPr marL="457200" lvl="0" indent="0" algn="l" rtl="0">
              <a:spcBef>
                <a:spcPts val="0"/>
              </a:spcBef>
              <a:spcAft>
                <a:spcPts val="0"/>
              </a:spcAft>
              <a:buNone/>
            </a:pPr>
            <a:r>
              <a:rPr lang="en" sz="2800" b="1">
                <a:solidFill>
                  <a:schemeClr val="dk1"/>
                </a:solidFill>
                <a:highlight>
                  <a:schemeClr val="lt1"/>
                </a:highlight>
              </a:rPr>
              <a:t>Age * social context interaction in the brain</a:t>
            </a:r>
            <a:endParaRPr sz="2800" b="1">
              <a:solidFill>
                <a:schemeClr val="dk1"/>
              </a:solidFill>
              <a:highlight>
                <a:schemeClr val="lt1"/>
              </a:highlight>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052"/>
        <p:cNvGrpSpPr/>
        <p:nvPr/>
      </p:nvGrpSpPr>
      <p:grpSpPr>
        <a:xfrm>
          <a:off x="0" y="0"/>
          <a:ext cx="0" cy="0"/>
          <a:chOff x="0" y="0"/>
          <a:chExt cx="0" cy="0"/>
        </a:xfrm>
      </p:grpSpPr>
      <p:sp>
        <p:nvSpPr>
          <p:cNvPr id="1053" name="Google Shape;1053;p7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57</a:t>
            </a:fld>
            <a:endParaRPr/>
          </a:p>
        </p:txBody>
      </p:sp>
      <p:sp>
        <p:nvSpPr>
          <p:cNvPr id="1054" name="Google Shape;1054;p73"/>
          <p:cNvSpPr txBox="1"/>
          <p:nvPr/>
        </p:nvSpPr>
        <p:spPr>
          <a:xfrm>
            <a:off x="248775" y="1321500"/>
            <a:ext cx="6827700" cy="2500500"/>
          </a:xfrm>
          <a:prstGeom prst="rect">
            <a:avLst/>
          </a:prstGeom>
          <a:noFill/>
          <a:ln>
            <a:noFill/>
          </a:ln>
        </p:spPr>
        <p:txBody>
          <a:bodyPr spcFirstLastPara="1" wrap="square" lIns="91425" tIns="91425" rIns="91425" bIns="91425" anchor="t" anchorCtr="0">
            <a:noAutofit/>
          </a:bodyPr>
          <a:lstStyle/>
          <a:p>
            <a:pPr marL="457200" lvl="0" indent="-368300" algn="l" rtl="0">
              <a:lnSpc>
                <a:spcPct val="115000"/>
              </a:lnSpc>
              <a:spcBef>
                <a:spcPts val="0"/>
              </a:spcBef>
              <a:spcAft>
                <a:spcPts val="0"/>
              </a:spcAft>
              <a:buClr>
                <a:schemeClr val="dk1"/>
              </a:buClr>
              <a:buSzPts val="2200"/>
              <a:buChar char="●"/>
            </a:pPr>
            <a:r>
              <a:rPr lang="en" sz="2200" b="1">
                <a:solidFill>
                  <a:schemeClr val="dk1"/>
                </a:solidFill>
              </a:rPr>
              <a:t>Functional connectivity</a:t>
            </a:r>
            <a:br>
              <a:rPr lang="en" sz="2200">
                <a:solidFill>
                  <a:schemeClr val="dk1"/>
                </a:solidFill>
              </a:rPr>
            </a:br>
            <a:r>
              <a:rPr lang="en" sz="2200">
                <a:solidFill>
                  <a:srgbClr val="38761D"/>
                </a:solidFill>
              </a:rPr>
              <a:t>- Default Mode Network (DMN)</a:t>
            </a:r>
            <a:br>
              <a:rPr lang="en" sz="2200">
                <a:solidFill>
                  <a:schemeClr val="dk1"/>
                </a:solidFill>
              </a:rPr>
            </a:br>
            <a:r>
              <a:rPr lang="en" sz="2200">
                <a:solidFill>
                  <a:srgbClr val="1155CC"/>
                </a:solidFill>
              </a:rPr>
              <a:t>- Executive Control Network (ECN)</a:t>
            </a:r>
            <a:r>
              <a:rPr lang="en" sz="2200">
                <a:solidFill>
                  <a:schemeClr val="dk1"/>
                </a:solidFill>
              </a:rPr>
              <a:t> </a:t>
            </a:r>
            <a:endParaRPr sz="2200">
              <a:solidFill>
                <a:schemeClr val="dk1"/>
              </a:solidFill>
            </a:endParaRPr>
          </a:p>
          <a:p>
            <a:pPr marL="457200" lvl="0" indent="-368300" algn="l" rtl="0">
              <a:lnSpc>
                <a:spcPct val="115000"/>
              </a:lnSpc>
              <a:spcBef>
                <a:spcPts val="1000"/>
              </a:spcBef>
              <a:spcAft>
                <a:spcPts val="1000"/>
              </a:spcAft>
              <a:buClr>
                <a:srgbClr val="CCCCCC"/>
              </a:buClr>
              <a:buSzPts val="2200"/>
              <a:buChar char="●"/>
            </a:pPr>
            <a:r>
              <a:rPr lang="en" sz="2200" b="1">
                <a:solidFill>
                  <a:srgbClr val="CCCCCC"/>
                </a:solidFill>
              </a:rPr>
              <a:t>Connectivity-behavior association</a:t>
            </a:r>
            <a:br>
              <a:rPr lang="en" sz="2200" b="1">
                <a:solidFill>
                  <a:srgbClr val="CCCCCC"/>
                </a:solidFill>
              </a:rPr>
            </a:br>
            <a:r>
              <a:rPr lang="en" sz="2200">
                <a:solidFill>
                  <a:srgbClr val="CCCCCC"/>
                </a:solidFill>
              </a:rPr>
              <a:t>- Fairness norm</a:t>
            </a:r>
            <a:br>
              <a:rPr lang="en" sz="2200">
                <a:solidFill>
                  <a:srgbClr val="CCCCCC"/>
                </a:solidFill>
              </a:rPr>
            </a:br>
            <a:r>
              <a:rPr lang="en" sz="2200">
                <a:solidFill>
                  <a:srgbClr val="CCCCCC"/>
                </a:solidFill>
              </a:rPr>
              <a:t>- Norm violation sensitivity</a:t>
            </a:r>
            <a:endParaRPr sz="2200">
              <a:solidFill>
                <a:srgbClr val="CCCCCC"/>
              </a:solidFill>
            </a:endParaRPr>
          </a:p>
        </p:txBody>
      </p:sp>
      <p:sp>
        <p:nvSpPr>
          <p:cNvPr id="1055" name="Google Shape;1055;p73"/>
          <p:cNvSpPr txBox="1"/>
          <p:nvPr/>
        </p:nvSpPr>
        <p:spPr>
          <a:xfrm>
            <a:off x="-44300" y="4663225"/>
            <a:ext cx="7155000" cy="470100"/>
          </a:xfrm>
          <a:prstGeom prst="rect">
            <a:avLst/>
          </a:prstGeom>
          <a:noFill/>
          <a:ln>
            <a:noFill/>
          </a:ln>
        </p:spPr>
        <p:txBody>
          <a:bodyPr spcFirstLastPara="1" wrap="square" lIns="91425" tIns="91425" rIns="91425" bIns="91425" anchor="b" anchorCtr="0">
            <a:noAutofit/>
          </a:bodyPr>
          <a:lstStyle/>
          <a:p>
            <a:pPr marL="279400" lvl="0" indent="-279400" algn="l" rtl="0">
              <a:lnSpc>
                <a:spcPct val="100000"/>
              </a:lnSpc>
              <a:spcBef>
                <a:spcPts val="0"/>
              </a:spcBef>
              <a:spcAft>
                <a:spcPts val="0"/>
              </a:spcAft>
              <a:buNone/>
            </a:pPr>
            <a:r>
              <a:rPr lang="en" sz="1100" b="1">
                <a:solidFill>
                  <a:schemeClr val="dk1"/>
                </a:solidFill>
              </a:rPr>
              <a:t>Yang et al., in prep (1)</a:t>
            </a:r>
            <a:endParaRPr sz="1100" b="1">
              <a:solidFill>
                <a:schemeClr val="dk1"/>
              </a:solidFill>
            </a:endParaRPr>
          </a:p>
        </p:txBody>
      </p:sp>
      <p:grpSp>
        <p:nvGrpSpPr>
          <p:cNvPr id="1056" name="Google Shape;1056;p73"/>
          <p:cNvGrpSpPr/>
          <p:nvPr/>
        </p:nvGrpSpPr>
        <p:grpSpPr>
          <a:xfrm>
            <a:off x="5661021" y="1494830"/>
            <a:ext cx="2990804" cy="2615173"/>
            <a:chOff x="5661021" y="1494830"/>
            <a:chExt cx="2990804" cy="2615173"/>
          </a:xfrm>
        </p:grpSpPr>
        <p:grpSp>
          <p:nvGrpSpPr>
            <p:cNvPr id="1057" name="Google Shape;1057;p73"/>
            <p:cNvGrpSpPr/>
            <p:nvPr/>
          </p:nvGrpSpPr>
          <p:grpSpPr>
            <a:xfrm>
              <a:off x="5661021" y="1494830"/>
              <a:ext cx="2990804" cy="1305648"/>
              <a:chOff x="5661021" y="1190030"/>
              <a:chExt cx="2990804" cy="1305648"/>
            </a:xfrm>
          </p:grpSpPr>
          <p:grpSp>
            <p:nvGrpSpPr>
              <p:cNvPr id="1058" name="Google Shape;1058;p73"/>
              <p:cNvGrpSpPr/>
              <p:nvPr/>
            </p:nvGrpSpPr>
            <p:grpSpPr>
              <a:xfrm>
                <a:off x="5661021" y="1425796"/>
                <a:ext cx="2764051" cy="1069883"/>
                <a:chOff x="-321558" y="1161346"/>
                <a:chExt cx="1727100" cy="663000"/>
              </a:xfrm>
            </p:grpSpPr>
            <p:sp>
              <p:nvSpPr>
                <p:cNvPr id="1059" name="Google Shape;1059;p73"/>
                <p:cNvSpPr/>
                <p:nvPr/>
              </p:nvSpPr>
              <p:spPr>
                <a:xfrm>
                  <a:off x="-321558" y="1161346"/>
                  <a:ext cx="1727100" cy="663000"/>
                </a:xfrm>
                <a:prstGeom prst="roundRect">
                  <a:avLst>
                    <a:gd name="adj" fmla="val 16667"/>
                  </a:avLst>
                </a:prstGeom>
                <a:solidFill>
                  <a:schemeClr val="lt1"/>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060" name="Google Shape;1060;p73"/>
                <p:cNvGrpSpPr/>
                <p:nvPr/>
              </p:nvGrpSpPr>
              <p:grpSpPr>
                <a:xfrm>
                  <a:off x="-259808" y="1189551"/>
                  <a:ext cx="1624776" cy="606602"/>
                  <a:chOff x="-259808" y="1189551"/>
                  <a:chExt cx="1624776" cy="606602"/>
                </a:xfrm>
              </p:grpSpPr>
              <p:pic>
                <p:nvPicPr>
                  <p:cNvPr id="1061" name="Google Shape;1061;p73" title="DMN_2green.png"/>
                  <p:cNvPicPr preferRelativeResize="0"/>
                  <p:nvPr/>
                </p:nvPicPr>
                <p:blipFill rotWithShape="1">
                  <a:blip r:embed="rId3">
                    <a:alphaModFix/>
                  </a:blip>
                  <a:srcRect t="11465" r="55062" b="46348"/>
                  <a:stretch/>
                </p:blipFill>
                <p:spPr>
                  <a:xfrm>
                    <a:off x="275952" y="1210719"/>
                    <a:ext cx="487076" cy="544200"/>
                  </a:xfrm>
                  <a:prstGeom prst="rect">
                    <a:avLst/>
                  </a:prstGeom>
                  <a:noFill/>
                  <a:ln>
                    <a:noFill/>
                  </a:ln>
                </p:spPr>
              </p:pic>
              <p:pic>
                <p:nvPicPr>
                  <p:cNvPr id="1062" name="Google Shape;1062;p73" title="DMN_2green.png"/>
                  <p:cNvPicPr preferRelativeResize="0"/>
                  <p:nvPr/>
                </p:nvPicPr>
                <p:blipFill rotWithShape="1">
                  <a:blip r:embed="rId3">
                    <a:alphaModFix/>
                  </a:blip>
                  <a:srcRect l="45048" t="11466" b="46346"/>
                  <a:stretch/>
                </p:blipFill>
                <p:spPr>
                  <a:xfrm>
                    <a:off x="769380" y="1210705"/>
                    <a:ext cx="595588" cy="544215"/>
                  </a:xfrm>
                  <a:prstGeom prst="rect">
                    <a:avLst/>
                  </a:prstGeom>
                  <a:noFill/>
                  <a:ln>
                    <a:noFill/>
                  </a:ln>
                </p:spPr>
              </p:pic>
              <p:pic>
                <p:nvPicPr>
                  <p:cNvPr id="1063" name="Google Shape;1063;p73" title="DMN_2green.png"/>
                  <p:cNvPicPr preferRelativeResize="0"/>
                  <p:nvPr/>
                </p:nvPicPr>
                <p:blipFill rotWithShape="1">
                  <a:blip r:embed="rId3">
                    <a:alphaModFix/>
                  </a:blip>
                  <a:srcRect t="52978" r="55062"/>
                  <a:stretch/>
                </p:blipFill>
                <p:spPr>
                  <a:xfrm>
                    <a:off x="-259808" y="1189551"/>
                    <a:ext cx="487076" cy="606602"/>
                  </a:xfrm>
                  <a:prstGeom prst="rect">
                    <a:avLst/>
                  </a:prstGeom>
                  <a:noFill/>
                  <a:ln>
                    <a:noFill/>
                  </a:ln>
                </p:spPr>
              </p:pic>
            </p:grpSp>
          </p:grpSp>
          <p:sp>
            <p:nvSpPr>
              <p:cNvPr id="1064" name="Google Shape;1064;p73"/>
              <p:cNvSpPr txBox="1"/>
              <p:nvPr/>
            </p:nvSpPr>
            <p:spPr>
              <a:xfrm>
                <a:off x="5713925" y="1190030"/>
                <a:ext cx="2937900" cy="47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r>
                  <a:rPr lang="en" sz="1600" b="1">
                    <a:solidFill>
                      <a:srgbClr val="38761D"/>
                    </a:solidFill>
                    <a:highlight>
                      <a:schemeClr val="lt1"/>
                    </a:highlight>
                  </a:rPr>
                  <a:t>Default Mode Network</a:t>
                </a:r>
                <a:endParaRPr sz="1600" b="1">
                  <a:highlight>
                    <a:schemeClr val="lt1"/>
                  </a:highlight>
                </a:endParaRPr>
              </a:p>
            </p:txBody>
          </p:sp>
        </p:grpSp>
        <p:grpSp>
          <p:nvGrpSpPr>
            <p:cNvPr id="1065" name="Google Shape;1065;p73"/>
            <p:cNvGrpSpPr/>
            <p:nvPr/>
          </p:nvGrpSpPr>
          <p:grpSpPr>
            <a:xfrm>
              <a:off x="5661030" y="2786832"/>
              <a:ext cx="2990795" cy="1323171"/>
              <a:chOff x="5661030" y="2786832"/>
              <a:chExt cx="2990795" cy="1323171"/>
            </a:xfrm>
          </p:grpSpPr>
          <p:grpSp>
            <p:nvGrpSpPr>
              <p:cNvPr id="1066" name="Google Shape;1066;p73"/>
              <p:cNvGrpSpPr/>
              <p:nvPr/>
            </p:nvGrpSpPr>
            <p:grpSpPr>
              <a:xfrm>
                <a:off x="5661030" y="3048903"/>
                <a:ext cx="2764200" cy="1061100"/>
                <a:chOff x="5661005" y="2942303"/>
                <a:chExt cx="2764200" cy="1061100"/>
              </a:xfrm>
            </p:grpSpPr>
            <p:sp>
              <p:nvSpPr>
                <p:cNvPr id="1067" name="Google Shape;1067;p73"/>
                <p:cNvSpPr/>
                <p:nvPr/>
              </p:nvSpPr>
              <p:spPr>
                <a:xfrm>
                  <a:off x="5661005" y="2942303"/>
                  <a:ext cx="2764200" cy="1061100"/>
                </a:xfrm>
                <a:prstGeom prst="roundRect">
                  <a:avLst>
                    <a:gd name="adj" fmla="val 16667"/>
                  </a:avLst>
                </a:prstGeom>
                <a:solidFill>
                  <a:schemeClr val="lt1"/>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068" name="Google Shape;1068;p73"/>
                <p:cNvGrpSpPr/>
                <p:nvPr/>
              </p:nvGrpSpPr>
              <p:grpSpPr>
                <a:xfrm>
                  <a:off x="5793771" y="2976214"/>
                  <a:ext cx="2532437" cy="958984"/>
                  <a:chOff x="-9625" y="1107063"/>
                  <a:chExt cx="1987628" cy="752676"/>
                </a:xfrm>
              </p:grpSpPr>
              <p:pic>
                <p:nvPicPr>
                  <p:cNvPr id="1069" name="Google Shape;1069;p73" title="ECN_7cool.png"/>
                  <p:cNvPicPr preferRelativeResize="0"/>
                  <p:nvPr/>
                </p:nvPicPr>
                <p:blipFill rotWithShape="1">
                  <a:blip r:embed="rId4">
                    <a:alphaModFix/>
                  </a:blip>
                  <a:srcRect t="11395" r="55952" b="51773"/>
                  <a:stretch/>
                </p:blipFill>
                <p:spPr>
                  <a:xfrm>
                    <a:off x="648489" y="1206657"/>
                    <a:ext cx="547751" cy="553498"/>
                  </a:xfrm>
                  <a:prstGeom prst="rect">
                    <a:avLst/>
                  </a:prstGeom>
                  <a:noFill/>
                  <a:ln>
                    <a:noFill/>
                  </a:ln>
                </p:spPr>
              </p:pic>
              <p:pic>
                <p:nvPicPr>
                  <p:cNvPr id="1070" name="Google Shape;1070;p73" title="ECN_7cool.png"/>
                  <p:cNvPicPr preferRelativeResize="0"/>
                  <p:nvPr/>
                </p:nvPicPr>
                <p:blipFill rotWithShape="1">
                  <a:blip r:embed="rId4">
                    <a:alphaModFix/>
                  </a:blip>
                  <a:srcRect l="43454" t="9886" b="45877"/>
                  <a:stretch/>
                </p:blipFill>
                <p:spPr>
                  <a:xfrm>
                    <a:off x="1274852" y="1151025"/>
                    <a:ext cx="703151" cy="664755"/>
                  </a:xfrm>
                  <a:prstGeom prst="rect">
                    <a:avLst/>
                  </a:prstGeom>
                  <a:noFill/>
                  <a:ln>
                    <a:noFill/>
                  </a:ln>
                </p:spPr>
              </p:pic>
              <p:pic>
                <p:nvPicPr>
                  <p:cNvPr id="1071" name="Google Shape;1071;p73" title="ECN_7cool.png"/>
                  <p:cNvPicPr preferRelativeResize="0"/>
                  <p:nvPr/>
                </p:nvPicPr>
                <p:blipFill rotWithShape="1">
                  <a:blip r:embed="rId4">
                    <a:alphaModFix/>
                  </a:blip>
                  <a:srcRect t="49917" r="55952"/>
                  <a:stretch/>
                </p:blipFill>
                <p:spPr>
                  <a:xfrm>
                    <a:off x="-9625" y="1107063"/>
                    <a:ext cx="547751" cy="752676"/>
                  </a:xfrm>
                  <a:prstGeom prst="rect">
                    <a:avLst/>
                  </a:prstGeom>
                  <a:noFill/>
                  <a:ln>
                    <a:noFill/>
                  </a:ln>
                </p:spPr>
              </p:pic>
            </p:grpSp>
          </p:grpSp>
          <p:sp>
            <p:nvSpPr>
              <p:cNvPr id="1072" name="Google Shape;1072;p73"/>
              <p:cNvSpPr txBox="1"/>
              <p:nvPr/>
            </p:nvSpPr>
            <p:spPr>
              <a:xfrm>
                <a:off x="5713925" y="2786832"/>
                <a:ext cx="2937900" cy="47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r>
                  <a:rPr lang="en" sz="1600" b="1">
                    <a:solidFill>
                      <a:srgbClr val="3C78D8"/>
                    </a:solidFill>
                    <a:highlight>
                      <a:schemeClr val="lt1"/>
                    </a:highlight>
                  </a:rPr>
                  <a:t>Executive Control Network</a:t>
                </a:r>
                <a:endParaRPr sz="1600" b="1">
                  <a:solidFill>
                    <a:srgbClr val="3C78D8"/>
                  </a:solidFill>
                  <a:highlight>
                    <a:schemeClr val="lt1"/>
                  </a:highlight>
                </a:endParaRPr>
              </a:p>
            </p:txBody>
          </p:sp>
        </p:grpSp>
      </p:grpSp>
      <p:sp>
        <p:nvSpPr>
          <p:cNvPr id="1073" name="Google Shape;1073;p73"/>
          <p:cNvSpPr txBox="1"/>
          <p:nvPr/>
        </p:nvSpPr>
        <p:spPr>
          <a:xfrm>
            <a:off x="-10375" y="147650"/>
            <a:ext cx="8842800" cy="1127100"/>
          </a:xfrm>
          <a:prstGeom prst="rect">
            <a:avLst/>
          </a:prstGeom>
          <a:noFill/>
          <a:ln>
            <a:noFill/>
          </a:ln>
        </p:spPr>
        <p:txBody>
          <a:bodyPr spcFirstLastPara="1" wrap="square" lIns="91425" tIns="91425" rIns="91425" bIns="91425" anchor="ctr" anchorCtr="0">
            <a:noAutofit/>
          </a:bodyPr>
          <a:lstStyle/>
          <a:p>
            <a:pPr marL="457200" lvl="0" indent="0" algn="l" rtl="0">
              <a:spcBef>
                <a:spcPts val="0"/>
              </a:spcBef>
              <a:spcAft>
                <a:spcPts val="0"/>
              </a:spcAft>
              <a:buNone/>
            </a:pPr>
            <a:r>
              <a:rPr lang="en" sz="2800" b="1">
                <a:solidFill>
                  <a:schemeClr val="dk1"/>
                </a:solidFill>
                <a:highlight>
                  <a:schemeClr val="lt1"/>
                </a:highlight>
              </a:rPr>
              <a:t>Age * social context interaction in the brain</a:t>
            </a:r>
            <a:endParaRPr sz="2800" b="1">
              <a:solidFill>
                <a:schemeClr val="dk1"/>
              </a:solidFill>
              <a:highlight>
                <a:schemeClr val="lt1"/>
              </a:highlight>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077"/>
        <p:cNvGrpSpPr/>
        <p:nvPr/>
      </p:nvGrpSpPr>
      <p:grpSpPr>
        <a:xfrm>
          <a:off x="0" y="0"/>
          <a:ext cx="0" cy="0"/>
          <a:chOff x="0" y="0"/>
          <a:chExt cx="0" cy="0"/>
        </a:xfrm>
      </p:grpSpPr>
      <p:sp>
        <p:nvSpPr>
          <p:cNvPr id="1078" name="Google Shape;1078;p7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58</a:t>
            </a:fld>
            <a:endParaRPr/>
          </a:p>
        </p:txBody>
      </p:sp>
      <p:sp>
        <p:nvSpPr>
          <p:cNvPr id="1079" name="Google Shape;1079;p74"/>
          <p:cNvSpPr txBox="1"/>
          <p:nvPr/>
        </p:nvSpPr>
        <p:spPr>
          <a:xfrm>
            <a:off x="0" y="0"/>
            <a:ext cx="9144000" cy="914400"/>
          </a:xfrm>
          <a:prstGeom prst="rect">
            <a:avLst/>
          </a:prstGeom>
          <a:solidFill>
            <a:srgbClr val="D9EAD3"/>
          </a:solidFill>
          <a:ln>
            <a:noFill/>
          </a:ln>
        </p:spPr>
        <p:txBody>
          <a:bodyPr spcFirstLastPara="1" wrap="square" lIns="91425" tIns="91425" rIns="91425" bIns="91425" anchor="ctr" anchorCtr="0">
            <a:noAutofit/>
          </a:bodyPr>
          <a:lstStyle/>
          <a:p>
            <a:pPr marL="457200" lvl="0" indent="0" algn="l" rtl="0">
              <a:spcBef>
                <a:spcPts val="0"/>
              </a:spcBef>
              <a:spcAft>
                <a:spcPts val="0"/>
              </a:spcAft>
              <a:buClr>
                <a:schemeClr val="dk1"/>
              </a:buClr>
              <a:buSzPts val="1100"/>
              <a:buFont typeface="Arial"/>
              <a:buNone/>
            </a:pPr>
            <a:r>
              <a:rPr lang="en" sz="2400" b="1">
                <a:solidFill>
                  <a:srgbClr val="38761D"/>
                </a:solidFill>
              </a:rPr>
              <a:t>Age affects context differentiation of fairness-related DMN-dACC connectivity</a:t>
            </a:r>
            <a:endParaRPr sz="2400" b="1">
              <a:solidFill>
                <a:srgbClr val="38761D"/>
              </a:solidFill>
            </a:endParaRPr>
          </a:p>
        </p:txBody>
      </p:sp>
      <p:pic>
        <p:nvPicPr>
          <p:cNvPr id="1080" name="Google Shape;1080;p74" title="dmn_p_in-out_y-o_blue.png"/>
          <p:cNvPicPr preferRelativeResize="0"/>
          <p:nvPr/>
        </p:nvPicPr>
        <p:blipFill rotWithShape="1">
          <a:blip r:embed="rId3">
            <a:alphaModFix/>
          </a:blip>
          <a:srcRect t="13623" r="56903" b="53187"/>
          <a:stretch/>
        </p:blipFill>
        <p:spPr>
          <a:xfrm>
            <a:off x="326448" y="2149874"/>
            <a:ext cx="1562102" cy="1395026"/>
          </a:xfrm>
          <a:prstGeom prst="rect">
            <a:avLst/>
          </a:prstGeom>
          <a:noFill/>
          <a:ln>
            <a:noFill/>
          </a:ln>
        </p:spPr>
      </p:pic>
      <p:pic>
        <p:nvPicPr>
          <p:cNvPr id="1081" name="Google Shape;1081;p74" title="dmn_p_in-out_y-o_blue.png"/>
          <p:cNvPicPr preferRelativeResize="0"/>
          <p:nvPr/>
        </p:nvPicPr>
        <p:blipFill rotWithShape="1">
          <a:blip r:embed="rId3">
            <a:alphaModFix/>
          </a:blip>
          <a:srcRect l="44134" t="9649" b="47002"/>
          <a:stretch/>
        </p:blipFill>
        <p:spPr>
          <a:xfrm>
            <a:off x="1969650" y="1867879"/>
            <a:ext cx="2024949" cy="1822049"/>
          </a:xfrm>
          <a:prstGeom prst="rect">
            <a:avLst/>
          </a:prstGeom>
          <a:noFill/>
          <a:ln>
            <a:noFill/>
          </a:ln>
        </p:spPr>
      </p:pic>
      <p:grpSp>
        <p:nvGrpSpPr>
          <p:cNvPr id="1082" name="Google Shape;1082;p74"/>
          <p:cNvGrpSpPr/>
          <p:nvPr/>
        </p:nvGrpSpPr>
        <p:grpSpPr>
          <a:xfrm>
            <a:off x="463742" y="1183721"/>
            <a:ext cx="1727100" cy="663000"/>
            <a:chOff x="-321558" y="1161346"/>
            <a:chExt cx="1727100" cy="663000"/>
          </a:xfrm>
        </p:grpSpPr>
        <p:sp>
          <p:nvSpPr>
            <p:cNvPr id="1083" name="Google Shape;1083;p74"/>
            <p:cNvSpPr/>
            <p:nvPr/>
          </p:nvSpPr>
          <p:spPr>
            <a:xfrm>
              <a:off x="-321558" y="1161346"/>
              <a:ext cx="1727100" cy="663000"/>
            </a:xfrm>
            <a:prstGeom prst="roundRect">
              <a:avLst>
                <a:gd name="adj" fmla="val 16667"/>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084" name="Google Shape;1084;p74"/>
            <p:cNvGrpSpPr/>
            <p:nvPr/>
          </p:nvGrpSpPr>
          <p:grpSpPr>
            <a:xfrm>
              <a:off x="-259808" y="1189551"/>
              <a:ext cx="1624776" cy="606602"/>
              <a:chOff x="-259808" y="1189551"/>
              <a:chExt cx="1624776" cy="606602"/>
            </a:xfrm>
          </p:grpSpPr>
          <p:pic>
            <p:nvPicPr>
              <p:cNvPr id="1085" name="Google Shape;1085;p74" title="DMN_2green.png"/>
              <p:cNvPicPr preferRelativeResize="0"/>
              <p:nvPr/>
            </p:nvPicPr>
            <p:blipFill rotWithShape="1">
              <a:blip r:embed="rId4">
                <a:alphaModFix/>
              </a:blip>
              <a:srcRect t="11465" r="55062" b="46348"/>
              <a:stretch/>
            </p:blipFill>
            <p:spPr>
              <a:xfrm>
                <a:off x="275952" y="1210719"/>
                <a:ext cx="487076" cy="544200"/>
              </a:xfrm>
              <a:prstGeom prst="rect">
                <a:avLst/>
              </a:prstGeom>
              <a:noFill/>
              <a:ln>
                <a:noFill/>
              </a:ln>
            </p:spPr>
          </p:pic>
          <p:pic>
            <p:nvPicPr>
              <p:cNvPr id="1086" name="Google Shape;1086;p74" title="DMN_2green.png"/>
              <p:cNvPicPr preferRelativeResize="0"/>
              <p:nvPr/>
            </p:nvPicPr>
            <p:blipFill rotWithShape="1">
              <a:blip r:embed="rId4">
                <a:alphaModFix/>
              </a:blip>
              <a:srcRect l="45048" t="11466" b="46346"/>
              <a:stretch/>
            </p:blipFill>
            <p:spPr>
              <a:xfrm>
                <a:off x="769380" y="1210705"/>
                <a:ext cx="595588" cy="544215"/>
              </a:xfrm>
              <a:prstGeom prst="rect">
                <a:avLst/>
              </a:prstGeom>
              <a:noFill/>
              <a:ln>
                <a:noFill/>
              </a:ln>
            </p:spPr>
          </p:pic>
          <p:pic>
            <p:nvPicPr>
              <p:cNvPr id="1087" name="Google Shape;1087;p74" title="DMN_2green.png"/>
              <p:cNvPicPr preferRelativeResize="0"/>
              <p:nvPr/>
            </p:nvPicPr>
            <p:blipFill rotWithShape="1">
              <a:blip r:embed="rId4">
                <a:alphaModFix/>
              </a:blip>
              <a:srcRect t="52978" r="55062"/>
              <a:stretch/>
            </p:blipFill>
            <p:spPr>
              <a:xfrm>
                <a:off x="-259808" y="1189551"/>
                <a:ext cx="487076" cy="606602"/>
              </a:xfrm>
              <a:prstGeom prst="rect">
                <a:avLst/>
              </a:prstGeom>
              <a:noFill/>
              <a:ln>
                <a:noFill/>
              </a:ln>
            </p:spPr>
          </p:pic>
        </p:grpSp>
      </p:grpSp>
      <p:cxnSp>
        <p:nvCxnSpPr>
          <p:cNvPr id="1088" name="Google Shape;1088;p74"/>
          <p:cNvCxnSpPr/>
          <p:nvPr/>
        </p:nvCxnSpPr>
        <p:spPr>
          <a:xfrm>
            <a:off x="2150267" y="1505188"/>
            <a:ext cx="1407900" cy="1060200"/>
          </a:xfrm>
          <a:prstGeom prst="curvedConnector3">
            <a:avLst>
              <a:gd name="adj1" fmla="val 88721"/>
            </a:avLst>
          </a:prstGeom>
          <a:noFill/>
          <a:ln w="19050" cap="flat" cmpd="sng">
            <a:solidFill>
              <a:srgbClr val="26BF00"/>
            </a:solidFill>
            <a:prstDash val="solid"/>
            <a:round/>
            <a:headEnd type="none" w="med" len="med"/>
            <a:tailEnd type="none" w="med" len="med"/>
          </a:ln>
        </p:spPr>
      </p:cxnSp>
      <p:pic>
        <p:nvPicPr>
          <p:cNvPr id="1089" name="Google Shape;1089;p74" title="DMN_dACC_in-out_age_NoBehCov_scatter_classic_noLine.png"/>
          <p:cNvPicPr preferRelativeResize="0"/>
          <p:nvPr/>
        </p:nvPicPr>
        <p:blipFill rotWithShape="1">
          <a:blip r:embed="rId5">
            <a:alphaModFix/>
          </a:blip>
          <a:srcRect r="18213"/>
          <a:stretch/>
        </p:blipFill>
        <p:spPr>
          <a:xfrm>
            <a:off x="4406075" y="1004400"/>
            <a:ext cx="4278198" cy="3804480"/>
          </a:xfrm>
          <a:prstGeom prst="rect">
            <a:avLst/>
          </a:prstGeom>
          <a:noFill/>
          <a:ln>
            <a:noFill/>
          </a:ln>
        </p:spPr>
      </p:pic>
      <p:sp>
        <p:nvSpPr>
          <p:cNvPr id="1090" name="Google Shape;1090;p74"/>
          <p:cNvSpPr/>
          <p:nvPr/>
        </p:nvSpPr>
        <p:spPr>
          <a:xfrm>
            <a:off x="5392250" y="1158250"/>
            <a:ext cx="3148200" cy="3057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1" name="Google Shape;1091;p74"/>
          <p:cNvSpPr txBox="1"/>
          <p:nvPr/>
        </p:nvSpPr>
        <p:spPr>
          <a:xfrm>
            <a:off x="-44300" y="4663225"/>
            <a:ext cx="7155000" cy="470100"/>
          </a:xfrm>
          <a:prstGeom prst="rect">
            <a:avLst/>
          </a:prstGeom>
          <a:noFill/>
          <a:ln>
            <a:noFill/>
          </a:ln>
        </p:spPr>
        <p:txBody>
          <a:bodyPr spcFirstLastPara="1" wrap="square" lIns="91425" tIns="91425" rIns="91425" bIns="91425" anchor="b" anchorCtr="0">
            <a:noAutofit/>
          </a:bodyPr>
          <a:lstStyle/>
          <a:p>
            <a:pPr marL="279400" lvl="0" indent="-279400" algn="l" rtl="0">
              <a:lnSpc>
                <a:spcPct val="100000"/>
              </a:lnSpc>
              <a:spcBef>
                <a:spcPts val="0"/>
              </a:spcBef>
              <a:spcAft>
                <a:spcPts val="0"/>
              </a:spcAft>
              <a:buNone/>
            </a:pPr>
            <a:r>
              <a:rPr lang="en" sz="1100" b="1">
                <a:solidFill>
                  <a:schemeClr val="dk1"/>
                </a:solidFill>
              </a:rPr>
              <a:t>Yang et al., in prep (1)</a:t>
            </a:r>
            <a:endParaRPr sz="1100" b="1">
              <a:solidFill>
                <a:schemeClr val="dk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095"/>
        <p:cNvGrpSpPr/>
        <p:nvPr/>
      </p:nvGrpSpPr>
      <p:grpSpPr>
        <a:xfrm>
          <a:off x="0" y="0"/>
          <a:ext cx="0" cy="0"/>
          <a:chOff x="0" y="0"/>
          <a:chExt cx="0" cy="0"/>
        </a:xfrm>
      </p:grpSpPr>
      <p:sp>
        <p:nvSpPr>
          <p:cNvPr id="1096" name="Google Shape;1096;p7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59</a:t>
            </a:fld>
            <a:endParaRPr/>
          </a:p>
        </p:txBody>
      </p:sp>
      <p:pic>
        <p:nvPicPr>
          <p:cNvPr id="1097" name="Google Shape;1097;p75" title="dmn_p_in-out_y-o_blue.png"/>
          <p:cNvPicPr preferRelativeResize="0"/>
          <p:nvPr/>
        </p:nvPicPr>
        <p:blipFill rotWithShape="1">
          <a:blip r:embed="rId3">
            <a:alphaModFix/>
          </a:blip>
          <a:srcRect t="13623" r="56903" b="53187"/>
          <a:stretch/>
        </p:blipFill>
        <p:spPr>
          <a:xfrm>
            <a:off x="326448" y="2149874"/>
            <a:ext cx="1562102" cy="1395026"/>
          </a:xfrm>
          <a:prstGeom prst="rect">
            <a:avLst/>
          </a:prstGeom>
          <a:noFill/>
          <a:ln>
            <a:noFill/>
          </a:ln>
        </p:spPr>
      </p:pic>
      <p:pic>
        <p:nvPicPr>
          <p:cNvPr id="1098" name="Google Shape;1098;p75" title="dmn_p_in-out_y-o_blue.png"/>
          <p:cNvPicPr preferRelativeResize="0"/>
          <p:nvPr/>
        </p:nvPicPr>
        <p:blipFill rotWithShape="1">
          <a:blip r:embed="rId3">
            <a:alphaModFix/>
          </a:blip>
          <a:srcRect l="44134" t="9649" b="47002"/>
          <a:stretch/>
        </p:blipFill>
        <p:spPr>
          <a:xfrm>
            <a:off x="1969650" y="1867879"/>
            <a:ext cx="2024949" cy="1822049"/>
          </a:xfrm>
          <a:prstGeom prst="rect">
            <a:avLst/>
          </a:prstGeom>
          <a:noFill/>
          <a:ln>
            <a:noFill/>
          </a:ln>
        </p:spPr>
      </p:pic>
      <p:grpSp>
        <p:nvGrpSpPr>
          <p:cNvPr id="1099" name="Google Shape;1099;p75"/>
          <p:cNvGrpSpPr/>
          <p:nvPr/>
        </p:nvGrpSpPr>
        <p:grpSpPr>
          <a:xfrm>
            <a:off x="463742" y="1183721"/>
            <a:ext cx="1727100" cy="663000"/>
            <a:chOff x="-321558" y="1161346"/>
            <a:chExt cx="1727100" cy="663000"/>
          </a:xfrm>
        </p:grpSpPr>
        <p:sp>
          <p:nvSpPr>
            <p:cNvPr id="1100" name="Google Shape;1100;p75"/>
            <p:cNvSpPr/>
            <p:nvPr/>
          </p:nvSpPr>
          <p:spPr>
            <a:xfrm>
              <a:off x="-321558" y="1161346"/>
              <a:ext cx="1727100" cy="663000"/>
            </a:xfrm>
            <a:prstGeom prst="roundRect">
              <a:avLst>
                <a:gd name="adj" fmla="val 16667"/>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101" name="Google Shape;1101;p75"/>
            <p:cNvGrpSpPr/>
            <p:nvPr/>
          </p:nvGrpSpPr>
          <p:grpSpPr>
            <a:xfrm>
              <a:off x="-259808" y="1189551"/>
              <a:ext cx="1624776" cy="606602"/>
              <a:chOff x="-259808" y="1189551"/>
              <a:chExt cx="1624776" cy="606602"/>
            </a:xfrm>
          </p:grpSpPr>
          <p:pic>
            <p:nvPicPr>
              <p:cNvPr id="1102" name="Google Shape;1102;p75" title="DMN_2green.png"/>
              <p:cNvPicPr preferRelativeResize="0"/>
              <p:nvPr/>
            </p:nvPicPr>
            <p:blipFill rotWithShape="1">
              <a:blip r:embed="rId4">
                <a:alphaModFix/>
              </a:blip>
              <a:srcRect t="11465" r="55062" b="46348"/>
              <a:stretch/>
            </p:blipFill>
            <p:spPr>
              <a:xfrm>
                <a:off x="275952" y="1210719"/>
                <a:ext cx="487076" cy="544200"/>
              </a:xfrm>
              <a:prstGeom prst="rect">
                <a:avLst/>
              </a:prstGeom>
              <a:noFill/>
              <a:ln>
                <a:noFill/>
              </a:ln>
            </p:spPr>
          </p:pic>
          <p:pic>
            <p:nvPicPr>
              <p:cNvPr id="1103" name="Google Shape;1103;p75" title="DMN_2green.png"/>
              <p:cNvPicPr preferRelativeResize="0"/>
              <p:nvPr/>
            </p:nvPicPr>
            <p:blipFill rotWithShape="1">
              <a:blip r:embed="rId4">
                <a:alphaModFix/>
              </a:blip>
              <a:srcRect l="45048" t="11466" b="46346"/>
              <a:stretch/>
            </p:blipFill>
            <p:spPr>
              <a:xfrm>
                <a:off x="769380" y="1210705"/>
                <a:ext cx="595588" cy="544215"/>
              </a:xfrm>
              <a:prstGeom prst="rect">
                <a:avLst/>
              </a:prstGeom>
              <a:noFill/>
              <a:ln>
                <a:noFill/>
              </a:ln>
            </p:spPr>
          </p:pic>
          <p:pic>
            <p:nvPicPr>
              <p:cNvPr id="1104" name="Google Shape;1104;p75" title="DMN_2green.png"/>
              <p:cNvPicPr preferRelativeResize="0"/>
              <p:nvPr/>
            </p:nvPicPr>
            <p:blipFill rotWithShape="1">
              <a:blip r:embed="rId4">
                <a:alphaModFix/>
              </a:blip>
              <a:srcRect t="52978" r="55062"/>
              <a:stretch/>
            </p:blipFill>
            <p:spPr>
              <a:xfrm>
                <a:off x="-259808" y="1189551"/>
                <a:ext cx="487076" cy="606602"/>
              </a:xfrm>
              <a:prstGeom prst="rect">
                <a:avLst/>
              </a:prstGeom>
              <a:noFill/>
              <a:ln>
                <a:noFill/>
              </a:ln>
            </p:spPr>
          </p:pic>
        </p:grpSp>
      </p:grpSp>
      <p:cxnSp>
        <p:nvCxnSpPr>
          <p:cNvPr id="1105" name="Google Shape;1105;p75"/>
          <p:cNvCxnSpPr/>
          <p:nvPr/>
        </p:nvCxnSpPr>
        <p:spPr>
          <a:xfrm>
            <a:off x="2150267" y="1505188"/>
            <a:ext cx="1407900" cy="1060200"/>
          </a:xfrm>
          <a:prstGeom prst="curvedConnector3">
            <a:avLst>
              <a:gd name="adj1" fmla="val 88721"/>
            </a:avLst>
          </a:prstGeom>
          <a:noFill/>
          <a:ln w="19050" cap="flat" cmpd="sng">
            <a:solidFill>
              <a:srgbClr val="26BF00"/>
            </a:solidFill>
            <a:prstDash val="solid"/>
            <a:round/>
            <a:headEnd type="none" w="med" len="med"/>
            <a:tailEnd type="none" w="med" len="med"/>
          </a:ln>
        </p:spPr>
      </p:cxnSp>
      <p:pic>
        <p:nvPicPr>
          <p:cNvPr id="1106" name="Google Shape;1106;p75" title="DMN_dACC_in-out_age_NoBehCov_scatter_classic_noLine.png"/>
          <p:cNvPicPr preferRelativeResize="0"/>
          <p:nvPr/>
        </p:nvPicPr>
        <p:blipFill rotWithShape="1">
          <a:blip r:embed="rId5">
            <a:alphaModFix/>
          </a:blip>
          <a:srcRect r="18213"/>
          <a:stretch/>
        </p:blipFill>
        <p:spPr>
          <a:xfrm>
            <a:off x="4406075" y="1004400"/>
            <a:ext cx="4278198" cy="3804480"/>
          </a:xfrm>
          <a:prstGeom prst="rect">
            <a:avLst/>
          </a:prstGeom>
          <a:noFill/>
          <a:ln>
            <a:noFill/>
          </a:ln>
        </p:spPr>
      </p:pic>
      <p:sp>
        <p:nvSpPr>
          <p:cNvPr id="1107" name="Google Shape;1107;p75"/>
          <p:cNvSpPr/>
          <p:nvPr/>
        </p:nvSpPr>
        <p:spPr>
          <a:xfrm>
            <a:off x="5392250" y="1158250"/>
            <a:ext cx="3148200" cy="3057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08" name="Google Shape;1108;p75"/>
          <p:cNvSpPr txBox="1"/>
          <p:nvPr/>
        </p:nvSpPr>
        <p:spPr>
          <a:xfrm>
            <a:off x="-44300" y="4663225"/>
            <a:ext cx="7155000" cy="470100"/>
          </a:xfrm>
          <a:prstGeom prst="rect">
            <a:avLst/>
          </a:prstGeom>
          <a:noFill/>
          <a:ln>
            <a:noFill/>
          </a:ln>
        </p:spPr>
        <p:txBody>
          <a:bodyPr spcFirstLastPara="1" wrap="square" lIns="91425" tIns="91425" rIns="91425" bIns="91425" anchor="b" anchorCtr="0">
            <a:noAutofit/>
          </a:bodyPr>
          <a:lstStyle/>
          <a:p>
            <a:pPr marL="279400" lvl="0" indent="-279400" algn="l" rtl="0">
              <a:lnSpc>
                <a:spcPct val="100000"/>
              </a:lnSpc>
              <a:spcBef>
                <a:spcPts val="0"/>
              </a:spcBef>
              <a:spcAft>
                <a:spcPts val="0"/>
              </a:spcAft>
              <a:buNone/>
            </a:pPr>
            <a:r>
              <a:rPr lang="en" sz="1100" b="1">
                <a:solidFill>
                  <a:schemeClr val="dk1"/>
                </a:solidFill>
              </a:rPr>
              <a:t>Yang et al., in prep (1)</a:t>
            </a:r>
            <a:endParaRPr sz="1100" b="1">
              <a:solidFill>
                <a:schemeClr val="dk1"/>
              </a:solidFill>
            </a:endParaRPr>
          </a:p>
        </p:txBody>
      </p:sp>
      <p:sp>
        <p:nvSpPr>
          <p:cNvPr id="1109" name="Google Shape;1109;p75"/>
          <p:cNvSpPr txBox="1"/>
          <p:nvPr/>
        </p:nvSpPr>
        <p:spPr>
          <a:xfrm>
            <a:off x="0" y="0"/>
            <a:ext cx="9144000" cy="914400"/>
          </a:xfrm>
          <a:prstGeom prst="rect">
            <a:avLst/>
          </a:prstGeom>
          <a:solidFill>
            <a:srgbClr val="D9EAD3"/>
          </a:solidFill>
          <a:ln>
            <a:noFill/>
          </a:ln>
        </p:spPr>
        <p:txBody>
          <a:bodyPr spcFirstLastPara="1" wrap="square" lIns="91425" tIns="91425" rIns="91425" bIns="91425" anchor="ctr" anchorCtr="0">
            <a:noAutofit/>
          </a:bodyPr>
          <a:lstStyle/>
          <a:p>
            <a:pPr marL="457200" lvl="0" indent="0" algn="l" rtl="0">
              <a:spcBef>
                <a:spcPts val="0"/>
              </a:spcBef>
              <a:spcAft>
                <a:spcPts val="0"/>
              </a:spcAft>
              <a:buNone/>
            </a:pPr>
            <a:r>
              <a:rPr lang="en" sz="2400" b="1">
                <a:solidFill>
                  <a:srgbClr val="38761D"/>
                </a:solidFill>
              </a:rPr>
              <a:t>Age affects context differentiation of fairness-related DMN-dACC connectivity</a:t>
            </a:r>
            <a:endParaRPr sz="2400" b="1">
              <a:solidFill>
                <a:srgbClr val="38761D"/>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sp>
        <p:nvSpPr>
          <p:cNvPr id="1114" name="Google Shape;1114;p7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60</a:t>
            </a:fld>
            <a:endParaRPr/>
          </a:p>
        </p:txBody>
      </p:sp>
      <p:grpSp>
        <p:nvGrpSpPr>
          <p:cNvPr id="1115" name="Google Shape;1115;p76"/>
          <p:cNvGrpSpPr/>
          <p:nvPr/>
        </p:nvGrpSpPr>
        <p:grpSpPr>
          <a:xfrm>
            <a:off x="326448" y="1183721"/>
            <a:ext cx="3668150" cy="2506208"/>
            <a:chOff x="326448" y="1183721"/>
            <a:chExt cx="3668150" cy="2506208"/>
          </a:xfrm>
        </p:grpSpPr>
        <p:grpSp>
          <p:nvGrpSpPr>
            <p:cNvPr id="1116" name="Google Shape;1116;p76"/>
            <p:cNvGrpSpPr/>
            <p:nvPr/>
          </p:nvGrpSpPr>
          <p:grpSpPr>
            <a:xfrm>
              <a:off x="326448" y="1183721"/>
              <a:ext cx="3668150" cy="2506208"/>
              <a:chOff x="326448" y="1183721"/>
              <a:chExt cx="3668150" cy="2506208"/>
            </a:xfrm>
          </p:grpSpPr>
          <p:pic>
            <p:nvPicPr>
              <p:cNvPr id="1117" name="Google Shape;1117;p76" title="dmn_p_in-out_y-o_blue.png"/>
              <p:cNvPicPr preferRelativeResize="0"/>
              <p:nvPr/>
            </p:nvPicPr>
            <p:blipFill rotWithShape="1">
              <a:blip r:embed="rId3">
                <a:alphaModFix/>
              </a:blip>
              <a:srcRect t="13623" r="56903" b="53187"/>
              <a:stretch/>
            </p:blipFill>
            <p:spPr>
              <a:xfrm>
                <a:off x="326448" y="2149874"/>
                <a:ext cx="1562102" cy="1395026"/>
              </a:xfrm>
              <a:prstGeom prst="rect">
                <a:avLst/>
              </a:prstGeom>
              <a:noFill/>
              <a:ln>
                <a:noFill/>
              </a:ln>
            </p:spPr>
          </p:pic>
          <p:pic>
            <p:nvPicPr>
              <p:cNvPr id="1118" name="Google Shape;1118;p76" title="dmn_p_in-out_y-o_blue.png"/>
              <p:cNvPicPr preferRelativeResize="0"/>
              <p:nvPr/>
            </p:nvPicPr>
            <p:blipFill rotWithShape="1">
              <a:blip r:embed="rId3">
                <a:alphaModFix/>
              </a:blip>
              <a:srcRect l="44134" t="9649" b="47002"/>
              <a:stretch/>
            </p:blipFill>
            <p:spPr>
              <a:xfrm>
                <a:off x="1969650" y="1867879"/>
                <a:ext cx="2024949" cy="1822049"/>
              </a:xfrm>
              <a:prstGeom prst="rect">
                <a:avLst/>
              </a:prstGeom>
              <a:noFill/>
              <a:ln>
                <a:noFill/>
              </a:ln>
            </p:spPr>
          </p:pic>
          <p:grpSp>
            <p:nvGrpSpPr>
              <p:cNvPr id="1119" name="Google Shape;1119;p76"/>
              <p:cNvGrpSpPr/>
              <p:nvPr/>
            </p:nvGrpSpPr>
            <p:grpSpPr>
              <a:xfrm>
                <a:off x="463742" y="1183721"/>
                <a:ext cx="1727100" cy="663000"/>
                <a:chOff x="-321558" y="1161346"/>
                <a:chExt cx="1727100" cy="663000"/>
              </a:xfrm>
            </p:grpSpPr>
            <p:sp>
              <p:nvSpPr>
                <p:cNvPr id="1120" name="Google Shape;1120;p76"/>
                <p:cNvSpPr/>
                <p:nvPr/>
              </p:nvSpPr>
              <p:spPr>
                <a:xfrm>
                  <a:off x="-321558" y="1161346"/>
                  <a:ext cx="1727100" cy="663000"/>
                </a:xfrm>
                <a:prstGeom prst="roundRect">
                  <a:avLst>
                    <a:gd name="adj" fmla="val 16667"/>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121" name="Google Shape;1121;p76"/>
                <p:cNvGrpSpPr/>
                <p:nvPr/>
              </p:nvGrpSpPr>
              <p:grpSpPr>
                <a:xfrm>
                  <a:off x="-259808" y="1189551"/>
                  <a:ext cx="1624776" cy="606602"/>
                  <a:chOff x="-259808" y="1189551"/>
                  <a:chExt cx="1624776" cy="606602"/>
                </a:xfrm>
              </p:grpSpPr>
              <p:pic>
                <p:nvPicPr>
                  <p:cNvPr id="1122" name="Google Shape;1122;p76" title="DMN_2green.png"/>
                  <p:cNvPicPr preferRelativeResize="0"/>
                  <p:nvPr/>
                </p:nvPicPr>
                <p:blipFill rotWithShape="1">
                  <a:blip r:embed="rId4">
                    <a:alphaModFix/>
                  </a:blip>
                  <a:srcRect t="11465" r="55062" b="46348"/>
                  <a:stretch/>
                </p:blipFill>
                <p:spPr>
                  <a:xfrm>
                    <a:off x="275952" y="1210719"/>
                    <a:ext cx="487076" cy="544200"/>
                  </a:xfrm>
                  <a:prstGeom prst="rect">
                    <a:avLst/>
                  </a:prstGeom>
                  <a:noFill/>
                  <a:ln>
                    <a:noFill/>
                  </a:ln>
                </p:spPr>
              </p:pic>
              <p:pic>
                <p:nvPicPr>
                  <p:cNvPr id="1123" name="Google Shape;1123;p76" title="DMN_2green.png"/>
                  <p:cNvPicPr preferRelativeResize="0"/>
                  <p:nvPr/>
                </p:nvPicPr>
                <p:blipFill rotWithShape="1">
                  <a:blip r:embed="rId4">
                    <a:alphaModFix/>
                  </a:blip>
                  <a:srcRect l="45048" t="11466" b="46346"/>
                  <a:stretch/>
                </p:blipFill>
                <p:spPr>
                  <a:xfrm>
                    <a:off x="769380" y="1210705"/>
                    <a:ext cx="595588" cy="544215"/>
                  </a:xfrm>
                  <a:prstGeom prst="rect">
                    <a:avLst/>
                  </a:prstGeom>
                  <a:noFill/>
                  <a:ln>
                    <a:noFill/>
                  </a:ln>
                </p:spPr>
              </p:pic>
              <p:pic>
                <p:nvPicPr>
                  <p:cNvPr id="1124" name="Google Shape;1124;p76" title="DMN_2green.png"/>
                  <p:cNvPicPr preferRelativeResize="0"/>
                  <p:nvPr/>
                </p:nvPicPr>
                <p:blipFill rotWithShape="1">
                  <a:blip r:embed="rId4">
                    <a:alphaModFix/>
                  </a:blip>
                  <a:srcRect t="52978" r="55062"/>
                  <a:stretch/>
                </p:blipFill>
                <p:spPr>
                  <a:xfrm>
                    <a:off x="-259808" y="1189551"/>
                    <a:ext cx="487076" cy="606602"/>
                  </a:xfrm>
                  <a:prstGeom prst="rect">
                    <a:avLst/>
                  </a:prstGeom>
                  <a:noFill/>
                  <a:ln>
                    <a:noFill/>
                  </a:ln>
                </p:spPr>
              </p:pic>
            </p:grpSp>
          </p:grpSp>
        </p:grpSp>
        <p:cxnSp>
          <p:nvCxnSpPr>
            <p:cNvPr id="1125" name="Google Shape;1125;p76"/>
            <p:cNvCxnSpPr/>
            <p:nvPr/>
          </p:nvCxnSpPr>
          <p:spPr>
            <a:xfrm>
              <a:off x="2150267" y="1505188"/>
              <a:ext cx="1407900" cy="1060200"/>
            </a:xfrm>
            <a:prstGeom prst="curvedConnector3">
              <a:avLst>
                <a:gd name="adj1" fmla="val 88721"/>
              </a:avLst>
            </a:prstGeom>
            <a:noFill/>
            <a:ln w="19050" cap="flat" cmpd="sng">
              <a:solidFill>
                <a:srgbClr val="26BF00"/>
              </a:solidFill>
              <a:prstDash val="solid"/>
              <a:round/>
              <a:headEnd type="none" w="med" len="med"/>
              <a:tailEnd type="none" w="med" len="med"/>
            </a:ln>
          </p:spPr>
        </p:cxnSp>
      </p:grpSp>
      <p:pic>
        <p:nvPicPr>
          <p:cNvPr id="1126" name="Google Shape;1126;p76" title="DMN_dACC_in-out_age_NoBehCov_scatter_classic_noLine.png"/>
          <p:cNvPicPr preferRelativeResize="0"/>
          <p:nvPr/>
        </p:nvPicPr>
        <p:blipFill rotWithShape="1">
          <a:blip r:embed="rId5">
            <a:alphaModFix/>
          </a:blip>
          <a:srcRect r="18213"/>
          <a:stretch/>
        </p:blipFill>
        <p:spPr>
          <a:xfrm>
            <a:off x="4406075" y="1004400"/>
            <a:ext cx="4278198" cy="3804480"/>
          </a:xfrm>
          <a:prstGeom prst="rect">
            <a:avLst/>
          </a:prstGeom>
          <a:noFill/>
          <a:ln>
            <a:noFill/>
          </a:ln>
        </p:spPr>
      </p:pic>
      <p:sp>
        <p:nvSpPr>
          <p:cNvPr id="1127" name="Google Shape;1127;p76"/>
          <p:cNvSpPr/>
          <p:nvPr/>
        </p:nvSpPr>
        <p:spPr>
          <a:xfrm>
            <a:off x="7296775" y="1158250"/>
            <a:ext cx="1243800" cy="3057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28" name="Google Shape;1128;p76"/>
          <p:cNvSpPr txBox="1"/>
          <p:nvPr/>
        </p:nvSpPr>
        <p:spPr>
          <a:xfrm>
            <a:off x="-44300" y="4663225"/>
            <a:ext cx="7155000" cy="470100"/>
          </a:xfrm>
          <a:prstGeom prst="rect">
            <a:avLst/>
          </a:prstGeom>
          <a:noFill/>
          <a:ln>
            <a:noFill/>
          </a:ln>
        </p:spPr>
        <p:txBody>
          <a:bodyPr spcFirstLastPara="1" wrap="square" lIns="91425" tIns="91425" rIns="91425" bIns="91425" anchor="b" anchorCtr="0">
            <a:noAutofit/>
          </a:bodyPr>
          <a:lstStyle/>
          <a:p>
            <a:pPr marL="279400" lvl="0" indent="-279400" algn="l" rtl="0">
              <a:lnSpc>
                <a:spcPct val="100000"/>
              </a:lnSpc>
              <a:spcBef>
                <a:spcPts val="0"/>
              </a:spcBef>
              <a:spcAft>
                <a:spcPts val="0"/>
              </a:spcAft>
              <a:buNone/>
            </a:pPr>
            <a:r>
              <a:rPr lang="en" sz="1100" b="1">
                <a:solidFill>
                  <a:schemeClr val="dk1"/>
                </a:solidFill>
              </a:rPr>
              <a:t>Yang et al., in prep (1)</a:t>
            </a:r>
            <a:endParaRPr sz="1100" b="1">
              <a:solidFill>
                <a:schemeClr val="dk1"/>
              </a:solidFill>
            </a:endParaRPr>
          </a:p>
        </p:txBody>
      </p:sp>
      <p:sp>
        <p:nvSpPr>
          <p:cNvPr id="1129" name="Google Shape;1129;p76"/>
          <p:cNvSpPr txBox="1"/>
          <p:nvPr/>
        </p:nvSpPr>
        <p:spPr>
          <a:xfrm>
            <a:off x="0" y="0"/>
            <a:ext cx="9144000" cy="914400"/>
          </a:xfrm>
          <a:prstGeom prst="rect">
            <a:avLst/>
          </a:prstGeom>
          <a:solidFill>
            <a:srgbClr val="D9EAD3"/>
          </a:solidFill>
          <a:ln>
            <a:noFill/>
          </a:ln>
        </p:spPr>
        <p:txBody>
          <a:bodyPr spcFirstLastPara="1" wrap="square" lIns="91425" tIns="91425" rIns="91425" bIns="91425" anchor="ctr" anchorCtr="0">
            <a:noAutofit/>
          </a:bodyPr>
          <a:lstStyle/>
          <a:p>
            <a:pPr marL="457200" lvl="0" indent="0" algn="l" rtl="0">
              <a:spcBef>
                <a:spcPts val="0"/>
              </a:spcBef>
              <a:spcAft>
                <a:spcPts val="0"/>
              </a:spcAft>
              <a:buNone/>
            </a:pPr>
            <a:r>
              <a:rPr lang="en" sz="2400" b="1">
                <a:solidFill>
                  <a:srgbClr val="38761D"/>
                </a:solidFill>
              </a:rPr>
              <a:t>Age affects context differentiation of fairness-related DMN-dACC connectivity</a:t>
            </a:r>
            <a:endParaRPr sz="2400" b="1">
              <a:solidFill>
                <a:srgbClr val="38761D"/>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133"/>
        <p:cNvGrpSpPr/>
        <p:nvPr/>
      </p:nvGrpSpPr>
      <p:grpSpPr>
        <a:xfrm>
          <a:off x="0" y="0"/>
          <a:ext cx="0" cy="0"/>
          <a:chOff x="0" y="0"/>
          <a:chExt cx="0" cy="0"/>
        </a:xfrm>
      </p:grpSpPr>
      <p:sp>
        <p:nvSpPr>
          <p:cNvPr id="1134" name="Google Shape;1134;p7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61</a:t>
            </a:fld>
            <a:endParaRPr/>
          </a:p>
        </p:txBody>
      </p:sp>
      <p:grpSp>
        <p:nvGrpSpPr>
          <p:cNvPr id="1135" name="Google Shape;1135;p77"/>
          <p:cNvGrpSpPr/>
          <p:nvPr/>
        </p:nvGrpSpPr>
        <p:grpSpPr>
          <a:xfrm>
            <a:off x="326448" y="1183721"/>
            <a:ext cx="3668150" cy="2506208"/>
            <a:chOff x="326448" y="1183721"/>
            <a:chExt cx="3668150" cy="2506208"/>
          </a:xfrm>
        </p:grpSpPr>
        <p:pic>
          <p:nvPicPr>
            <p:cNvPr id="1136" name="Google Shape;1136;p77" title="dmn_p_in-out_y-o_blue.png"/>
            <p:cNvPicPr preferRelativeResize="0"/>
            <p:nvPr/>
          </p:nvPicPr>
          <p:blipFill rotWithShape="1">
            <a:blip r:embed="rId3">
              <a:alphaModFix/>
            </a:blip>
            <a:srcRect t="13623" r="56903" b="53187"/>
            <a:stretch/>
          </p:blipFill>
          <p:spPr>
            <a:xfrm>
              <a:off x="326448" y="2149874"/>
              <a:ext cx="1562102" cy="1395026"/>
            </a:xfrm>
            <a:prstGeom prst="rect">
              <a:avLst/>
            </a:prstGeom>
            <a:noFill/>
            <a:ln>
              <a:noFill/>
            </a:ln>
          </p:spPr>
        </p:pic>
        <p:pic>
          <p:nvPicPr>
            <p:cNvPr id="1137" name="Google Shape;1137;p77" title="dmn_p_in-out_y-o_blue.png"/>
            <p:cNvPicPr preferRelativeResize="0"/>
            <p:nvPr/>
          </p:nvPicPr>
          <p:blipFill rotWithShape="1">
            <a:blip r:embed="rId3">
              <a:alphaModFix/>
            </a:blip>
            <a:srcRect l="44134" t="9649" b="47002"/>
            <a:stretch/>
          </p:blipFill>
          <p:spPr>
            <a:xfrm>
              <a:off x="1969650" y="1867879"/>
              <a:ext cx="2024949" cy="1822049"/>
            </a:xfrm>
            <a:prstGeom prst="rect">
              <a:avLst/>
            </a:prstGeom>
            <a:noFill/>
            <a:ln>
              <a:noFill/>
            </a:ln>
          </p:spPr>
        </p:pic>
        <p:grpSp>
          <p:nvGrpSpPr>
            <p:cNvPr id="1138" name="Google Shape;1138;p77"/>
            <p:cNvGrpSpPr/>
            <p:nvPr/>
          </p:nvGrpSpPr>
          <p:grpSpPr>
            <a:xfrm>
              <a:off x="463742" y="1183721"/>
              <a:ext cx="1727100" cy="663000"/>
              <a:chOff x="-321558" y="1161346"/>
              <a:chExt cx="1727100" cy="663000"/>
            </a:xfrm>
          </p:grpSpPr>
          <p:sp>
            <p:nvSpPr>
              <p:cNvPr id="1139" name="Google Shape;1139;p77"/>
              <p:cNvSpPr/>
              <p:nvPr/>
            </p:nvSpPr>
            <p:spPr>
              <a:xfrm>
                <a:off x="-321558" y="1161346"/>
                <a:ext cx="1727100" cy="663000"/>
              </a:xfrm>
              <a:prstGeom prst="roundRect">
                <a:avLst>
                  <a:gd name="adj" fmla="val 16667"/>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140" name="Google Shape;1140;p77"/>
              <p:cNvGrpSpPr/>
              <p:nvPr/>
            </p:nvGrpSpPr>
            <p:grpSpPr>
              <a:xfrm>
                <a:off x="-259808" y="1189551"/>
                <a:ext cx="1624776" cy="606602"/>
                <a:chOff x="-259808" y="1189551"/>
                <a:chExt cx="1624776" cy="606602"/>
              </a:xfrm>
            </p:grpSpPr>
            <p:pic>
              <p:nvPicPr>
                <p:cNvPr id="1141" name="Google Shape;1141;p77" title="DMN_2green.png"/>
                <p:cNvPicPr preferRelativeResize="0"/>
                <p:nvPr/>
              </p:nvPicPr>
              <p:blipFill rotWithShape="1">
                <a:blip r:embed="rId4">
                  <a:alphaModFix/>
                </a:blip>
                <a:srcRect t="11465" r="55062" b="46348"/>
                <a:stretch/>
              </p:blipFill>
              <p:spPr>
                <a:xfrm>
                  <a:off x="275952" y="1210719"/>
                  <a:ext cx="487076" cy="544200"/>
                </a:xfrm>
                <a:prstGeom prst="rect">
                  <a:avLst/>
                </a:prstGeom>
                <a:noFill/>
                <a:ln>
                  <a:noFill/>
                </a:ln>
              </p:spPr>
            </p:pic>
            <p:pic>
              <p:nvPicPr>
                <p:cNvPr id="1142" name="Google Shape;1142;p77" title="DMN_2green.png"/>
                <p:cNvPicPr preferRelativeResize="0"/>
                <p:nvPr/>
              </p:nvPicPr>
              <p:blipFill rotWithShape="1">
                <a:blip r:embed="rId4">
                  <a:alphaModFix/>
                </a:blip>
                <a:srcRect l="45048" t="11466" b="46346"/>
                <a:stretch/>
              </p:blipFill>
              <p:spPr>
                <a:xfrm>
                  <a:off x="769380" y="1210705"/>
                  <a:ext cx="595588" cy="544215"/>
                </a:xfrm>
                <a:prstGeom prst="rect">
                  <a:avLst/>
                </a:prstGeom>
                <a:noFill/>
                <a:ln>
                  <a:noFill/>
                </a:ln>
              </p:spPr>
            </p:pic>
            <p:pic>
              <p:nvPicPr>
                <p:cNvPr id="1143" name="Google Shape;1143;p77" title="DMN_2green.png"/>
                <p:cNvPicPr preferRelativeResize="0"/>
                <p:nvPr/>
              </p:nvPicPr>
              <p:blipFill rotWithShape="1">
                <a:blip r:embed="rId4">
                  <a:alphaModFix/>
                </a:blip>
                <a:srcRect t="52978" r="55062"/>
                <a:stretch/>
              </p:blipFill>
              <p:spPr>
                <a:xfrm>
                  <a:off x="-259808" y="1189551"/>
                  <a:ext cx="487076" cy="606602"/>
                </a:xfrm>
                <a:prstGeom prst="rect">
                  <a:avLst/>
                </a:prstGeom>
                <a:noFill/>
                <a:ln>
                  <a:noFill/>
                </a:ln>
              </p:spPr>
            </p:pic>
          </p:grpSp>
        </p:grpSp>
      </p:grpSp>
      <p:cxnSp>
        <p:nvCxnSpPr>
          <p:cNvPr id="1144" name="Google Shape;1144;p77"/>
          <p:cNvCxnSpPr/>
          <p:nvPr/>
        </p:nvCxnSpPr>
        <p:spPr>
          <a:xfrm>
            <a:off x="2150267" y="1505188"/>
            <a:ext cx="1407900" cy="1060200"/>
          </a:xfrm>
          <a:prstGeom prst="curvedConnector3">
            <a:avLst>
              <a:gd name="adj1" fmla="val 88721"/>
            </a:avLst>
          </a:prstGeom>
          <a:noFill/>
          <a:ln w="19050" cap="flat" cmpd="sng">
            <a:solidFill>
              <a:srgbClr val="26BF00"/>
            </a:solidFill>
            <a:prstDash val="solid"/>
            <a:round/>
            <a:headEnd type="none" w="med" len="med"/>
            <a:tailEnd type="none" w="med" len="med"/>
          </a:ln>
        </p:spPr>
      </p:cxnSp>
      <p:pic>
        <p:nvPicPr>
          <p:cNvPr id="1145" name="Google Shape;1145;p77" title="DMN_dACC_in-out_age_NoBehCov_scatter_classic_noLine.png"/>
          <p:cNvPicPr preferRelativeResize="0"/>
          <p:nvPr/>
        </p:nvPicPr>
        <p:blipFill rotWithShape="1">
          <a:blip r:embed="rId5">
            <a:alphaModFix/>
          </a:blip>
          <a:srcRect r="18213"/>
          <a:stretch/>
        </p:blipFill>
        <p:spPr>
          <a:xfrm>
            <a:off x="4406075" y="1004400"/>
            <a:ext cx="4278198" cy="3804480"/>
          </a:xfrm>
          <a:prstGeom prst="rect">
            <a:avLst/>
          </a:prstGeom>
          <a:noFill/>
          <a:ln>
            <a:noFill/>
          </a:ln>
        </p:spPr>
      </p:pic>
      <p:pic>
        <p:nvPicPr>
          <p:cNvPr id="1146" name="Google Shape;1146;p77" title="DMN_dACC_in-out_age_NoBehCov_scatter_classic.png"/>
          <p:cNvPicPr preferRelativeResize="0"/>
          <p:nvPr/>
        </p:nvPicPr>
        <p:blipFill rotWithShape="1">
          <a:blip r:embed="rId6">
            <a:alphaModFix/>
          </a:blip>
          <a:srcRect r="18213"/>
          <a:stretch/>
        </p:blipFill>
        <p:spPr>
          <a:xfrm>
            <a:off x="4406075" y="1004400"/>
            <a:ext cx="4278198" cy="3804480"/>
          </a:xfrm>
          <a:prstGeom prst="rect">
            <a:avLst/>
          </a:prstGeom>
          <a:noFill/>
          <a:ln>
            <a:noFill/>
          </a:ln>
        </p:spPr>
      </p:pic>
      <p:sp>
        <p:nvSpPr>
          <p:cNvPr id="1147" name="Google Shape;1147;p77"/>
          <p:cNvSpPr txBox="1"/>
          <p:nvPr/>
        </p:nvSpPr>
        <p:spPr>
          <a:xfrm>
            <a:off x="-44300" y="4663225"/>
            <a:ext cx="7155000" cy="470100"/>
          </a:xfrm>
          <a:prstGeom prst="rect">
            <a:avLst/>
          </a:prstGeom>
          <a:noFill/>
          <a:ln>
            <a:noFill/>
          </a:ln>
        </p:spPr>
        <p:txBody>
          <a:bodyPr spcFirstLastPara="1" wrap="square" lIns="91425" tIns="91425" rIns="91425" bIns="91425" anchor="b" anchorCtr="0">
            <a:noAutofit/>
          </a:bodyPr>
          <a:lstStyle/>
          <a:p>
            <a:pPr marL="279400" lvl="0" indent="-279400" algn="l" rtl="0">
              <a:lnSpc>
                <a:spcPct val="100000"/>
              </a:lnSpc>
              <a:spcBef>
                <a:spcPts val="0"/>
              </a:spcBef>
              <a:spcAft>
                <a:spcPts val="0"/>
              </a:spcAft>
              <a:buNone/>
            </a:pPr>
            <a:r>
              <a:rPr lang="en" sz="1100" b="1">
                <a:solidFill>
                  <a:schemeClr val="dk1"/>
                </a:solidFill>
              </a:rPr>
              <a:t>Yang et al., in prep (1)</a:t>
            </a:r>
            <a:endParaRPr sz="1100" b="1">
              <a:solidFill>
                <a:schemeClr val="dk1"/>
              </a:solidFill>
            </a:endParaRPr>
          </a:p>
        </p:txBody>
      </p:sp>
      <p:sp>
        <p:nvSpPr>
          <p:cNvPr id="1148" name="Google Shape;1148;p77"/>
          <p:cNvSpPr txBox="1"/>
          <p:nvPr/>
        </p:nvSpPr>
        <p:spPr>
          <a:xfrm>
            <a:off x="0" y="0"/>
            <a:ext cx="9144000" cy="914400"/>
          </a:xfrm>
          <a:prstGeom prst="rect">
            <a:avLst/>
          </a:prstGeom>
          <a:solidFill>
            <a:srgbClr val="D9EAD3"/>
          </a:solidFill>
          <a:ln>
            <a:noFill/>
          </a:ln>
        </p:spPr>
        <p:txBody>
          <a:bodyPr spcFirstLastPara="1" wrap="square" lIns="91425" tIns="91425" rIns="91425" bIns="91425" anchor="ctr" anchorCtr="0">
            <a:noAutofit/>
          </a:bodyPr>
          <a:lstStyle/>
          <a:p>
            <a:pPr marL="457200" lvl="0" indent="0" algn="l" rtl="0">
              <a:spcBef>
                <a:spcPts val="0"/>
              </a:spcBef>
              <a:spcAft>
                <a:spcPts val="0"/>
              </a:spcAft>
              <a:buNone/>
            </a:pPr>
            <a:r>
              <a:rPr lang="en" sz="2400" b="1">
                <a:solidFill>
                  <a:srgbClr val="38761D"/>
                </a:solidFill>
              </a:rPr>
              <a:t>Age affects context differentiation of fairness-related DMN-dACC connectivity</a:t>
            </a:r>
            <a:endParaRPr sz="2400" b="1">
              <a:solidFill>
                <a:srgbClr val="38761D"/>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152"/>
        <p:cNvGrpSpPr/>
        <p:nvPr/>
      </p:nvGrpSpPr>
      <p:grpSpPr>
        <a:xfrm>
          <a:off x="0" y="0"/>
          <a:ext cx="0" cy="0"/>
          <a:chOff x="0" y="0"/>
          <a:chExt cx="0" cy="0"/>
        </a:xfrm>
      </p:grpSpPr>
      <p:sp>
        <p:nvSpPr>
          <p:cNvPr id="1153" name="Google Shape;1153;p78"/>
          <p:cNvSpPr txBox="1"/>
          <p:nvPr/>
        </p:nvSpPr>
        <p:spPr>
          <a:xfrm>
            <a:off x="253875" y="3857875"/>
            <a:ext cx="4152300" cy="68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1000"/>
              </a:spcAft>
              <a:buNone/>
            </a:pPr>
            <a:r>
              <a:rPr lang="en" sz="2000">
                <a:solidFill>
                  <a:schemeClr val="dk1"/>
                </a:solidFill>
                <a:highlight>
                  <a:schemeClr val="lt1"/>
                </a:highlight>
              </a:rPr>
              <a:t>Different DMN-dACC integration among older adults.</a:t>
            </a:r>
            <a:endParaRPr sz="2000">
              <a:solidFill>
                <a:srgbClr val="CCCCCC"/>
              </a:solidFill>
              <a:highlight>
                <a:schemeClr val="lt1"/>
              </a:highlight>
            </a:endParaRPr>
          </a:p>
        </p:txBody>
      </p:sp>
      <p:sp>
        <p:nvSpPr>
          <p:cNvPr id="1154" name="Google Shape;1154;p7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62</a:t>
            </a:fld>
            <a:endParaRPr/>
          </a:p>
        </p:txBody>
      </p:sp>
      <p:grpSp>
        <p:nvGrpSpPr>
          <p:cNvPr id="1155" name="Google Shape;1155;p78"/>
          <p:cNvGrpSpPr/>
          <p:nvPr/>
        </p:nvGrpSpPr>
        <p:grpSpPr>
          <a:xfrm>
            <a:off x="326448" y="1183721"/>
            <a:ext cx="3668150" cy="2506208"/>
            <a:chOff x="326448" y="1183721"/>
            <a:chExt cx="3668150" cy="2506208"/>
          </a:xfrm>
        </p:grpSpPr>
        <p:pic>
          <p:nvPicPr>
            <p:cNvPr id="1156" name="Google Shape;1156;p78" title="dmn_p_in-out_y-o_blue.png"/>
            <p:cNvPicPr preferRelativeResize="0"/>
            <p:nvPr/>
          </p:nvPicPr>
          <p:blipFill rotWithShape="1">
            <a:blip r:embed="rId3">
              <a:alphaModFix/>
            </a:blip>
            <a:srcRect t="13623" r="56903" b="53187"/>
            <a:stretch/>
          </p:blipFill>
          <p:spPr>
            <a:xfrm>
              <a:off x="326448" y="2149874"/>
              <a:ext cx="1562102" cy="1395026"/>
            </a:xfrm>
            <a:prstGeom prst="rect">
              <a:avLst/>
            </a:prstGeom>
            <a:noFill/>
            <a:ln>
              <a:noFill/>
            </a:ln>
          </p:spPr>
        </p:pic>
        <p:pic>
          <p:nvPicPr>
            <p:cNvPr id="1157" name="Google Shape;1157;p78" title="dmn_p_in-out_y-o_blue.png"/>
            <p:cNvPicPr preferRelativeResize="0"/>
            <p:nvPr/>
          </p:nvPicPr>
          <p:blipFill rotWithShape="1">
            <a:blip r:embed="rId3">
              <a:alphaModFix/>
            </a:blip>
            <a:srcRect l="44134" t="9649" b="47002"/>
            <a:stretch/>
          </p:blipFill>
          <p:spPr>
            <a:xfrm>
              <a:off x="1969650" y="1867879"/>
              <a:ext cx="2024949" cy="1822049"/>
            </a:xfrm>
            <a:prstGeom prst="rect">
              <a:avLst/>
            </a:prstGeom>
            <a:noFill/>
            <a:ln>
              <a:noFill/>
            </a:ln>
          </p:spPr>
        </p:pic>
        <p:grpSp>
          <p:nvGrpSpPr>
            <p:cNvPr id="1158" name="Google Shape;1158;p78"/>
            <p:cNvGrpSpPr/>
            <p:nvPr/>
          </p:nvGrpSpPr>
          <p:grpSpPr>
            <a:xfrm>
              <a:off x="463742" y="1183721"/>
              <a:ext cx="1727100" cy="663000"/>
              <a:chOff x="-321558" y="1161346"/>
              <a:chExt cx="1727100" cy="663000"/>
            </a:xfrm>
          </p:grpSpPr>
          <p:sp>
            <p:nvSpPr>
              <p:cNvPr id="1159" name="Google Shape;1159;p78"/>
              <p:cNvSpPr/>
              <p:nvPr/>
            </p:nvSpPr>
            <p:spPr>
              <a:xfrm>
                <a:off x="-321558" y="1161346"/>
                <a:ext cx="1727100" cy="663000"/>
              </a:xfrm>
              <a:prstGeom prst="roundRect">
                <a:avLst>
                  <a:gd name="adj" fmla="val 16667"/>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160" name="Google Shape;1160;p78"/>
              <p:cNvGrpSpPr/>
              <p:nvPr/>
            </p:nvGrpSpPr>
            <p:grpSpPr>
              <a:xfrm>
                <a:off x="-259808" y="1189551"/>
                <a:ext cx="1624776" cy="606602"/>
                <a:chOff x="-259808" y="1189551"/>
                <a:chExt cx="1624776" cy="606602"/>
              </a:xfrm>
            </p:grpSpPr>
            <p:pic>
              <p:nvPicPr>
                <p:cNvPr id="1161" name="Google Shape;1161;p78" title="DMN_2green.png"/>
                <p:cNvPicPr preferRelativeResize="0"/>
                <p:nvPr/>
              </p:nvPicPr>
              <p:blipFill rotWithShape="1">
                <a:blip r:embed="rId4">
                  <a:alphaModFix/>
                </a:blip>
                <a:srcRect t="11465" r="55062" b="46348"/>
                <a:stretch/>
              </p:blipFill>
              <p:spPr>
                <a:xfrm>
                  <a:off x="275952" y="1210719"/>
                  <a:ext cx="487076" cy="544200"/>
                </a:xfrm>
                <a:prstGeom prst="rect">
                  <a:avLst/>
                </a:prstGeom>
                <a:noFill/>
                <a:ln>
                  <a:noFill/>
                </a:ln>
              </p:spPr>
            </p:pic>
            <p:pic>
              <p:nvPicPr>
                <p:cNvPr id="1162" name="Google Shape;1162;p78" title="DMN_2green.png"/>
                <p:cNvPicPr preferRelativeResize="0"/>
                <p:nvPr/>
              </p:nvPicPr>
              <p:blipFill rotWithShape="1">
                <a:blip r:embed="rId4">
                  <a:alphaModFix/>
                </a:blip>
                <a:srcRect l="45048" t="11466" b="46346"/>
                <a:stretch/>
              </p:blipFill>
              <p:spPr>
                <a:xfrm>
                  <a:off x="769380" y="1210705"/>
                  <a:ext cx="595588" cy="544215"/>
                </a:xfrm>
                <a:prstGeom prst="rect">
                  <a:avLst/>
                </a:prstGeom>
                <a:noFill/>
                <a:ln>
                  <a:noFill/>
                </a:ln>
              </p:spPr>
            </p:pic>
            <p:pic>
              <p:nvPicPr>
                <p:cNvPr id="1163" name="Google Shape;1163;p78" title="DMN_2green.png"/>
                <p:cNvPicPr preferRelativeResize="0"/>
                <p:nvPr/>
              </p:nvPicPr>
              <p:blipFill rotWithShape="1">
                <a:blip r:embed="rId4">
                  <a:alphaModFix/>
                </a:blip>
                <a:srcRect t="52978" r="55062"/>
                <a:stretch/>
              </p:blipFill>
              <p:spPr>
                <a:xfrm>
                  <a:off x="-259808" y="1189551"/>
                  <a:ext cx="487076" cy="606602"/>
                </a:xfrm>
                <a:prstGeom prst="rect">
                  <a:avLst/>
                </a:prstGeom>
                <a:noFill/>
                <a:ln>
                  <a:noFill/>
                </a:ln>
              </p:spPr>
            </p:pic>
          </p:grpSp>
        </p:grpSp>
      </p:grpSp>
      <p:cxnSp>
        <p:nvCxnSpPr>
          <p:cNvPr id="1164" name="Google Shape;1164;p78"/>
          <p:cNvCxnSpPr/>
          <p:nvPr/>
        </p:nvCxnSpPr>
        <p:spPr>
          <a:xfrm>
            <a:off x="2150267" y="1505188"/>
            <a:ext cx="1407900" cy="1060200"/>
          </a:xfrm>
          <a:prstGeom prst="curvedConnector3">
            <a:avLst>
              <a:gd name="adj1" fmla="val 88721"/>
            </a:avLst>
          </a:prstGeom>
          <a:noFill/>
          <a:ln w="19050" cap="flat" cmpd="sng">
            <a:solidFill>
              <a:srgbClr val="26BF00"/>
            </a:solidFill>
            <a:prstDash val="solid"/>
            <a:round/>
            <a:headEnd type="none" w="med" len="med"/>
            <a:tailEnd type="none" w="med" len="med"/>
          </a:ln>
        </p:spPr>
      </p:cxnSp>
      <p:pic>
        <p:nvPicPr>
          <p:cNvPr id="1165" name="Google Shape;1165;p78" title="DMN_dACC_in-out_age_NoBehCov_scatter_classic_noLine.png"/>
          <p:cNvPicPr preferRelativeResize="0"/>
          <p:nvPr/>
        </p:nvPicPr>
        <p:blipFill rotWithShape="1">
          <a:blip r:embed="rId5">
            <a:alphaModFix/>
          </a:blip>
          <a:srcRect r="18213"/>
          <a:stretch/>
        </p:blipFill>
        <p:spPr>
          <a:xfrm>
            <a:off x="4406075" y="1004400"/>
            <a:ext cx="4278198" cy="3804480"/>
          </a:xfrm>
          <a:prstGeom prst="rect">
            <a:avLst/>
          </a:prstGeom>
          <a:noFill/>
          <a:ln>
            <a:noFill/>
          </a:ln>
        </p:spPr>
      </p:pic>
      <p:pic>
        <p:nvPicPr>
          <p:cNvPr id="1166" name="Google Shape;1166;p78" title="DMN_dACC_in-out_age_NoBehCov_scatter_classic.png"/>
          <p:cNvPicPr preferRelativeResize="0"/>
          <p:nvPr/>
        </p:nvPicPr>
        <p:blipFill rotWithShape="1">
          <a:blip r:embed="rId6">
            <a:alphaModFix/>
          </a:blip>
          <a:srcRect r="18213"/>
          <a:stretch/>
        </p:blipFill>
        <p:spPr>
          <a:xfrm>
            <a:off x="4406075" y="1004400"/>
            <a:ext cx="4278198" cy="3804480"/>
          </a:xfrm>
          <a:prstGeom prst="rect">
            <a:avLst/>
          </a:prstGeom>
          <a:noFill/>
          <a:ln>
            <a:noFill/>
          </a:ln>
        </p:spPr>
      </p:pic>
      <p:sp>
        <p:nvSpPr>
          <p:cNvPr id="1167" name="Google Shape;1167;p78"/>
          <p:cNvSpPr txBox="1"/>
          <p:nvPr/>
        </p:nvSpPr>
        <p:spPr>
          <a:xfrm>
            <a:off x="-44300" y="4663225"/>
            <a:ext cx="7155000" cy="470100"/>
          </a:xfrm>
          <a:prstGeom prst="rect">
            <a:avLst/>
          </a:prstGeom>
          <a:noFill/>
          <a:ln>
            <a:noFill/>
          </a:ln>
        </p:spPr>
        <p:txBody>
          <a:bodyPr spcFirstLastPara="1" wrap="square" lIns="91425" tIns="91425" rIns="91425" bIns="91425" anchor="b" anchorCtr="0">
            <a:noAutofit/>
          </a:bodyPr>
          <a:lstStyle/>
          <a:p>
            <a:pPr marL="279400" lvl="0" indent="-279400" algn="l" rtl="0">
              <a:lnSpc>
                <a:spcPct val="100000"/>
              </a:lnSpc>
              <a:spcBef>
                <a:spcPts val="0"/>
              </a:spcBef>
              <a:spcAft>
                <a:spcPts val="0"/>
              </a:spcAft>
              <a:buNone/>
            </a:pPr>
            <a:r>
              <a:rPr lang="en" sz="1100" b="1">
                <a:solidFill>
                  <a:schemeClr val="dk1"/>
                </a:solidFill>
              </a:rPr>
              <a:t>Yang et al., in prep (1)</a:t>
            </a:r>
            <a:endParaRPr sz="1100" b="1">
              <a:solidFill>
                <a:schemeClr val="dk1"/>
              </a:solidFill>
            </a:endParaRPr>
          </a:p>
        </p:txBody>
      </p:sp>
      <p:sp>
        <p:nvSpPr>
          <p:cNvPr id="1168" name="Google Shape;1168;p78"/>
          <p:cNvSpPr txBox="1"/>
          <p:nvPr/>
        </p:nvSpPr>
        <p:spPr>
          <a:xfrm>
            <a:off x="0" y="0"/>
            <a:ext cx="9144000" cy="914400"/>
          </a:xfrm>
          <a:prstGeom prst="rect">
            <a:avLst/>
          </a:prstGeom>
          <a:solidFill>
            <a:srgbClr val="D9EAD3"/>
          </a:solidFill>
          <a:ln>
            <a:noFill/>
          </a:ln>
        </p:spPr>
        <p:txBody>
          <a:bodyPr spcFirstLastPara="1" wrap="square" lIns="91425" tIns="91425" rIns="91425" bIns="91425" anchor="ctr" anchorCtr="0">
            <a:noAutofit/>
          </a:bodyPr>
          <a:lstStyle/>
          <a:p>
            <a:pPr marL="457200" lvl="0" indent="0" algn="l" rtl="0">
              <a:spcBef>
                <a:spcPts val="0"/>
              </a:spcBef>
              <a:spcAft>
                <a:spcPts val="0"/>
              </a:spcAft>
              <a:buNone/>
            </a:pPr>
            <a:r>
              <a:rPr lang="en" sz="2400" b="1">
                <a:solidFill>
                  <a:srgbClr val="38761D"/>
                </a:solidFill>
              </a:rPr>
              <a:t>Age affects context differentiation of fairness-related DMN-dACC connectivity</a:t>
            </a:r>
            <a:endParaRPr sz="2400" b="1">
              <a:solidFill>
                <a:srgbClr val="38761D"/>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172"/>
        <p:cNvGrpSpPr/>
        <p:nvPr/>
      </p:nvGrpSpPr>
      <p:grpSpPr>
        <a:xfrm>
          <a:off x="0" y="0"/>
          <a:ext cx="0" cy="0"/>
          <a:chOff x="0" y="0"/>
          <a:chExt cx="0" cy="0"/>
        </a:xfrm>
      </p:grpSpPr>
      <p:sp>
        <p:nvSpPr>
          <p:cNvPr id="1173" name="Google Shape;1173;p7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63</a:t>
            </a:fld>
            <a:endParaRPr/>
          </a:p>
        </p:txBody>
      </p:sp>
      <p:sp>
        <p:nvSpPr>
          <p:cNvPr id="1174" name="Google Shape;1174;p79"/>
          <p:cNvSpPr txBox="1"/>
          <p:nvPr/>
        </p:nvSpPr>
        <p:spPr>
          <a:xfrm>
            <a:off x="248775" y="1321500"/>
            <a:ext cx="6827700" cy="2500500"/>
          </a:xfrm>
          <a:prstGeom prst="rect">
            <a:avLst/>
          </a:prstGeom>
          <a:noFill/>
          <a:ln>
            <a:noFill/>
          </a:ln>
        </p:spPr>
        <p:txBody>
          <a:bodyPr spcFirstLastPara="1" wrap="square" lIns="91425" tIns="91425" rIns="91425" bIns="91425" anchor="t" anchorCtr="0">
            <a:noAutofit/>
          </a:bodyPr>
          <a:lstStyle/>
          <a:p>
            <a:pPr marL="457200" lvl="0" indent="-368300" algn="l" rtl="0">
              <a:lnSpc>
                <a:spcPct val="115000"/>
              </a:lnSpc>
              <a:spcBef>
                <a:spcPts val="0"/>
              </a:spcBef>
              <a:spcAft>
                <a:spcPts val="0"/>
              </a:spcAft>
              <a:buClr>
                <a:schemeClr val="dk1"/>
              </a:buClr>
              <a:buSzPts val="2200"/>
              <a:buChar char="●"/>
            </a:pPr>
            <a:r>
              <a:rPr lang="en" sz="2200" b="1">
                <a:solidFill>
                  <a:schemeClr val="dk1"/>
                </a:solidFill>
              </a:rPr>
              <a:t>Functional connectivity</a:t>
            </a:r>
            <a:br>
              <a:rPr lang="en" sz="2200">
                <a:solidFill>
                  <a:schemeClr val="dk1"/>
                </a:solidFill>
              </a:rPr>
            </a:br>
            <a:r>
              <a:rPr lang="en" sz="2200" b="1">
                <a:solidFill>
                  <a:srgbClr val="38761D"/>
                </a:solidFill>
              </a:rPr>
              <a:t>- Default Mode Network (DMN)</a:t>
            </a:r>
            <a:br>
              <a:rPr lang="en" sz="2200">
                <a:solidFill>
                  <a:schemeClr val="dk1"/>
                </a:solidFill>
              </a:rPr>
            </a:br>
            <a:r>
              <a:rPr lang="en" sz="2200">
                <a:solidFill>
                  <a:srgbClr val="1155CC"/>
                </a:solidFill>
              </a:rPr>
              <a:t>- Executive Control Network (ECN)</a:t>
            </a:r>
            <a:r>
              <a:rPr lang="en" sz="2200">
                <a:solidFill>
                  <a:schemeClr val="dk1"/>
                </a:solidFill>
              </a:rPr>
              <a:t>  </a:t>
            </a:r>
            <a:endParaRPr sz="2200">
              <a:solidFill>
                <a:schemeClr val="dk1"/>
              </a:solidFill>
            </a:endParaRPr>
          </a:p>
          <a:p>
            <a:pPr marL="457200" lvl="0" indent="-368300" algn="l" rtl="0">
              <a:lnSpc>
                <a:spcPct val="115000"/>
              </a:lnSpc>
              <a:spcBef>
                <a:spcPts val="1000"/>
              </a:spcBef>
              <a:spcAft>
                <a:spcPts val="1000"/>
              </a:spcAft>
              <a:buClr>
                <a:srgbClr val="CCCCCC"/>
              </a:buClr>
              <a:buSzPts val="2200"/>
              <a:buChar char="●"/>
            </a:pPr>
            <a:r>
              <a:rPr lang="en" sz="2200" b="1">
                <a:solidFill>
                  <a:srgbClr val="CCCCCC"/>
                </a:solidFill>
              </a:rPr>
              <a:t>Connectivity-behavior association</a:t>
            </a:r>
            <a:br>
              <a:rPr lang="en" sz="2200" b="1">
                <a:solidFill>
                  <a:srgbClr val="CCCCCC"/>
                </a:solidFill>
              </a:rPr>
            </a:br>
            <a:r>
              <a:rPr lang="en" sz="2200">
                <a:solidFill>
                  <a:srgbClr val="CCCCCC"/>
                </a:solidFill>
              </a:rPr>
              <a:t>- Fairness norm</a:t>
            </a:r>
            <a:br>
              <a:rPr lang="en" sz="2200">
                <a:solidFill>
                  <a:srgbClr val="CCCCCC"/>
                </a:solidFill>
              </a:rPr>
            </a:br>
            <a:r>
              <a:rPr lang="en" sz="2200">
                <a:solidFill>
                  <a:srgbClr val="CCCCCC"/>
                </a:solidFill>
              </a:rPr>
              <a:t>- Norm violation sensitivity</a:t>
            </a:r>
            <a:endParaRPr sz="2200">
              <a:solidFill>
                <a:srgbClr val="CCCCCC"/>
              </a:solidFill>
            </a:endParaRPr>
          </a:p>
        </p:txBody>
      </p:sp>
      <p:sp>
        <p:nvSpPr>
          <p:cNvPr id="1175" name="Google Shape;1175;p79"/>
          <p:cNvSpPr txBox="1"/>
          <p:nvPr/>
        </p:nvSpPr>
        <p:spPr>
          <a:xfrm>
            <a:off x="4810750" y="1616525"/>
            <a:ext cx="548700" cy="54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800" b="1">
                <a:solidFill>
                  <a:srgbClr val="38761D"/>
                </a:solidFill>
                <a:latin typeface="Roboto"/>
                <a:ea typeface="Roboto"/>
                <a:cs typeface="Roboto"/>
                <a:sym typeface="Roboto"/>
              </a:rPr>
              <a:t>✔</a:t>
            </a:r>
            <a:endParaRPr sz="2800" b="1">
              <a:solidFill>
                <a:srgbClr val="38761D"/>
              </a:solidFill>
            </a:endParaRPr>
          </a:p>
        </p:txBody>
      </p:sp>
      <p:sp>
        <p:nvSpPr>
          <p:cNvPr id="1176" name="Google Shape;1176;p79"/>
          <p:cNvSpPr txBox="1"/>
          <p:nvPr/>
        </p:nvSpPr>
        <p:spPr>
          <a:xfrm>
            <a:off x="-44300" y="4663225"/>
            <a:ext cx="7155000" cy="470100"/>
          </a:xfrm>
          <a:prstGeom prst="rect">
            <a:avLst/>
          </a:prstGeom>
          <a:noFill/>
          <a:ln>
            <a:noFill/>
          </a:ln>
        </p:spPr>
        <p:txBody>
          <a:bodyPr spcFirstLastPara="1" wrap="square" lIns="91425" tIns="91425" rIns="91425" bIns="91425" anchor="b" anchorCtr="0">
            <a:noAutofit/>
          </a:bodyPr>
          <a:lstStyle/>
          <a:p>
            <a:pPr marL="279400" lvl="0" indent="-279400" algn="l" rtl="0">
              <a:lnSpc>
                <a:spcPct val="100000"/>
              </a:lnSpc>
              <a:spcBef>
                <a:spcPts val="0"/>
              </a:spcBef>
              <a:spcAft>
                <a:spcPts val="0"/>
              </a:spcAft>
              <a:buNone/>
            </a:pPr>
            <a:r>
              <a:rPr lang="en" sz="1100" b="1">
                <a:solidFill>
                  <a:schemeClr val="dk1"/>
                </a:solidFill>
              </a:rPr>
              <a:t>Yang et al., in prep (1)</a:t>
            </a:r>
            <a:endParaRPr sz="1100" b="1">
              <a:solidFill>
                <a:schemeClr val="dk1"/>
              </a:solidFill>
            </a:endParaRPr>
          </a:p>
        </p:txBody>
      </p:sp>
      <p:grpSp>
        <p:nvGrpSpPr>
          <p:cNvPr id="1177" name="Google Shape;1177;p79"/>
          <p:cNvGrpSpPr/>
          <p:nvPr/>
        </p:nvGrpSpPr>
        <p:grpSpPr>
          <a:xfrm>
            <a:off x="5661021" y="1494830"/>
            <a:ext cx="2990804" cy="2615173"/>
            <a:chOff x="5661021" y="1494830"/>
            <a:chExt cx="2990804" cy="2615173"/>
          </a:xfrm>
        </p:grpSpPr>
        <p:grpSp>
          <p:nvGrpSpPr>
            <p:cNvPr id="1178" name="Google Shape;1178;p79"/>
            <p:cNvGrpSpPr/>
            <p:nvPr/>
          </p:nvGrpSpPr>
          <p:grpSpPr>
            <a:xfrm>
              <a:off x="5661021" y="1494830"/>
              <a:ext cx="2990804" cy="1305648"/>
              <a:chOff x="5661021" y="1190030"/>
              <a:chExt cx="2990804" cy="1305648"/>
            </a:xfrm>
          </p:grpSpPr>
          <p:grpSp>
            <p:nvGrpSpPr>
              <p:cNvPr id="1179" name="Google Shape;1179;p79"/>
              <p:cNvGrpSpPr/>
              <p:nvPr/>
            </p:nvGrpSpPr>
            <p:grpSpPr>
              <a:xfrm>
                <a:off x="5661021" y="1425796"/>
                <a:ext cx="2764051" cy="1069883"/>
                <a:chOff x="-321558" y="1161346"/>
                <a:chExt cx="1727100" cy="663000"/>
              </a:xfrm>
            </p:grpSpPr>
            <p:sp>
              <p:nvSpPr>
                <p:cNvPr id="1180" name="Google Shape;1180;p79"/>
                <p:cNvSpPr/>
                <p:nvPr/>
              </p:nvSpPr>
              <p:spPr>
                <a:xfrm>
                  <a:off x="-321558" y="1161346"/>
                  <a:ext cx="1727100" cy="663000"/>
                </a:xfrm>
                <a:prstGeom prst="roundRect">
                  <a:avLst>
                    <a:gd name="adj" fmla="val 16667"/>
                  </a:avLst>
                </a:prstGeom>
                <a:solidFill>
                  <a:schemeClr val="lt1"/>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181" name="Google Shape;1181;p79"/>
                <p:cNvGrpSpPr/>
                <p:nvPr/>
              </p:nvGrpSpPr>
              <p:grpSpPr>
                <a:xfrm>
                  <a:off x="-259808" y="1189551"/>
                  <a:ext cx="1624776" cy="606602"/>
                  <a:chOff x="-259808" y="1189551"/>
                  <a:chExt cx="1624776" cy="606602"/>
                </a:xfrm>
              </p:grpSpPr>
              <p:pic>
                <p:nvPicPr>
                  <p:cNvPr id="1182" name="Google Shape;1182;p79" title="DMN_2green.png"/>
                  <p:cNvPicPr preferRelativeResize="0"/>
                  <p:nvPr/>
                </p:nvPicPr>
                <p:blipFill rotWithShape="1">
                  <a:blip r:embed="rId3">
                    <a:alphaModFix/>
                  </a:blip>
                  <a:srcRect t="11465" r="55062" b="46348"/>
                  <a:stretch/>
                </p:blipFill>
                <p:spPr>
                  <a:xfrm>
                    <a:off x="275952" y="1210719"/>
                    <a:ext cx="487076" cy="544200"/>
                  </a:xfrm>
                  <a:prstGeom prst="rect">
                    <a:avLst/>
                  </a:prstGeom>
                  <a:noFill/>
                  <a:ln>
                    <a:noFill/>
                  </a:ln>
                </p:spPr>
              </p:pic>
              <p:pic>
                <p:nvPicPr>
                  <p:cNvPr id="1183" name="Google Shape;1183;p79" title="DMN_2green.png"/>
                  <p:cNvPicPr preferRelativeResize="0"/>
                  <p:nvPr/>
                </p:nvPicPr>
                <p:blipFill rotWithShape="1">
                  <a:blip r:embed="rId3">
                    <a:alphaModFix/>
                  </a:blip>
                  <a:srcRect l="45048" t="11466" b="46346"/>
                  <a:stretch/>
                </p:blipFill>
                <p:spPr>
                  <a:xfrm>
                    <a:off x="769380" y="1210705"/>
                    <a:ext cx="595588" cy="544215"/>
                  </a:xfrm>
                  <a:prstGeom prst="rect">
                    <a:avLst/>
                  </a:prstGeom>
                  <a:noFill/>
                  <a:ln>
                    <a:noFill/>
                  </a:ln>
                </p:spPr>
              </p:pic>
              <p:pic>
                <p:nvPicPr>
                  <p:cNvPr id="1184" name="Google Shape;1184;p79" title="DMN_2green.png"/>
                  <p:cNvPicPr preferRelativeResize="0"/>
                  <p:nvPr/>
                </p:nvPicPr>
                <p:blipFill rotWithShape="1">
                  <a:blip r:embed="rId3">
                    <a:alphaModFix/>
                  </a:blip>
                  <a:srcRect t="52978" r="55062"/>
                  <a:stretch/>
                </p:blipFill>
                <p:spPr>
                  <a:xfrm>
                    <a:off x="-259808" y="1189551"/>
                    <a:ext cx="487076" cy="606602"/>
                  </a:xfrm>
                  <a:prstGeom prst="rect">
                    <a:avLst/>
                  </a:prstGeom>
                  <a:noFill/>
                  <a:ln>
                    <a:noFill/>
                  </a:ln>
                </p:spPr>
              </p:pic>
            </p:grpSp>
          </p:grpSp>
          <p:sp>
            <p:nvSpPr>
              <p:cNvPr id="1185" name="Google Shape;1185;p79"/>
              <p:cNvSpPr txBox="1"/>
              <p:nvPr/>
            </p:nvSpPr>
            <p:spPr>
              <a:xfrm>
                <a:off x="5713925" y="1190030"/>
                <a:ext cx="2937900" cy="47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r>
                  <a:rPr lang="en" sz="1600" b="1">
                    <a:solidFill>
                      <a:srgbClr val="38761D"/>
                    </a:solidFill>
                    <a:highlight>
                      <a:schemeClr val="lt1"/>
                    </a:highlight>
                  </a:rPr>
                  <a:t>Default Mode Network</a:t>
                </a:r>
                <a:endParaRPr sz="1600" b="1">
                  <a:highlight>
                    <a:schemeClr val="lt1"/>
                  </a:highlight>
                </a:endParaRPr>
              </a:p>
            </p:txBody>
          </p:sp>
        </p:grpSp>
        <p:grpSp>
          <p:nvGrpSpPr>
            <p:cNvPr id="1186" name="Google Shape;1186;p79"/>
            <p:cNvGrpSpPr/>
            <p:nvPr/>
          </p:nvGrpSpPr>
          <p:grpSpPr>
            <a:xfrm>
              <a:off x="5661030" y="2786832"/>
              <a:ext cx="2990795" cy="1323171"/>
              <a:chOff x="5661030" y="2786832"/>
              <a:chExt cx="2990795" cy="1323171"/>
            </a:xfrm>
          </p:grpSpPr>
          <p:grpSp>
            <p:nvGrpSpPr>
              <p:cNvPr id="1187" name="Google Shape;1187;p79"/>
              <p:cNvGrpSpPr/>
              <p:nvPr/>
            </p:nvGrpSpPr>
            <p:grpSpPr>
              <a:xfrm>
                <a:off x="5661030" y="3048903"/>
                <a:ext cx="2764200" cy="1061100"/>
                <a:chOff x="5661005" y="2942303"/>
                <a:chExt cx="2764200" cy="1061100"/>
              </a:xfrm>
            </p:grpSpPr>
            <p:sp>
              <p:nvSpPr>
                <p:cNvPr id="1188" name="Google Shape;1188;p79"/>
                <p:cNvSpPr/>
                <p:nvPr/>
              </p:nvSpPr>
              <p:spPr>
                <a:xfrm>
                  <a:off x="5661005" y="2942303"/>
                  <a:ext cx="2764200" cy="1061100"/>
                </a:xfrm>
                <a:prstGeom prst="roundRect">
                  <a:avLst>
                    <a:gd name="adj" fmla="val 16667"/>
                  </a:avLst>
                </a:prstGeom>
                <a:solidFill>
                  <a:schemeClr val="lt1"/>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189" name="Google Shape;1189;p79"/>
                <p:cNvGrpSpPr/>
                <p:nvPr/>
              </p:nvGrpSpPr>
              <p:grpSpPr>
                <a:xfrm>
                  <a:off x="5793771" y="2976214"/>
                  <a:ext cx="2532437" cy="958984"/>
                  <a:chOff x="-9625" y="1107063"/>
                  <a:chExt cx="1987628" cy="752676"/>
                </a:xfrm>
              </p:grpSpPr>
              <p:pic>
                <p:nvPicPr>
                  <p:cNvPr id="1190" name="Google Shape;1190;p79" title="ECN_7cool.png"/>
                  <p:cNvPicPr preferRelativeResize="0"/>
                  <p:nvPr/>
                </p:nvPicPr>
                <p:blipFill rotWithShape="1">
                  <a:blip r:embed="rId4">
                    <a:alphaModFix/>
                  </a:blip>
                  <a:srcRect t="11395" r="55952" b="51773"/>
                  <a:stretch/>
                </p:blipFill>
                <p:spPr>
                  <a:xfrm>
                    <a:off x="648489" y="1206657"/>
                    <a:ext cx="547751" cy="553498"/>
                  </a:xfrm>
                  <a:prstGeom prst="rect">
                    <a:avLst/>
                  </a:prstGeom>
                  <a:noFill/>
                  <a:ln>
                    <a:noFill/>
                  </a:ln>
                </p:spPr>
              </p:pic>
              <p:pic>
                <p:nvPicPr>
                  <p:cNvPr id="1191" name="Google Shape;1191;p79" title="ECN_7cool.png"/>
                  <p:cNvPicPr preferRelativeResize="0"/>
                  <p:nvPr/>
                </p:nvPicPr>
                <p:blipFill rotWithShape="1">
                  <a:blip r:embed="rId4">
                    <a:alphaModFix/>
                  </a:blip>
                  <a:srcRect l="43454" t="9886" b="45877"/>
                  <a:stretch/>
                </p:blipFill>
                <p:spPr>
                  <a:xfrm>
                    <a:off x="1274852" y="1151025"/>
                    <a:ext cx="703151" cy="664755"/>
                  </a:xfrm>
                  <a:prstGeom prst="rect">
                    <a:avLst/>
                  </a:prstGeom>
                  <a:noFill/>
                  <a:ln>
                    <a:noFill/>
                  </a:ln>
                </p:spPr>
              </p:pic>
              <p:pic>
                <p:nvPicPr>
                  <p:cNvPr id="1192" name="Google Shape;1192;p79" title="ECN_7cool.png"/>
                  <p:cNvPicPr preferRelativeResize="0"/>
                  <p:nvPr/>
                </p:nvPicPr>
                <p:blipFill rotWithShape="1">
                  <a:blip r:embed="rId4">
                    <a:alphaModFix/>
                  </a:blip>
                  <a:srcRect t="49917" r="55952"/>
                  <a:stretch/>
                </p:blipFill>
                <p:spPr>
                  <a:xfrm>
                    <a:off x="-9625" y="1107063"/>
                    <a:ext cx="547751" cy="752676"/>
                  </a:xfrm>
                  <a:prstGeom prst="rect">
                    <a:avLst/>
                  </a:prstGeom>
                  <a:noFill/>
                  <a:ln>
                    <a:noFill/>
                  </a:ln>
                </p:spPr>
              </p:pic>
            </p:grpSp>
          </p:grpSp>
          <p:sp>
            <p:nvSpPr>
              <p:cNvPr id="1193" name="Google Shape;1193;p79"/>
              <p:cNvSpPr txBox="1"/>
              <p:nvPr/>
            </p:nvSpPr>
            <p:spPr>
              <a:xfrm>
                <a:off x="5713925" y="2786832"/>
                <a:ext cx="2937900" cy="47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r>
                  <a:rPr lang="en" sz="1600" b="1">
                    <a:solidFill>
                      <a:srgbClr val="3C78D8"/>
                    </a:solidFill>
                    <a:highlight>
                      <a:schemeClr val="lt1"/>
                    </a:highlight>
                  </a:rPr>
                  <a:t>Executive Control Network</a:t>
                </a:r>
                <a:endParaRPr sz="1600" b="1">
                  <a:solidFill>
                    <a:srgbClr val="3C78D8"/>
                  </a:solidFill>
                  <a:highlight>
                    <a:schemeClr val="lt1"/>
                  </a:highlight>
                </a:endParaRPr>
              </a:p>
            </p:txBody>
          </p:sp>
        </p:grpSp>
      </p:grpSp>
      <p:sp>
        <p:nvSpPr>
          <p:cNvPr id="1194" name="Google Shape;1194;p79"/>
          <p:cNvSpPr txBox="1"/>
          <p:nvPr/>
        </p:nvSpPr>
        <p:spPr>
          <a:xfrm>
            <a:off x="-10375" y="147650"/>
            <a:ext cx="8842800" cy="1127100"/>
          </a:xfrm>
          <a:prstGeom prst="rect">
            <a:avLst/>
          </a:prstGeom>
          <a:noFill/>
          <a:ln>
            <a:noFill/>
          </a:ln>
        </p:spPr>
        <p:txBody>
          <a:bodyPr spcFirstLastPara="1" wrap="square" lIns="91425" tIns="91425" rIns="91425" bIns="91425" anchor="ctr" anchorCtr="0">
            <a:noAutofit/>
          </a:bodyPr>
          <a:lstStyle/>
          <a:p>
            <a:pPr marL="457200" lvl="0" indent="0" algn="l" rtl="0">
              <a:spcBef>
                <a:spcPts val="0"/>
              </a:spcBef>
              <a:spcAft>
                <a:spcPts val="0"/>
              </a:spcAft>
              <a:buNone/>
            </a:pPr>
            <a:r>
              <a:rPr lang="en" sz="2800" b="1">
                <a:solidFill>
                  <a:schemeClr val="dk1"/>
                </a:solidFill>
                <a:highlight>
                  <a:schemeClr val="lt1"/>
                </a:highlight>
              </a:rPr>
              <a:t>Age * social context interaction?</a:t>
            </a:r>
            <a:endParaRPr sz="2800" b="1">
              <a:solidFill>
                <a:schemeClr val="dk1"/>
              </a:solidFill>
              <a:highlight>
                <a:schemeClr val="lt1"/>
              </a:highlight>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8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64</a:t>
            </a:fld>
            <a:endParaRPr/>
          </a:p>
        </p:txBody>
      </p:sp>
      <p:sp>
        <p:nvSpPr>
          <p:cNvPr id="1200" name="Google Shape;1200;p80"/>
          <p:cNvSpPr txBox="1"/>
          <p:nvPr/>
        </p:nvSpPr>
        <p:spPr>
          <a:xfrm>
            <a:off x="248775" y="1321500"/>
            <a:ext cx="6827700" cy="2500500"/>
          </a:xfrm>
          <a:prstGeom prst="rect">
            <a:avLst/>
          </a:prstGeom>
          <a:noFill/>
          <a:ln>
            <a:noFill/>
          </a:ln>
        </p:spPr>
        <p:txBody>
          <a:bodyPr spcFirstLastPara="1" wrap="square" lIns="91425" tIns="91425" rIns="91425" bIns="91425" anchor="t" anchorCtr="0">
            <a:noAutofit/>
          </a:bodyPr>
          <a:lstStyle/>
          <a:p>
            <a:pPr marL="457200" lvl="0" indent="-368300" algn="l" rtl="0">
              <a:lnSpc>
                <a:spcPct val="115000"/>
              </a:lnSpc>
              <a:spcBef>
                <a:spcPts val="0"/>
              </a:spcBef>
              <a:spcAft>
                <a:spcPts val="0"/>
              </a:spcAft>
              <a:buClr>
                <a:schemeClr val="dk1"/>
              </a:buClr>
              <a:buSzPts val="2200"/>
              <a:buChar char="●"/>
            </a:pPr>
            <a:r>
              <a:rPr lang="en" sz="2200" b="1">
                <a:solidFill>
                  <a:schemeClr val="dk1"/>
                </a:solidFill>
              </a:rPr>
              <a:t>Functional connectivity</a:t>
            </a:r>
            <a:br>
              <a:rPr lang="en" sz="2200">
                <a:solidFill>
                  <a:schemeClr val="dk1"/>
                </a:solidFill>
              </a:rPr>
            </a:br>
            <a:r>
              <a:rPr lang="en" sz="2200" b="1">
                <a:solidFill>
                  <a:srgbClr val="38761D"/>
                </a:solidFill>
              </a:rPr>
              <a:t>- Default Mode Network (DMN)</a:t>
            </a:r>
            <a:br>
              <a:rPr lang="en" sz="2200">
                <a:solidFill>
                  <a:schemeClr val="dk1"/>
                </a:solidFill>
              </a:rPr>
            </a:br>
            <a:r>
              <a:rPr lang="en" sz="2200">
                <a:solidFill>
                  <a:srgbClr val="3C78D8"/>
                </a:solidFill>
              </a:rPr>
              <a:t>- Executive Control Network (ECN) </a:t>
            </a:r>
            <a:r>
              <a:rPr lang="en" sz="2200">
                <a:solidFill>
                  <a:schemeClr val="dk1"/>
                </a:solidFill>
              </a:rPr>
              <a:t> </a:t>
            </a:r>
            <a:endParaRPr sz="2200">
              <a:solidFill>
                <a:schemeClr val="dk1"/>
              </a:solidFill>
            </a:endParaRPr>
          </a:p>
          <a:p>
            <a:pPr marL="457200" lvl="0" indent="-368300" algn="l" rtl="0">
              <a:lnSpc>
                <a:spcPct val="115000"/>
              </a:lnSpc>
              <a:spcBef>
                <a:spcPts val="1000"/>
              </a:spcBef>
              <a:spcAft>
                <a:spcPts val="1000"/>
              </a:spcAft>
              <a:buClr>
                <a:schemeClr val="dk1"/>
              </a:buClr>
              <a:buSzPts val="2200"/>
              <a:buChar char="●"/>
            </a:pPr>
            <a:r>
              <a:rPr lang="en" sz="2200" b="1">
                <a:solidFill>
                  <a:schemeClr val="dk1"/>
                </a:solidFill>
              </a:rPr>
              <a:t>Connectivity-behavior association</a:t>
            </a:r>
            <a:br>
              <a:rPr lang="en" sz="2200" b="1">
                <a:solidFill>
                  <a:schemeClr val="dk1"/>
                </a:solidFill>
              </a:rPr>
            </a:br>
            <a:r>
              <a:rPr lang="en" sz="2200">
                <a:solidFill>
                  <a:schemeClr val="dk1"/>
                </a:solidFill>
              </a:rPr>
              <a:t>- Fairness norm</a:t>
            </a:r>
            <a:br>
              <a:rPr lang="en" sz="2200">
                <a:solidFill>
                  <a:schemeClr val="dk1"/>
                </a:solidFill>
              </a:rPr>
            </a:br>
            <a:r>
              <a:rPr lang="en" sz="2200">
                <a:solidFill>
                  <a:schemeClr val="dk1"/>
                </a:solidFill>
              </a:rPr>
              <a:t>- Norm violation sensitivity</a:t>
            </a:r>
            <a:endParaRPr sz="2200">
              <a:solidFill>
                <a:schemeClr val="dk1"/>
              </a:solidFill>
            </a:endParaRPr>
          </a:p>
        </p:txBody>
      </p:sp>
      <p:sp>
        <p:nvSpPr>
          <p:cNvPr id="1201" name="Google Shape;1201;p80"/>
          <p:cNvSpPr txBox="1"/>
          <p:nvPr/>
        </p:nvSpPr>
        <p:spPr>
          <a:xfrm>
            <a:off x="-44300" y="4663225"/>
            <a:ext cx="7155000" cy="470100"/>
          </a:xfrm>
          <a:prstGeom prst="rect">
            <a:avLst/>
          </a:prstGeom>
          <a:noFill/>
          <a:ln>
            <a:noFill/>
          </a:ln>
        </p:spPr>
        <p:txBody>
          <a:bodyPr spcFirstLastPara="1" wrap="square" lIns="91425" tIns="91425" rIns="91425" bIns="91425" anchor="b" anchorCtr="0">
            <a:noAutofit/>
          </a:bodyPr>
          <a:lstStyle/>
          <a:p>
            <a:pPr marL="279400" lvl="0" indent="-279400" algn="l" rtl="0">
              <a:lnSpc>
                <a:spcPct val="100000"/>
              </a:lnSpc>
              <a:spcBef>
                <a:spcPts val="0"/>
              </a:spcBef>
              <a:spcAft>
                <a:spcPts val="0"/>
              </a:spcAft>
              <a:buNone/>
            </a:pPr>
            <a:r>
              <a:rPr lang="en" sz="1100" b="1">
                <a:solidFill>
                  <a:schemeClr val="dk1"/>
                </a:solidFill>
              </a:rPr>
              <a:t>Yang et al., in prep (1)</a:t>
            </a:r>
            <a:endParaRPr sz="1100" b="1">
              <a:solidFill>
                <a:schemeClr val="dk1"/>
              </a:solidFill>
            </a:endParaRPr>
          </a:p>
        </p:txBody>
      </p:sp>
      <p:grpSp>
        <p:nvGrpSpPr>
          <p:cNvPr id="1202" name="Google Shape;1202;p80"/>
          <p:cNvGrpSpPr/>
          <p:nvPr/>
        </p:nvGrpSpPr>
        <p:grpSpPr>
          <a:xfrm>
            <a:off x="5661021" y="1494830"/>
            <a:ext cx="2990804" cy="2615173"/>
            <a:chOff x="5661021" y="1494830"/>
            <a:chExt cx="2990804" cy="2615173"/>
          </a:xfrm>
        </p:grpSpPr>
        <p:grpSp>
          <p:nvGrpSpPr>
            <p:cNvPr id="1203" name="Google Shape;1203;p80"/>
            <p:cNvGrpSpPr/>
            <p:nvPr/>
          </p:nvGrpSpPr>
          <p:grpSpPr>
            <a:xfrm>
              <a:off x="5661021" y="1494830"/>
              <a:ext cx="2990804" cy="1305648"/>
              <a:chOff x="5661021" y="1190030"/>
              <a:chExt cx="2990804" cy="1305648"/>
            </a:xfrm>
          </p:grpSpPr>
          <p:grpSp>
            <p:nvGrpSpPr>
              <p:cNvPr id="1204" name="Google Shape;1204;p80"/>
              <p:cNvGrpSpPr/>
              <p:nvPr/>
            </p:nvGrpSpPr>
            <p:grpSpPr>
              <a:xfrm>
                <a:off x="5661021" y="1425796"/>
                <a:ext cx="2764051" cy="1069883"/>
                <a:chOff x="-321558" y="1161346"/>
                <a:chExt cx="1727100" cy="663000"/>
              </a:xfrm>
            </p:grpSpPr>
            <p:sp>
              <p:nvSpPr>
                <p:cNvPr id="1205" name="Google Shape;1205;p80"/>
                <p:cNvSpPr/>
                <p:nvPr/>
              </p:nvSpPr>
              <p:spPr>
                <a:xfrm>
                  <a:off x="-321558" y="1161346"/>
                  <a:ext cx="1727100" cy="663000"/>
                </a:xfrm>
                <a:prstGeom prst="roundRect">
                  <a:avLst>
                    <a:gd name="adj" fmla="val 16667"/>
                  </a:avLst>
                </a:prstGeom>
                <a:solidFill>
                  <a:schemeClr val="lt1"/>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206" name="Google Shape;1206;p80"/>
                <p:cNvGrpSpPr/>
                <p:nvPr/>
              </p:nvGrpSpPr>
              <p:grpSpPr>
                <a:xfrm>
                  <a:off x="-259808" y="1189551"/>
                  <a:ext cx="1624776" cy="606602"/>
                  <a:chOff x="-259808" y="1189551"/>
                  <a:chExt cx="1624776" cy="606602"/>
                </a:xfrm>
              </p:grpSpPr>
              <p:pic>
                <p:nvPicPr>
                  <p:cNvPr id="1207" name="Google Shape;1207;p80" title="DMN_2green.png"/>
                  <p:cNvPicPr preferRelativeResize="0"/>
                  <p:nvPr/>
                </p:nvPicPr>
                <p:blipFill rotWithShape="1">
                  <a:blip r:embed="rId3">
                    <a:alphaModFix/>
                  </a:blip>
                  <a:srcRect t="11465" r="55062" b="46348"/>
                  <a:stretch/>
                </p:blipFill>
                <p:spPr>
                  <a:xfrm>
                    <a:off x="275952" y="1210719"/>
                    <a:ext cx="487076" cy="544200"/>
                  </a:xfrm>
                  <a:prstGeom prst="rect">
                    <a:avLst/>
                  </a:prstGeom>
                  <a:noFill/>
                  <a:ln>
                    <a:noFill/>
                  </a:ln>
                </p:spPr>
              </p:pic>
              <p:pic>
                <p:nvPicPr>
                  <p:cNvPr id="1208" name="Google Shape;1208;p80" title="DMN_2green.png"/>
                  <p:cNvPicPr preferRelativeResize="0"/>
                  <p:nvPr/>
                </p:nvPicPr>
                <p:blipFill rotWithShape="1">
                  <a:blip r:embed="rId3">
                    <a:alphaModFix/>
                  </a:blip>
                  <a:srcRect l="45048" t="11466" b="46346"/>
                  <a:stretch/>
                </p:blipFill>
                <p:spPr>
                  <a:xfrm>
                    <a:off x="769380" y="1210705"/>
                    <a:ext cx="595588" cy="544215"/>
                  </a:xfrm>
                  <a:prstGeom prst="rect">
                    <a:avLst/>
                  </a:prstGeom>
                  <a:noFill/>
                  <a:ln>
                    <a:noFill/>
                  </a:ln>
                </p:spPr>
              </p:pic>
              <p:pic>
                <p:nvPicPr>
                  <p:cNvPr id="1209" name="Google Shape;1209;p80" title="DMN_2green.png"/>
                  <p:cNvPicPr preferRelativeResize="0"/>
                  <p:nvPr/>
                </p:nvPicPr>
                <p:blipFill rotWithShape="1">
                  <a:blip r:embed="rId3">
                    <a:alphaModFix/>
                  </a:blip>
                  <a:srcRect t="52978" r="55062"/>
                  <a:stretch/>
                </p:blipFill>
                <p:spPr>
                  <a:xfrm>
                    <a:off x="-259808" y="1189551"/>
                    <a:ext cx="487076" cy="606602"/>
                  </a:xfrm>
                  <a:prstGeom prst="rect">
                    <a:avLst/>
                  </a:prstGeom>
                  <a:noFill/>
                  <a:ln>
                    <a:noFill/>
                  </a:ln>
                </p:spPr>
              </p:pic>
            </p:grpSp>
          </p:grpSp>
          <p:sp>
            <p:nvSpPr>
              <p:cNvPr id="1210" name="Google Shape;1210;p80"/>
              <p:cNvSpPr txBox="1"/>
              <p:nvPr/>
            </p:nvSpPr>
            <p:spPr>
              <a:xfrm>
                <a:off x="5713925" y="1190030"/>
                <a:ext cx="2937900" cy="47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r>
                  <a:rPr lang="en" sz="1600" b="1">
                    <a:solidFill>
                      <a:srgbClr val="38761D"/>
                    </a:solidFill>
                    <a:highlight>
                      <a:schemeClr val="lt1"/>
                    </a:highlight>
                  </a:rPr>
                  <a:t>Default Mode Network</a:t>
                </a:r>
                <a:endParaRPr sz="1600" b="1">
                  <a:highlight>
                    <a:schemeClr val="lt1"/>
                  </a:highlight>
                </a:endParaRPr>
              </a:p>
            </p:txBody>
          </p:sp>
        </p:grpSp>
        <p:grpSp>
          <p:nvGrpSpPr>
            <p:cNvPr id="1211" name="Google Shape;1211;p80"/>
            <p:cNvGrpSpPr/>
            <p:nvPr/>
          </p:nvGrpSpPr>
          <p:grpSpPr>
            <a:xfrm>
              <a:off x="5661030" y="2786832"/>
              <a:ext cx="2990795" cy="1323171"/>
              <a:chOff x="5661030" y="2786832"/>
              <a:chExt cx="2990795" cy="1323171"/>
            </a:xfrm>
          </p:grpSpPr>
          <p:grpSp>
            <p:nvGrpSpPr>
              <p:cNvPr id="1212" name="Google Shape;1212;p80"/>
              <p:cNvGrpSpPr/>
              <p:nvPr/>
            </p:nvGrpSpPr>
            <p:grpSpPr>
              <a:xfrm>
                <a:off x="5661030" y="3048903"/>
                <a:ext cx="2764200" cy="1061100"/>
                <a:chOff x="5661005" y="2942303"/>
                <a:chExt cx="2764200" cy="1061100"/>
              </a:xfrm>
            </p:grpSpPr>
            <p:sp>
              <p:nvSpPr>
                <p:cNvPr id="1213" name="Google Shape;1213;p80"/>
                <p:cNvSpPr/>
                <p:nvPr/>
              </p:nvSpPr>
              <p:spPr>
                <a:xfrm>
                  <a:off x="5661005" y="2942303"/>
                  <a:ext cx="2764200" cy="1061100"/>
                </a:xfrm>
                <a:prstGeom prst="roundRect">
                  <a:avLst>
                    <a:gd name="adj" fmla="val 16667"/>
                  </a:avLst>
                </a:prstGeom>
                <a:solidFill>
                  <a:schemeClr val="lt1"/>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214" name="Google Shape;1214;p80"/>
                <p:cNvGrpSpPr/>
                <p:nvPr/>
              </p:nvGrpSpPr>
              <p:grpSpPr>
                <a:xfrm>
                  <a:off x="5793771" y="2976214"/>
                  <a:ext cx="2532437" cy="958984"/>
                  <a:chOff x="-9625" y="1107063"/>
                  <a:chExt cx="1987628" cy="752676"/>
                </a:xfrm>
              </p:grpSpPr>
              <p:pic>
                <p:nvPicPr>
                  <p:cNvPr id="1215" name="Google Shape;1215;p80" title="ECN_7cool.png"/>
                  <p:cNvPicPr preferRelativeResize="0"/>
                  <p:nvPr/>
                </p:nvPicPr>
                <p:blipFill rotWithShape="1">
                  <a:blip r:embed="rId4">
                    <a:alphaModFix/>
                  </a:blip>
                  <a:srcRect t="11395" r="55952" b="51773"/>
                  <a:stretch/>
                </p:blipFill>
                <p:spPr>
                  <a:xfrm>
                    <a:off x="648489" y="1206657"/>
                    <a:ext cx="547751" cy="553498"/>
                  </a:xfrm>
                  <a:prstGeom prst="rect">
                    <a:avLst/>
                  </a:prstGeom>
                  <a:noFill/>
                  <a:ln>
                    <a:noFill/>
                  </a:ln>
                </p:spPr>
              </p:pic>
              <p:pic>
                <p:nvPicPr>
                  <p:cNvPr id="1216" name="Google Shape;1216;p80" title="ECN_7cool.png"/>
                  <p:cNvPicPr preferRelativeResize="0"/>
                  <p:nvPr/>
                </p:nvPicPr>
                <p:blipFill rotWithShape="1">
                  <a:blip r:embed="rId4">
                    <a:alphaModFix/>
                  </a:blip>
                  <a:srcRect l="43454" t="9886" b="45877"/>
                  <a:stretch/>
                </p:blipFill>
                <p:spPr>
                  <a:xfrm>
                    <a:off x="1274852" y="1151025"/>
                    <a:ext cx="703151" cy="664755"/>
                  </a:xfrm>
                  <a:prstGeom prst="rect">
                    <a:avLst/>
                  </a:prstGeom>
                  <a:noFill/>
                  <a:ln>
                    <a:noFill/>
                  </a:ln>
                </p:spPr>
              </p:pic>
              <p:pic>
                <p:nvPicPr>
                  <p:cNvPr id="1217" name="Google Shape;1217;p80" title="ECN_7cool.png"/>
                  <p:cNvPicPr preferRelativeResize="0"/>
                  <p:nvPr/>
                </p:nvPicPr>
                <p:blipFill rotWithShape="1">
                  <a:blip r:embed="rId4">
                    <a:alphaModFix/>
                  </a:blip>
                  <a:srcRect t="49917" r="55952"/>
                  <a:stretch/>
                </p:blipFill>
                <p:spPr>
                  <a:xfrm>
                    <a:off x="-9625" y="1107063"/>
                    <a:ext cx="547751" cy="752676"/>
                  </a:xfrm>
                  <a:prstGeom prst="rect">
                    <a:avLst/>
                  </a:prstGeom>
                  <a:noFill/>
                  <a:ln>
                    <a:noFill/>
                  </a:ln>
                </p:spPr>
              </p:pic>
            </p:grpSp>
          </p:grpSp>
          <p:sp>
            <p:nvSpPr>
              <p:cNvPr id="1218" name="Google Shape;1218;p80"/>
              <p:cNvSpPr txBox="1"/>
              <p:nvPr/>
            </p:nvSpPr>
            <p:spPr>
              <a:xfrm>
                <a:off x="5713925" y="2786832"/>
                <a:ext cx="2937900" cy="47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r>
                  <a:rPr lang="en" sz="1600" b="1">
                    <a:solidFill>
                      <a:srgbClr val="3C78D8"/>
                    </a:solidFill>
                    <a:highlight>
                      <a:schemeClr val="lt1"/>
                    </a:highlight>
                  </a:rPr>
                  <a:t>Executive Control Network</a:t>
                </a:r>
                <a:endParaRPr sz="1600" b="1">
                  <a:solidFill>
                    <a:srgbClr val="3C78D8"/>
                  </a:solidFill>
                  <a:highlight>
                    <a:schemeClr val="lt1"/>
                  </a:highlight>
                </a:endParaRPr>
              </a:p>
            </p:txBody>
          </p:sp>
        </p:grpSp>
      </p:grpSp>
      <p:sp>
        <p:nvSpPr>
          <p:cNvPr id="1219" name="Google Shape;1219;p80"/>
          <p:cNvSpPr txBox="1"/>
          <p:nvPr/>
        </p:nvSpPr>
        <p:spPr>
          <a:xfrm>
            <a:off x="4810750" y="1616525"/>
            <a:ext cx="548700" cy="54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800" b="1">
                <a:solidFill>
                  <a:srgbClr val="38761D"/>
                </a:solidFill>
                <a:latin typeface="Roboto"/>
                <a:ea typeface="Roboto"/>
                <a:cs typeface="Roboto"/>
                <a:sym typeface="Roboto"/>
              </a:rPr>
              <a:t>✔</a:t>
            </a:r>
            <a:endParaRPr sz="2800" b="1">
              <a:solidFill>
                <a:srgbClr val="38761D"/>
              </a:solidFill>
            </a:endParaRPr>
          </a:p>
        </p:txBody>
      </p:sp>
      <p:sp>
        <p:nvSpPr>
          <p:cNvPr id="1220" name="Google Shape;1220;p80"/>
          <p:cNvSpPr txBox="1"/>
          <p:nvPr/>
        </p:nvSpPr>
        <p:spPr>
          <a:xfrm>
            <a:off x="-10375" y="147650"/>
            <a:ext cx="8842800" cy="1127100"/>
          </a:xfrm>
          <a:prstGeom prst="rect">
            <a:avLst/>
          </a:prstGeom>
          <a:noFill/>
          <a:ln>
            <a:noFill/>
          </a:ln>
        </p:spPr>
        <p:txBody>
          <a:bodyPr spcFirstLastPara="1" wrap="square" lIns="91425" tIns="91425" rIns="91425" bIns="91425" anchor="ctr" anchorCtr="0">
            <a:noAutofit/>
          </a:bodyPr>
          <a:lstStyle/>
          <a:p>
            <a:pPr marL="457200" lvl="0" indent="0" algn="l" rtl="0">
              <a:spcBef>
                <a:spcPts val="0"/>
              </a:spcBef>
              <a:spcAft>
                <a:spcPts val="0"/>
              </a:spcAft>
              <a:buNone/>
            </a:pPr>
            <a:r>
              <a:rPr lang="en" sz="2800" b="1">
                <a:solidFill>
                  <a:schemeClr val="dk1"/>
                </a:solidFill>
                <a:highlight>
                  <a:schemeClr val="lt1"/>
                </a:highlight>
              </a:rPr>
              <a:t>Age * social context interaction?</a:t>
            </a:r>
            <a:endParaRPr sz="2800" b="1">
              <a:solidFill>
                <a:schemeClr val="dk1"/>
              </a:solidFill>
              <a:highlight>
                <a:schemeClr val="lt1"/>
              </a:highlight>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8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65</a:t>
            </a:fld>
            <a:endParaRPr/>
          </a:p>
        </p:txBody>
      </p:sp>
      <p:cxnSp>
        <p:nvCxnSpPr>
          <p:cNvPr id="1226" name="Google Shape;1226;p81"/>
          <p:cNvCxnSpPr/>
          <p:nvPr/>
        </p:nvCxnSpPr>
        <p:spPr>
          <a:xfrm>
            <a:off x="3503875" y="1525950"/>
            <a:ext cx="0" cy="3055200"/>
          </a:xfrm>
          <a:prstGeom prst="straightConnector1">
            <a:avLst/>
          </a:prstGeom>
          <a:noFill/>
          <a:ln w="28575" cap="flat" cmpd="sng">
            <a:solidFill>
              <a:schemeClr val="dk2"/>
            </a:solidFill>
            <a:prstDash val="solid"/>
            <a:round/>
            <a:headEnd type="stealth" w="med" len="med"/>
            <a:tailEnd type="none" w="med" len="med"/>
          </a:ln>
        </p:spPr>
      </p:cxnSp>
      <p:cxnSp>
        <p:nvCxnSpPr>
          <p:cNvPr id="1227" name="Google Shape;1227;p81"/>
          <p:cNvCxnSpPr/>
          <p:nvPr/>
        </p:nvCxnSpPr>
        <p:spPr>
          <a:xfrm>
            <a:off x="3372600" y="3483150"/>
            <a:ext cx="3623100" cy="0"/>
          </a:xfrm>
          <a:prstGeom prst="straightConnector1">
            <a:avLst/>
          </a:prstGeom>
          <a:noFill/>
          <a:ln w="28575" cap="flat" cmpd="sng">
            <a:solidFill>
              <a:schemeClr val="dk2"/>
            </a:solidFill>
            <a:prstDash val="solid"/>
            <a:round/>
            <a:headEnd type="none" w="med" len="med"/>
            <a:tailEnd type="stealth" w="med" len="med"/>
          </a:ln>
        </p:spPr>
      </p:cxnSp>
      <p:sp>
        <p:nvSpPr>
          <p:cNvPr id="1228" name="Google Shape;1228;p81"/>
          <p:cNvSpPr txBox="1"/>
          <p:nvPr/>
        </p:nvSpPr>
        <p:spPr>
          <a:xfrm>
            <a:off x="6601825" y="3542750"/>
            <a:ext cx="453600" cy="36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2"/>
                </a:solidFill>
              </a:rPr>
              <a:t>10</a:t>
            </a:r>
            <a:endParaRPr sz="1800">
              <a:solidFill>
                <a:schemeClr val="dk2"/>
              </a:solidFill>
            </a:endParaRPr>
          </a:p>
        </p:txBody>
      </p:sp>
      <p:sp>
        <p:nvSpPr>
          <p:cNvPr id="1229" name="Google Shape;1229;p81"/>
          <p:cNvSpPr txBox="1"/>
          <p:nvPr/>
        </p:nvSpPr>
        <p:spPr>
          <a:xfrm>
            <a:off x="4972800" y="3542750"/>
            <a:ext cx="322200" cy="36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2"/>
                </a:solidFill>
              </a:rPr>
              <a:t>5</a:t>
            </a:r>
            <a:endParaRPr sz="1800">
              <a:solidFill>
                <a:schemeClr val="dk2"/>
              </a:solidFill>
            </a:endParaRPr>
          </a:p>
        </p:txBody>
      </p:sp>
      <p:sp>
        <p:nvSpPr>
          <p:cNvPr id="1230" name="Google Shape;1230;p81"/>
          <p:cNvSpPr txBox="1"/>
          <p:nvPr/>
        </p:nvSpPr>
        <p:spPr>
          <a:xfrm>
            <a:off x="3591750" y="3542750"/>
            <a:ext cx="322200" cy="36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2"/>
                </a:solidFill>
              </a:rPr>
              <a:t>1</a:t>
            </a:r>
            <a:endParaRPr sz="1800">
              <a:solidFill>
                <a:schemeClr val="dk2"/>
              </a:solidFill>
            </a:endParaRPr>
          </a:p>
        </p:txBody>
      </p:sp>
      <p:sp>
        <p:nvSpPr>
          <p:cNvPr id="1231" name="Google Shape;1231;p81"/>
          <p:cNvSpPr txBox="1"/>
          <p:nvPr/>
        </p:nvSpPr>
        <p:spPr>
          <a:xfrm>
            <a:off x="2898475" y="1066500"/>
            <a:ext cx="1206000" cy="39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2"/>
                </a:solidFill>
              </a:rPr>
              <a:t>log(p/1-p)</a:t>
            </a:r>
            <a:endParaRPr sz="1800">
              <a:solidFill>
                <a:schemeClr val="dk2"/>
              </a:solidFill>
            </a:endParaRPr>
          </a:p>
        </p:txBody>
      </p:sp>
      <p:sp>
        <p:nvSpPr>
          <p:cNvPr id="1232" name="Google Shape;1232;p81"/>
          <p:cNvSpPr txBox="1"/>
          <p:nvPr/>
        </p:nvSpPr>
        <p:spPr>
          <a:xfrm>
            <a:off x="1461725" y="3046750"/>
            <a:ext cx="1835100" cy="1111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800">
                <a:solidFill>
                  <a:schemeClr val="dk2"/>
                </a:solidFill>
              </a:rPr>
              <a:t>0</a:t>
            </a:r>
            <a:endParaRPr sz="1800">
              <a:solidFill>
                <a:schemeClr val="dk2"/>
              </a:solidFill>
            </a:endParaRPr>
          </a:p>
          <a:p>
            <a:pPr marL="0" lvl="0" indent="0" algn="r" rtl="0">
              <a:spcBef>
                <a:spcPts val="0"/>
              </a:spcBef>
              <a:spcAft>
                <a:spcPts val="0"/>
              </a:spcAft>
              <a:buNone/>
            </a:pPr>
            <a:r>
              <a:rPr lang="en" sz="1800">
                <a:solidFill>
                  <a:schemeClr val="dk2"/>
                </a:solidFill>
              </a:rPr>
              <a:t>(50%)</a:t>
            </a:r>
            <a:endParaRPr sz="1800">
              <a:solidFill>
                <a:schemeClr val="dk2"/>
              </a:solidFill>
            </a:endParaRPr>
          </a:p>
        </p:txBody>
      </p:sp>
      <p:sp>
        <p:nvSpPr>
          <p:cNvPr id="1233" name="Google Shape;1233;p81"/>
          <p:cNvSpPr txBox="1"/>
          <p:nvPr/>
        </p:nvSpPr>
        <p:spPr>
          <a:xfrm>
            <a:off x="7071475" y="3286200"/>
            <a:ext cx="1206000" cy="393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2"/>
                </a:solidFill>
              </a:rPr>
              <a:t>offer size</a:t>
            </a:r>
            <a:endParaRPr sz="1800">
              <a:solidFill>
                <a:schemeClr val="dk2"/>
              </a:solidFill>
            </a:endParaRPr>
          </a:p>
        </p:txBody>
      </p:sp>
      <p:sp>
        <p:nvSpPr>
          <p:cNvPr id="1234" name="Google Shape;1234;p81"/>
          <p:cNvSpPr txBox="1">
            <a:spLocks noGrp="1"/>
          </p:cNvSpPr>
          <p:nvPr>
            <p:ph type="title" idx="4294967295"/>
          </p:nvPr>
        </p:nvSpPr>
        <p:spPr>
          <a:xfrm>
            <a:off x="460500" y="2119850"/>
            <a:ext cx="24939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200" b="1" i="1">
                <a:latin typeface="Times New Roman"/>
                <a:ea typeface="Times New Roman"/>
                <a:cs typeface="Times New Roman"/>
                <a:sym typeface="Times New Roman"/>
              </a:rPr>
              <a:t>Multilevel</a:t>
            </a:r>
            <a:endParaRPr sz="2200" b="1" i="1">
              <a:latin typeface="Times New Roman"/>
              <a:ea typeface="Times New Roman"/>
              <a:cs typeface="Times New Roman"/>
              <a:sym typeface="Times New Roman"/>
            </a:endParaRPr>
          </a:p>
          <a:p>
            <a:pPr marL="0" lvl="0" indent="0" algn="l" rtl="0">
              <a:spcBef>
                <a:spcPts val="0"/>
              </a:spcBef>
              <a:spcAft>
                <a:spcPts val="0"/>
              </a:spcAft>
              <a:buNone/>
            </a:pPr>
            <a:r>
              <a:rPr lang="en" sz="2200" b="1" i="1">
                <a:latin typeface="Times New Roman"/>
                <a:ea typeface="Times New Roman"/>
                <a:cs typeface="Times New Roman"/>
                <a:sym typeface="Times New Roman"/>
              </a:rPr>
              <a:t>Logistic Regression</a:t>
            </a:r>
            <a:endParaRPr sz="2200" b="1" i="1">
              <a:latin typeface="Times New Roman"/>
              <a:ea typeface="Times New Roman"/>
              <a:cs typeface="Times New Roman"/>
              <a:sym typeface="Times New Roman"/>
            </a:endParaRPr>
          </a:p>
          <a:p>
            <a:pPr marL="0" lvl="0" indent="0" algn="l" rtl="0">
              <a:spcBef>
                <a:spcPts val="0"/>
              </a:spcBef>
              <a:spcAft>
                <a:spcPts val="0"/>
              </a:spcAft>
              <a:buNone/>
            </a:pPr>
            <a:endParaRPr sz="2200" b="1" i="1">
              <a:latin typeface="Times New Roman"/>
              <a:ea typeface="Times New Roman"/>
              <a:cs typeface="Times New Roman"/>
              <a:sym typeface="Times New Roman"/>
            </a:endParaRPr>
          </a:p>
          <a:p>
            <a:pPr marL="0" lvl="0" indent="0" algn="l" rtl="0">
              <a:spcBef>
                <a:spcPts val="0"/>
              </a:spcBef>
              <a:spcAft>
                <a:spcPts val="0"/>
              </a:spcAft>
              <a:buNone/>
            </a:pPr>
            <a:r>
              <a:rPr lang="en" sz="2200" b="1" i="1">
                <a:latin typeface="Times New Roman"/>
                <a:ea typeface="Times New Roman"/>
                <a:cs typeface="Times New Roman"/>
                <a:sym typeface="Times New Roman"/>
              </a:rPr>
              <a:t>random + fixed</a:t>
            </a:r>
            <a:endParaRPr sz="2200" b="1" i="1">
              <a:latin typeface="Times New Roman"/>
              <a:ea typeface="Times New Roman"/>
              <a:cs typeface="Times New Roman"/>
              <a:sym typeface="Times New Roman"/>
            </a:endParaRPr>
          </a:p>
        </p:txBody>
      </p:sp>
      <p:sp>
        <p:nvSpPr>
          <p:cNvPr id="1235" name="Google Shape;1235;p81"/>
          <p:cNvSpPr txBox="1"/>
          <p:nvPr/>
        </p:nvSpPr>
        <p:spPr>
          <a:xfrm>
            <a:off x="-10375" y="147650"/>
            <a:ext cx="8842800" cy="11271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r>
              <a:rPr lang="en" sz="2800" b="1">
                <a:solidFill>
                  <a:schemeClr val="dk1"/>
                </a:solidFill>
              </a:rPr>
              <a:t>Norm and Norm Violation Sensitivity</a:t>
            </a:r>
            <a:endParaRPr sz="2800" b="1">
              <a:solidFill>
                <a:schemeClr val="dk1"/>
              </a:solidFill>
            </a:endParaRPr>
          </a:p>
        </p:txBody>
      </p:sp>
      <p:cxnSp>
        <p:nvCxnSpPr>
          <p:cNvPr id="1236" name="Google Shape;1236;p81"/>
          <p:cNvCxnSpPr/>
          <p:nvPr/>
        </p:nvCxnSpPr>
        <p:spPr>
          <a:xfrm flipH="1">
            <a:off x="3678000" y="1800425"/>
            <a:ext cx="3090900" cy="2458500"/>
          </a:xfrm>
          <a:prstGeom prst="straightConnector1">
            <a:avLst/>
          </a:prstGeom>
          <a:noFill/>
          <a:ln w="28575" cap="flat" cmpd="sng">
            <a:solidFill>
              <a:srgbClr val="980000"/>
            </a:solidFill>
            <a:prstDash val="solid"/>
            <a:round/>
            <a:headEnd type="none" w="med" len="med"/>
            <a:tailEnd type="none" w="med" len="med"/>
          </a:ln>
        </p:spPr>
      </p:cxnSp>
      <p:sp>
        <p:nvSpPr>
          <p:cNvPr id="1237" name="Google Shape;1237;p81"/>
          <p:cNvSpPr txBox="1"/>
          <p:nvPr/>
        </p:nvSpPr>
        <p:spPr>
          <a:xfrm>
            <a:off x="6816625" y="1597550"/>
            <a:ext cx="1655700" cy="36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980302"/>
                </a:solidFill>
              </a:rPr>
              <a:t>Participant A</a:t>
            </a:r>
            <a:endParaRPr sz="1800" b="1">
              <a:solidFill>
                <a:srgbClr val="980302"/>
              </a:solidFill>
            </a:endParaRPr>
          </a:p>
        </p:txBody>
      </p:sp>
      <p:sp>
        <p:nvSpPr>
          <p:cNvPr id="1238" name="Google Shape;1238;p81"/>
          <p:cNvSpPr txBox="1"/>
          <p:nvPr/>
        </p:nvSpPr>
        <p:spPr>
          <a:xfrm>
            <a:off x="-44300" y="4663225"/>
            <a:ext cx="7155000" cy="470100"/>
          </a:xfrm>
          <a:prstGeom prst="rect">
            <a:avLst/>
          </a:prstGeom>
          <a:noFill/>
          <a:ln>
            <a:noFill/>
          </a:ln>
        </p:spPr>
        <p:txBody>
          <a:bodyPr spcFirstLastPara="1" wrap="square" lIns="91425" tIns="91425" rIns="91425" bIns="91425" anchor="b" anchorCtr="0">
            <a:noAutofit/>
          </a:bodyPr>
          <a:lstStyle/>
          <a:p>
            <a:pPr marL="279400" lvl="0" indent="-279400" algn="l" rtl="0">
              <a:lnSpc>
                <a:spcPct val="100000"/>
              </a:lnSpc>
              <a:spcBef>
                <a:spcPts val="0"/>
              </a:spcBef>
              <a:spcAft>
                <a:spcPts val="0"/>
              </a:spcAft>
              <a:buNone/>
            </a:pPr>
            <a:r>
              <a:rPr lang="en" sz="1100" b="1">
                <a:solidFill>
                  <a:schemeClr val="dk1"/>
                </a:solidFill>
              </a:rPr>
              <a:t>Yang et al., in prep (1)</a:t>
            </a:r>
            <a:endParaRPr sz="1100" b="1">
              <a:solidFill>
                <a:schemeClr val="dk1"/>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242"/>
        <p:cNvGrpSpPr/>
        <p:nvPr/>
      </p:nvGrpSpPr>
      <p:grpSpPr>
        <a:xfrm>
          <a:off x="0" y="0"/>
          <a:ext cx="0" cy="0"/>
          <a:chOff x="0" y="0"/>
          <a:chExt cx="0" cy="0"/>
        </a:xfrm>
      </p:grpSpPr>
      <p:grpSp>
        <p:nvGrpSpPr>
          <p:cNvPr id="1243" name="Google Shape;1243;p82"/>
          <p:cNvGrpSpPr/>
          <p:nvPr/>
        </p:nvGrpSpPr>
        <p:grpSpPr>
          <a:xfrm>
            <a:off x="4082604" y="1789204"/>
            <a:ext cx="1900200" cy="2511600"/>
            <a:chOff x="4082604" y="1103404"/>
            <a:chExt cx="1900200" cy="2511600"/>
          </a:xfrm>
        </p:grpSpPr>
        <p:sp>
          <p:nvSpPr>
            <p:cNvPr id="1244" name="Google Shape;1244;p82"/>
            <p:cNvSpPr/>
            <p:nvPr/>
          </p:nvSpPr>
          <p:spPr>
            <a:xfrm>
              <a:off x="4972800" y="1997725"/>
              <a:ext cx="990600" cy="990600"/>
            </a:xfrm>
            <a:prstGeom prst="ellipse">
              <a:avLst/>
            </a:prstGeom>
            <a:solidFill>
              <a:schemeClr val="lt1"/>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45" name="Google Shape;1245;p82"/>
            <p:cNvSpPr/>
            <p:nvPr/>
          </p:nvSpPr>
          <p:spPr>
            <a:xfrm rot="-1029893">
              <a:off x="4382127" y="1245839"/>
              <a:ext cx="1301154" cy="2226731"/>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246" name="Google Shape;1246;p8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66</a:t>
            </a:fld>
            <a:endParaRPr/>
          </a:p>
        </p:txBody>
      </p:sp>
      <p:cxnSp>
        <p:nvCxnSpPr>
          <p:cNvPr id="1247" name="Google Shape;1247;p82"/>
          <p:cNvCxnSpPr/>
          <p:nvPr/>
        </p:nvCxnSpPr>
        <p:spPr>
          <a:xfrm>
            <a:off x="3503875" y="1525950"/>
            <a:ext cx="0" cy="3055200"/>
          </a:xfrm>
          <a:prstGeom prst="straightConnector1">
            <a:avLst/>
          </a:prstGeom>
          <a:noFill/>
          <a:ln w="28575" cap="flat" cmpd="sng">
            <a:solidFill>
              <a:schemeClr val="dk2"/>
            </a:solidFill>
            <a:prstDash val="solid"/>
            <a:round/>
            <a:headEnd type="stealth" w="med" len="med"/>
            <a:tailEnd type="none" w="med" len="med"/>
          </a:ln>
        </p:spPr>
      </p:cxnSp>
      <p:cxnSp>
        <p:nvCxnSpPr>
          <p:cNvPr id="1248" name="Google Shape;1248;p82"/>
          <p:cNvCxnSpPr/>
          <p:nvPr/>
        </p:nvCxnSpPr>
        <p:spPr>
          <a:xfrm>
            <a:off x="3372600" y="3483150"/>
            <a:ext cx="3623100" cy="0"/>
          </a:xfrm>
          <a:prstGeom prst="straightConnector1">
            <a:avLst/>
          </a:prstGeom>
          <a:noFill/>
          <a:ln w="28575" cap="flat" cmpd="sng">
            <a:solidFill>
              <a:schemeClr val="dk2"/>
            </a:solidFill>
            <a:prstDash val="solid"/>
            <a:round/>
            <a:headEnd type="none" w="med" len="med"/>
            <a:tailEnd type="stealth" w="med" len="med"/>
          </a:ln>
        </p:spPr>
      </p:cxnSp>
      <p:sp>
        <p:nvSpPr>
          <p:cNvPr id="1249" name="Google Shape;1249;p82"/>
          <p:cNvSpPr txBox="1"/>
          <p:nvPr/>
        </p:nvSpPr>
        <p:spPr>
          <a:xfrm>
            <a:off x="6601825" y="3542750"/>
            <a:ext cx="453600" cy="36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2"/>
                </a:solidFill>
              </a:rPr>
              <a:t>10</a:t>
            </a:r>
            <a:endParaRPr sz="1800">
              <a:solidFill>
                <a:schemeClr val="dk2"/>
              </a:solidFill>
            </a:endParaRPr>
          </a:p>
        </p:txBody>
      </p:sp>
      <p:sp>
        <p:nvSpPr>
          <p:cNvPr id="1250" name="Google Shape;1250;p82"/>
          <p:cNvSpPr txBox="1"/>
          <p:nvPr/>
        </p:nvSpPr>
        <p:spPr>
          <a:xfrm>
            <a:off x="4972800" y="3542750"/>
            <a:ext cx="322200" cy="36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2"/>
                </a:solidFill>
              </a:rPr>
              <a:t>5</a:t>
            </a:r>
            <a:endParaRPr sz="1800">
              <a:solidFill>
                <a:schemeClr val="dk2"/>
              </a:solidFill>
            </a:endParaRPr>
          </a:p>
        </p:txBody>
      </p:sp>
      <p:sp>
        <p:nvSpPr>
          <p:cNvPr id="1251" name="Google Shape;1251;p82"/>
          <p:cNvSpPr txBox="1"/>
          <p:nvPr/>
        </p:nvSpPr>
        <p:spPr>
          <a:xfrm>
            <a:off x="3591750" y="3542750"/>
            <a:ext cx="322200" cy="36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2"/>
                </a:solidFill>
              </a:rPr>
              <a:t>1</a:t>
            </a:r>
            <a:endParaRPr sz="1800">
              <a:solidFill>
                <a:schemeClr val="dk2"/>
              </a:solidFill>
            </a:endParaRPr>
          </a:p>
        </p:txBody>
      </p:sp>
      <p:sp>
        <p:nvSpPr>
          <p:cNvPr id="1252" name="Google Shape;1252;p82"/>
          <p:cNvSpPr txBox="1"/>
          <p:nvPr/>
        </p:nvSpPr>
        <p:spPr>
          <a:xfrm>
            <a:off x="2898475" y="1066500"/>
            <a:ext cx="1206000" cy="39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2"/>
                </a:solidFill>
              </a:rPr>
              <a:t>log(p/1-p)</a:t>
            </a:r>
            <a:endParaRPr sz="1800">
              <a:solidFill>
                <a:schemeClr val="dk2"/>
              </a:solidFill>
            </a:endParaRPr>
          </a:p>
        </p:txBody>
      </p:sp>
      <p:sp>
        <p:nvSpPr>
          <p:cNvPr id="1253" name="Google Shape;1253;p82"/>
          <p:cNvSpPr txBox="1"/>
          <p:nvPr/>
        </p:nvSpPr>
        <p:spPr>
          <a:xfrm>
            <a:off x="1461725" y="3046750"/>
            <a:ext cx="1835100" cy="1111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800">
                <a:solidFill>
                  <a:schemeClr val="dk2"/>
                </a:solidFill>
              </a:rPr>
              <a:t>0</a:t>
            </a:r>
            <a:endParaRPr sz="1800">
              <a:solidFill>
                <a:schemeClr val="dk2"/>
              </a:solidFill>
            </a:endParaRPr>
          </a:p>
          <a:p>
            <a:pPr marL="0" lvl="0" indent="0" algn="r" rtl="0">
              <a:spcBef>
                <a:spcPts val="0"/>
              </a:spcBef>
              <a:spcAft>
                <a:spcPts val="0"/>
              </a:spcAft>
              <a:buNone/>
            </a:pPr>
            <a:r>
              <a:rPr lang="en" sz="1800">
                <a:solidFill>
                  <a:schemeClr val="dk2"/>
                </a:solidFill>
              </a:rPr>
              <a:t>(50%)</a:t>
            </a:r>
            <a:endParaRPr sz="1800">
              <a:solidFill>
                <a:schemeClr val="dk2"/>
              </a:solidFill>
            </a:endParaRPr>
          </a:p>
        </p:txBody>
      </p:sp>
      <p:cxnSp>
        <p:nvCxnSpPr>
          <p:cNvPr id="1254" name="Google Shape;1254;p82"/>
          <p:cNvCxnSpPr/>
          <p:nvPr/>
        </p:nvCxnSpPr>
        <p:spPr>
          <a:xfrm>
            <a:off x="4647358" y="2683525"/>
            <a:ext cx="0" cy="799500"/>
          </a:xfrm>
          <a:prstGeom prst="straightConnector1">
            <a:avLst/>
          </a:prstGeom>
          <a:noFill/>
          <a:ln w="19050" cap="flat" cmpd="sng">
            <a:solidFill>
              <a:schemeClr val="dk2"/>
            </a:solidFill>
            <a:prstDash val="dash"/>
            <a:round/>
            <a:headEnd type="none" w="med" len="med"/>
            <a:tailEnd type="triangle" w="med" len="med"/>
          </a:ln>
        </p:spPr>
      </p:cxnSp>
      <p:sp>
        <p:nvSpPr>
          <p:cNvPr id="1255" name="Google Shape;1255;p82"/>
          <p:cNvSpPr txBox="1"/>
          <p:nvPr/>
        </p:nvSpPr>
        <p:spPr>
          <a:xfrm>
            <a:off x="3913925" y="2055425"/>
            <a:ext cx="1497900" cy="39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dk1"/>
              </a:solidFill>
            </a:endParaRPr>
          </a:p>
          <a:p>
            <a:pPr marL="0" lvl="0" indent="0" algn="ctr" rtl="0">
              <a:spcBef>
                <a:spcPts val="0"/>
              </a:spcBef>
              <a:spcAft>
                <a:spcPts val="0"/>
              </a:spcAft>
              <a:buNone/>
            </a:pPr>
            <a:r>
              <a:rPr lang="en" sz="1800">
                <a:solidFill>
                  <a:schemeClr val="dk1"/>
                </a:solidFill>
              </a:rPr>
              <a:t>(x-intercept)</a:t>
            </a:r>
            <a:endParaRPr sz="1800">
              <a:solidFill>
                <a:schemeClr val="dk1"/>
              </a:solidFill>
            </a:endParaRPr>
          </a:p>
        </p:txBody>
      </p:sp>
      <p:sp>
        <p:nvSpPr>
          <p:cNvPr id="1256" name="Google Shape;1256;p82"/>
          <p:cNvSpPr txBox="1"/>
          <p:nvPr/>
        </p:nvSpPr>
        <p:spPr>
          <a:xfrm>
            <a:off x="7071475" y="3286200"/>
            <a:ext cx="1206000" cy="393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2"/>
                </a:solidFill>
              </a:rPr>
              <a:t>offer size</a:t>
            </a:r>
            <a:endParaRPr sz="1800">
              <a:solidFill>
                <a:schemeClr val="dk2"/>
              </a:solidFill>
            </a:endParaRPr>
          </a:p>
        </p:txBody>
      </p:sp>
      <p:sp>
        <p:nvSpPr>
          <p:cNvPr id="1257" name="Google Shape;1257;p82"/>
          <p:cNvSpPr txBox="1"/>
          <p:nvPr/>
        </p:nvSpPr>
        <p:spPr>
          <a:xfrm>
            <a:off x="5930575" y="2683525"/>
            <a:ext cx="1995900" cy="39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dk1"/>
              </a:solidFill>
            </a:endParaRPr>
          </a:p>
          <a:p>
            <a:pPr marL="0" lvl="0" indent="0" algn="ctr" rtl="0">
              <a:spcBef>
                <a:spcPts val="0"/>
              </a:spcBef>
              <a:spcAft>
                <a:spcPts val="0"/>
              </a:spcAft>
              <a:buNone/>
            </a:pPr>
            <a:endParaRPr sz="1800" b="1">
              <a:solidFill>
                <a:schemeClr val="dk1"/>
              </a:solidFill>
            </a:endParaRPr>
          </a:p>
          <a:p>
            <a:pPr marL="0" lvl="0" indent="0" algn="ctr" rtl="0">
              <a:spcBef>
                <a:spcPts val="0"/>
              </a:spcBef>
              <a:spcAft>
                <a:spcPts val="0"/>
              </a:spcAft>
              <a:buNone/>
            </a:pPr>
            <a:r>
              <a:rPr lang="en" sz="1800">
                <a:solidFill>
                  <a:schemeClr val="dk1"/>
                </a:solidFill>
              </a:rPr>
              <a:t>(slope)</a:t>
            </a:r>
            <a:endParaRPr sz="1800">
              <a:solidFill>
                <a:schemeClr val="dk1"/>
              </a:solidFill>
            </a:endParaRPr>
          </a:p>
        </p:txBody>
      </p:sp>
      <p:sp>
        <p:nvSpPr>
          <p:cNvPr id="1258" name="Google Shape;1258;p82"/>
          <p:cNvSpPr txBox="1">
            <a:spLocks noGrp="1"/>
          </p:cNvSpPr>
          <p:nvPr>
            <p:ph type="title" idx="4294967295"/>
          </p:nvPr>
        </p:nvSpPr>
        <p:spPr>
          <a:xfrm>
            <a:off x="460500" y="2119850"/>
            <a:ext cx="24939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200" b="1" i="1">
                <a:latin typeface="Times New Roman"/>
                <a:ea typeface="Times New Roman"/>
                <a:cs typeface="Times New Roman"/>
                <a:sym typeface="Times New Roman"/>
              </a:rPr>
              <a:t>Multilevel</a:t>
            </a:r>
            <a:endParaRPr sz="2200" b="1" i="1">
              <a:latin typeface="Times New Roman"/>
              <a:ea typeface="Times New Roman"/>
              <a:cs typeface="Times New Roman"/>
              <a:sym typeface="Times New Roman"/>
            </a:endParaRPr>
          </a:p>
          <a:p>
            <a:pPr marL="0" lvl="0" indent="0" algn="l" rtl="0">
              <a:spcBef>
                <a:spcPts val="0"/>
              </a:spcBef>
              <a:spcAft>
                <a:spcPts val="0"/>
              </a:spcAft>
              <a:buNone/>
            </a:pPr>
            <a:r>
              <a:rPr lang="en" sz="2200" b="1" i="1">
                <a:latin typeface="Times New Roman"/>
                <a:ea typeface="Times New Roman"/>
                <a:cs typeface="Times New Roman"/>
                <a:sym typeface="Times New Roman"/>
              </a:rPr>
              <a:t>Logistic Regression</a:t>
            </a:r>
            <a:endParaRPr sz="2200" b="1" i="1">
              <a:latin typeface="Times New Roman"/>
              <a:ea typeface="Times New Roman"/>
              <a:cs typeface="Times New Roman"/>
              <a:sym typeface="Times New Roman"/>
            </a:endParaRPr>
          </a:p>
          <a:p>
            <a:pPr marL="0" lvl="0" indent="0" algn="l" rtl="0">
              <a:spcBef>
                <a:spcPts val="0"/>
              </a:spcBef>
              <a:spcAft>
                <a:spcPts val="0"/>
              </a:spcAft>
              <a:buNone/>
            </a:pPr>
            <a:endParaRPr sz="2200" b="1" i="1">
              <a:latin typeface="Times New Roman"/>
              <a:ea typeface="Times New Roman"/>
              <a:cs typeface="Times New Roman"/>
              <a:sym typeface="Times New Roman"/>
            </a:endParaRPr>
          </a:p>
          <a:p>
            <a:pPr marL="0" lvl="0" indent="0" algn="l" rtl="0">
              <a:spcBef>
                <a:spcPts val="0"/>
              </a:spcBef>
              <a:spcAft>
                <a:spcPts val="0"/>
              </a:spcAft>
              <a:buNone/>
            </a:pPr>
            <a:r>
              <a:rPr lang="en" sz="2200" b="1" i="1">
                <a:latin typeface="Times New Roman"/>
                <a:ea typeface="Times New Roman"/>
                <a:cs typeface="Times New Roman"/>
                <a:sym typeface="Times New Roman"/>
              </a:rPr>
              <a:t>random + fixed</a:t>
            </a:r>
            <a:endParaRPr sz="2200" b="1" i="1">
              <a:latin typeface="Times New Roman"/>
              <a:ea typeface="Times New Roman"/>
              <a:cs typeface="Times New Roman"/>
              <a:sym typeface="Times New Roman"/>
            </a:endParaRPr>
          </a:p>
        </p:txBody>
      </p:sp>
      <p:sp>
        <p:nvSpPr>
          <p:cNvPr id="1259" name="Google Shape;1259;p82"/>
          <p:cNvSpPr txBox="1"/>
          <p:nvPr/>
        </p:nvSpPr>
        <p:spPr>
          <a:xfrm>
            <a:off x="-10375" y="147650"/>
            <a:ext cx="8842800" cy="11271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r>
              <a:rPr lang="en" sz="2800" b="1">
                <a:solidFill>
                  <a:schemeClr val="dk1"/>
                </a:solidFill>
              </a:rPr>
              <a:t>Norm and Norm Violation Sensitivity</a:t>
            </a:r>
            <a:endParaRPr sz="2800" b="1">
              <a:solidFill>
                <a:schemeClr val="dk1"/>
              </a:solidFill>
            </a:endParaRPr>
          </a:p>
        </p:txBody>
      </p:sp>
      <p:cxnSp>
        <p:nvCxnSpPr>
          <p:cNvPr id="1260" name="Google Shape;1260;p82"/>
          <p:cNvCxnSpPr/>
          <p:nvPr/>
        </p:nvCxnSpPr>
        <p:spPr>
          <a:xfrm flipH="1">
            <a:off x="3678000" y="1800425"/>
            <a:ext cx="3090900" cy="2458500"/>
          </a:xfrm>
          <a:prstGeom prst="straightConnector1">
            <a:avLst/>
          </a:prstGeom>
          <a:noFill/>
          <a:ln w="28575" cap="flat" cmpd="sng">
            <a:solidFill>
              <a:srgbClr val="980000"/>
            </a:solidFill>
            <a:prstDash val="solid"/>
            <a:round/>
            <a:headEnd type="none" w="med" len="med"/>
            <a:tailEnd type="none" w="med" len="med"/>
          </a:ln>
        </p:spPr>
      </p:cxnSp>
      <p:sp>
        <p:nvSpPr>
          <p:cNvPr id="1261" name="Google Shape;1261;p82"/>
          <p:cNvSpPr txBox="1"/>
          <p:nvPr/>
        </p:nvSpPr>
        <p:spPr>
          <a:xfrm>
            <a:off x="6816625" y="1597550"/>
            <a:ext cx="1655700" cy="36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980302"/>
                </a:solidFill>
              </a:rPr>
              <a:t>Participant A</a:t>
            </a:r>
            <a:endParaRPr sz="1800" b="1">
              <a:solidFill>
                <a:srgbClr val="980302"/>
              </a:solidFill>
            </a:endParaRPr>
          </a:p>
        </p:txBody>
      </p:sp>
      <p:sp>
        <p:nvSpPr>
          <p:cNvPr id="1262" name="Google Shape;1262;p82"/>
          <p:cNvSpPr txBox="1"/>
          <p:nvPr/>
        </p:nvSpPr>
        <p:spPr>
          <a:xfrm>
            <a:off x="-44300" y="4663225"/>
            <a:ext cx="7155000" cy="470100"/>
          </a:xfrm>
          <a:prstGeom prst="rect">
            <a:avLst/>
          </a:prstGeom>
          <a:noFill/>
          <a:ln>
            <a:noFill/>
          </a:ln>
        </p:spPr>
        <p:txBody>
          <a:bodyPr spcFirstLastPara="1" wrap="square" lIns="91425" tIns="91425" rIns="91425" bIns="91425" anchor="b" anchorCtr="0">
            <a:noAutofit/>
          </a:bodyPr>
          <a:lstStyle/>
          <a:p>
            <a:pPr marL="279400" lvl="0" indent="-279400" algn="l" rtl="0">
              <a:lnSpc>
                <a:spcPct val="100000"/>
              </a:lnSpc>
              <a:spcBef>
                <a:spcPts val="0"/>
              </a:spcBef>
              <a:spcAft>
                <a:spcPts val="0"/>
              </a:spcAft>
              <a:buNone/>
            </a:pPr>
            <a:r>
              <a:rPr lang="en" sz="1100" b="1">
                <a:solidFill>
                  <a:schemeClr val="dk1"/>
                </a:solidFill>
              </a:rPr>
              <a:t>Yang et al., in prep (1)</a:t>
            </a:r>
            <a:endParaRPr sz="1100" b="1">
              <a:solidFill>
                <a:schemeClr val="dk1"/>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266"/>
        <p:cNvGrpSpPr/>
        <p:nvPr/>
      </p:nvGrpSpPr>
      <p:grpSpPr>
        <a:xfrm>
          <a:off x="0" y="0"/>
          <a:ext cx="0" cy="0"/>
          <a:chOff x="0" y="0"/>
          <a:chExt cx="0" cy="0"/>
        </a:xfrm>
      </p:grpSpPr>
      <p:grpSp>
        <p:nvGrpSpPr>
          <p:cNvPr id="1267" name="Google Shape;1267;p83"/>
          <p:cNvGrpSpPr/>
          <p:nvPr/>
        </p:nvGrpSpPr>
        <p:grpSpPr>
          <a:xfrm>
            <a:off x="4082604" y="1789204"/>
            <a:ext cx="1900200" cy="2511600"/>
            <a:chOff x="4082604" y="1103404"/>
            <a:chExt cx="1900200" cy="2511600"/>
          </a:xfrm>
        </p:grpSpPr>
        <p:sp>
          <p:nvSpPr>
            <p:cNvPr id="1268" name="Google Shape;1268;p83"/>
            <p:cNvSpPr/>
            <p:nvPr/>
          </p:nvSpPr>
          <p:spPr>
            <a:xfrm>
              <a:off x="4972800" y="1997725"/>
              <a:ext cx="990600" cy="990600"/>
            </a:xfrm>
            <a:prstGeom prst="ellipse">
              <a:avLst/>
            </a:prstGeom>
            <a:solidFill>
              <a:schemeClr val="lt1"/>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69" name="Google Shape;1269;p83"/>
            <p:cNvSpPr/>
            <p:nvPr/>
          </p:nvSpPr>
          <p:spPr>
            <a:xfrm rot="-1029893">
              <a:off x="4382127" y="1245839"/>
              <a:ext cx="1301154" cy="2226731"/>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270" name="Google Shape;1270;p8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67</a:t>
            </a:fld>
            <a:endParaRPr/>
          </a:p>
        </p:txBody>
      </p:sp>
      <p:cxnSp>
        <p:nvCxnSpPr>
          <p:cNvPr id="1271" name="Google Shape;1271;p83"/>
          <p:cNvCxnSpPr/>
          <p:nvPr/>
        </p:nvCxnSpPr>
        <p:spPr>
          <a:xfrm>
            <a:off x="3503875" y="1525950"/>
            <a:ext cx="0" cy="3055200"/>
          </a:xfrm>
          <a:prstGeom prst="straightConnector1">
            <a:avLst/>
          </a:prstGeom>
          <a:noFill/>
          <a:ln w="28575" cap="flat" cmpd="sng">
            <a:solidFill>
              <a:schemeClr val="dk2"/>
            </a:solidFill>
            <a:prstDash val="solid"/>
            <a:round/>
            <a:headEnd type="stealth" w="med" len="med"/>
            <a:tailEnd type="none" w="med" len="med"/>
          </a:ln>
        </p:spPr>
      </p:cxnSp>
      <p:cxnSp>
        <p:nvCxnSpPr>
          <p:cNvPr id="1272" name="Google Shape;1272;p83"/>
          <p:cNvCxnSpPr/>
          <p:nvPr/>
        </p:nvCxnSpPr>
        <p:spPr>
          <a:xfrm>
            <a:off x="3372600" y="3483150"/>
            <a:ext cx="3623100" cy="0"/>
          </a:xfrm>
          <a:prstGeom prst="straightConnector1">
            <a:avLst/>
          </a:prstGeom>
          <a:noFill/>
          <a:ln w="28575" cap="flat" cmpd="sng">
            <a:solidFill>
              <a:schemeClr val="dk2"/>
            </a:solidFill>
            <a:prstDash val="solid"/>
            <a:round/>
            <a:headEnd type="none" w="med" len="med"/>
            <a:tailEnd type="stealth" w="med" len="med"/>
          </a:ln>
        </p:spPr>
      </p:cxnSp>
      <p:cxnSp>
        <p:nvCxnSpPr>
          <p:cNvPr id="1273" name="Google Shape;1273;p83"/>
          <p:cNvCxnSpPr/>
          <p:nvPr/>
        </p:nvCxnSpPr>
        <p:spPr>
          <a:xfrm flipH="1">
            <a:off x="3678000" y="1800425"/>
            <a:ext cx="3090900" cy="2458500"/>
          </a:xfrm>
          <a:prstGeom prst="straightConnector1">
            <a:avLst/>
          </a:prstGeom>
          <a:noFill/>
          <a:ln w="28575" cap="flat" cmpd="sng">
            <a:solidFill>
              <a:srgbClr val="980000"/>
            </a:solidFill>
            <a:prstDash val="solid"/>
            <a:round/>
            <a:headEnd type="none" w="med" len="med"/>
            <a:tailEnd type="none" w="med" len="med"/>
          </a:ln>
        </p:spPr>
      </p:cxnSp>
      <p:sp>
        <p:nvSpPr>
          <p:cNvPr id="1274" name="Google Shape;1274;p83"/>
          <p:cNvSpPr txBox="1"/>
          <p:nvPr/>
        </p:nvSpPr>
        <p:spPr>
          <a:xfrm>
            <a:off x="6601825" y="3542750"/>
            <a:ext cx="453600" cy="36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2"/>
                </a:solidFill>
              </a:rPr>
              <a:t>10</a:t>
            </a:r>
            <a:endParaRPr sz="1800">
              <a:solidFill>
                <a:schemeClr val="dk2"/>
              </a:solidFill>
            </a:endParaRPr>
          </a:p>
        </p:txBody>
      </p:sp>
      <p:sp>
        <p:nvSpPr>
          <p:cNvPr id="1275" name="Google Shape;1275;p83"/>
          <p:cNvSpPr txBox="1"/>
          <p:nvPr/>
        </p:nvSpPr>
        <p:spPr>
          <a:xfrm>
            <a:off x="4972800" y="3542750"/>
            <a:ext cx="322200" cy="36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2"/>
                </a:solidFill>
              </a:rPr>
              <a:t>5</a:t>
            </a:r>
            <a:endParaRPr sz="1800">
              <a:solidFill>
                <a:schemeClr val="dk2"/>
              </a:solidFill>
            </a:endParaRPr>
          </a:p>
        </p:txBody>
      </p:sp>
      <p:sp>
        <p:nvSpPr>
          <p:cNvPr id="1276" name="Google Shape;1276;p83"/>
          <p:cNvSpPr txBox="1"/>
          <p:nvPr/>
        </p:nvSpPr>
        <p:spPr>
          <a:xfrm>
            <a:off x="3591750" y="3542750"/>
            <a:ext cx="322200" cy="36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2"/>
                </a:solidFill>
              </a:rPr>
              <a:t>1</a:t>
            </a:r>
            <a:endParaRPr sz="1800">
              <a:solidFill>
                <a:schemeClr val="dk2"/>
              </a:solidFill>
            </a:endParaRPr>
          </a:p>
        </p:txBody>
      </p:sp>
      <p:sp>
        <p:nvSpPr>
          <p:cNvPr id="1277" name="Google Shape;1277;p83"/>
          <p:cNvSpPr txBox="1"/>
          <p:nvPr/>
        </p:nvSpPr>
        <p:spPr>
          <a:xfrm>
            <a:off x="2898475" y="1066500"/>
            <a:ext cx="1206000" cy="39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2"/>
                </a:solidFill>
              </a:rPr>
              <a:t>log(p/1-p)</a:t>
            </a:r>
            <a:endParaRPr sz="1800">
              <a:solidFill>
                <a:schemeClr val="dk2"/>
              </a:solidFill>
            </a:endParaRPr>
          </a:p>
        </p:txBody>
      </p:sp>
      <p:sp>
        <p:nvSpPr>
          <p:cNvPr id="1278" name="Google Shape;1278;p83"/>
          <p:cNvSpPr txBox="1"/>
          <p:nvPr/>
        </p:nvSpPr>
        <p:spPr>
          <a:xfrm>
            <a:off x="1461725" y="3046750"/>
            <a:ext cx="1835100" cy="1111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800">
                <a:solidFill>
                  <a:schemeClr val="dk2"/>
                </a:solidFill>
              </a:rPr>
              <a:t>0</a:t>
            </a:r>
            <a:endParaRPr sz="1800">
              <a:solidFill>
                <a:schemeClr val="dk2"/>
              </a:solidFill>
            </a:endParaRPr>
          </a:p>
          <a:p>
            <a:pPr marL="0" lvl="0" indent="0" algn="r" rtl="0">
              <a:spcBef>
                <a:spcPts val="0"/>
              </a:spcBef>
              <a:spcAft>
                <a:spcPts val="0"/>
              </a:spcAft>
              <a:buNone/>
            </a:pPr>
            <a:r>
              <a:rPr lang="en" sz="1800">
                <a:solidFill>
                  <a:schemeClr val="dk2"/>
                </a:solidFill>
              </a:rPr>
              <a:t>(50%)</a:t>
            </a:r>
            <a:endParaRPr sz="1800">
              <a:solidFill>
                <a:schemeClr val="dk2"/>
              </a:solidFill>
            </a:endParaRPr>
          </a:p>
        </p:txBody>
      </p:sp>
      <p:sp>
        <p:nvSpPr>
          <p:cNvPr id="1279" name="Google Shape;1279;p83"/>
          <p:cNvSpPr txBox="1"/>
          <p:nvPr/>
        </p:nvSpPr>
        <p:spPr>
          <a:xfrm>
            <a:off x="3913925" y="2055425"/>
            <a:ext cx="1497900" cy="39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dk1"/>
                </a:solidFill>
              </a:rPr>
              <a:t>Norm</a:t>
            </a:r>
            <a:endParaRPr sz="1800" b="1">
              <a:solidFill>
                <a:schemeClr val="dk1"/>
              </a:solidFill>
            </a:endParaRPr>
          </a:p>
          <a:p>
            <a:pPr marL="0" lvl="0" indent="0" algn="ctr" rtl="0">
              <a:spcBef>
                <a:spcPts val="0"/>
              </a:spcBef>
              <a:spcAft>
                <a:spcPts val="0"/>
              </a:spcAft>
              <a:buNone/>
            </a:pPr>
            <a:r>
              <a:rPr lang="en" sz="1800">
                <a:solidFill>
                  <a:schemeClr val="dk1"/>
                </a:solidFill>
              </a:rPr>
              <a:t>(x-intercept)</a:t>
            </a:r>
            <a:endParaRPr sz="1800">
              <a:solidFill>
                <a:schemeClr val="dk1"/>
              </a:solidFill>
            </a:endParaRPr>
          </a:p>
        </p:txBody>
      </p:sp>
      <p:sp>
        <p:nvSpPr>
          <p:cNvPr id="1280" name="Google Shape;1280;p83"/>
          <p:cNvSpPr txBox="1"/>
          <p:nvPr/>
        </p:nvSpPr>
        <p:spPr>
          <a:xfrm>
            <a:off x="6816625" y="1597550"/>
            <a:ext cx="1655700" cy="36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980302"/>
                </a:solidFill>
              </a:rPr>
              <a:t>Participant A</a:t>
            </a:r>
            <a:endParaRPr sz="1800" b="1">
              <a:solidFill>
                <a:srgbClr val="980302"/>
              </a:solidFill>
            </a:endParaRPr>
          </a:p>
        </p:txBody>
      </p:sp>
      <p:sp>
        <p:nvSpPr>
          <p:cNvPr id="1281" name="Google Shape;1281;p83"/>
          <p:cNvSpPr txBox="1"/>
          <p:nvPr/>
        </p:nvSpPr>
        <p:spPr>
          <a:xfrm>
            <a:off x="7071475" y="3286200"/>
            <a:ext cx="1206000" cy="393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2"/>
                </a:solidFill>
              </a:rPr>
              <a:t>offer size</a:t>
            </a:r>
            <a:endParaRPr sz="1800">
              <a:solidFill>
                <a:schemeClr val="dk2"/>
              </a:solidFill>
            </a:endParaRPr>
          </a:p>
        </p:txBody>
      </p:sp>
      <p:cxnSp>
        <p:nvCxnSpPr>
          <p:cNvPr id="1282" name="Google Shape;1282;p83"/>
          <p:cNvCxnSpPr/>
          <p:nvPr/>
        </p:nvCxnSpPr>
        <p:spPr>
          <a:xfrm>
            <a:off x="4647358" y="2683525"/>
            <a:ext cx="0" cy="799500"/>
          </a:xfrm>
          <a:prstGeom prst="straightConnector1">
            <a:avLst/>
          </a:prstGeom>
          <a:noFill/>
          <a:ln w="19050" cap="flat" cmpd="sng">
            <a:solidFill>
              <a:schemeClr val="dk2"/>
            </a:solidFill>
            <a:prstDash val="dash"/>
            <a:round/>
            <a:headEnd type="none" w="med" len="med"/>
            <a:tailEnd type="triangle" w="med" len="med"/>
          </a:ln>
        </p:spPr>
      </p:cxnSp>
      <p:sp>
        <p:nvSpPr>
          <p:cNvPr id="1283" name="Google Shape;1283;p83"/>
          <p:cNvSpPr txBox="1">
            <a:spLocks noGrp="1"/>
          </p:cNvSpPr>
          <p:nvPr>
            <p:ph type="title" idx="4294967295"/>
          </p:nvPr>
        </p:nvSpPr>
        <p:spPr>
          <a:xfrm>
            <a:off x="460500" y="2119850"/>
            <a:ext cx="24939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200" b="1" i="1">
                <a:latin typeface="Times New Roman"/>
                <a:ea typeface="Times New Roman"/>
                <a:cs typeface="Times New Roman"/>
                <a:sym typeface="Times New Roman"/>
              </a:rPr>
              <a:t>Multilevel</a:t>
            </a:r>
            <a:endParaRPr sz="2200" b="1" i="1">
              <a:latin typeface="Times New Roman"/>
              <a:ea typeface="Times New Roman"/>
              <a:cs typeface="Times New Roman"/>
              <a:sym typeface="Times New Roman"/>
            </a:endParaRPr>
          </a:p>
          <a:p>
            <a:pPr marL="0" lvl="0" indent="0" algn="l" rtl="0">
              <a:spcBef>
                <a:spcPts val="0"/>
              </a:spcBef>
              <a:spcAft>
                <a:spcPts val="0"/>
              </a:spcAft>
              <a:buNone/>
            </a:pPr>
            <a:r>
              <a:rPr lang="en" sz="2200" b="1" i="1">
                <a:latin typeface="Times New Roman"/>
                <a:ea typeface="Times New Roman"/>
                <a:cs typeface="Times New Roman"/>
                <a:sym typeface="Times New Roman"/>
              </a:rPr>
              <a:t>Logistic Regression</a:t>
            </a:r>
            <a:endParaRPr sz="2200" b="1" i="1">
              <a:latin typeface="Times New Roman"/>
              <a:ea typeface="Times New Roman"/>
              <a:cs typeface="Times New Roman"/>
              <a:sym typeface="Times New Roman"/>
            </a:endParaRPr>
          </a:p>
          <a:p>
            <a:pPr marL="0" lvl="0" indent="0" algn="l" rtl="0">
              <a:spcBef>
                <a:spcPts val="0"/>
              </a:spcBef>
              <a:spcAft>
                <a:spcPts val="0"/>
              </a:spcAft>
              <a:buNone/>
            </a:pPr>
            <a:endParaRPr sz="2200" b="1" i="1">
              <a:latin typeface="Times New Roman"/>
              <a:ea typeface="Times New Roman"/>
              <a:cs typeface="Times New Roman"/>
              <a:sym typeface="Times New Roman"/>
            </a:endParaRPr>
          </a:p>
          <a:p>
            <a:pPr marL="0" lvl="0" indent="0" algn="l" rtl="0">
              <a:spcBef>
                <a:spcPts val="0"/>
              </a:spcBef>
              <a:spcAft>
                <a:spcPts val="0"/>
              </a:spcAft>
              <a:buNone/>
            </a:pPr>
            <a:r>
              <a:rPr lang="en" sz="2200" b="1" i="1">
                <a:latin typeface="Times New Roman"/>
                <a:ea typeface="Times New Roman"/>
                <a:cs typeface="Times New Roman"/>
                <a:sym typeface="Times New Roman"/>
              </a:rPr>
              <a:t>random + fixed</a:t>
            </a:r>
            <a:endParaRPr sz="2200" b="1" i="1">
              <a:latin typeface="Times New Roman"/>
              <a:ea typeface="Times New Roman"/>
              <a:cs typeface="Times New Roman"/>
              <a:sym typeface="Times New Roman"/>
            </a:endParaRPr>
          </a:p>
        </p:txBody>
      </p:sp>
      <p:sp>
        <p:nvSpPr>
          <p:cNvPr id="1284" name="Google Shape;1284;p83"/>
          <p:cNvSpPr txBox="1"/>
          <p:nvPr/>
        </p:nvSpPr>
        <p:spPr>
          <a:xfrm>
            <a:off x="5930575" y="2683525"/>
            <a:ext cx="1995900" cy="39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dk1"/>
              </a:solidFill>
            </a:endParaRPr>
          </a:p>
          <a:p>
            <a:pPr marL="0" lvl="0" indent="0" algn="ctr" rtl="0">
              <a:spcBef>
                <a:spcPts val="0"/>
              </a:spcBef>
              <a:spcAft>
                <a:spcPts val="0"/>
              </a:spcAft>
              <a:buNone/>
            </a:pPr>
            <a:endParaRPr sz="1800" b="1">
              <a:solidFill>
                <a:schemeClr val="dk1"/>
              </a:solidFill>
            </a:endParaRPr>
          </a:p>
          <a:p>
            <a:pPr marL="0" lvl="0" indent="0" algn="ctr" rtl="0">
              <a:spcBef>
                <a:spcPts val="0"/>
              </a:spcBef>
              <a:spcAft>
                <a:spcPts val="0"/>
              </a:spcAft>
              <a:buNone/>
            </a:pPr>
            <a:r>
              <a:rPr lang="en" sz="1800">
                <a:solidFill>
                  <a:schemeClr val="dk1"/>
                </a:solidFill>
              </a:rPr>
              <a:t>(slope)</a:t>
            </a:r>
            <a:endParaRPr sz="1800">
              <a:solidFill>
                <a:schemeClr val="dk1"/>
              </a:solidFill>
            </a:endParaRPr>
          </a:p>
        </p:txBody>
      </p:sp>
      <p:sp>
        <p:nvSpPr>
          <p:cNvPr id="1285" name="Google Shape;1285;p83"/>
          <p:cNvSpPr txBox="1"/>
          <p:nvPr/>
        </p:nvSpPr>
        <p:spPr>
          <a:xfrm>
            <a:off x="-10375" y="147650"/>
            <a:ext cx="8842800" cy="11271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r>
              <a:rPr lang="en" sz="2800" b="1">
                <a:solidFill>
                  <a:schemeClr val="dk1"/>
                </a:solidFill>
              </a:rPr>
              <a:t>Norm and Norm Violation Sensitivity</a:t>
            </a:r>
            <a:endParaRPr sz="2800" b="1">
              <a:solidFill>
                <a:schemeClr val="dk1"/>
              </a:solidFill>
            </a:endParaRPr>
          </a:p>
        </p:txBody>
      </p:sp>
      <p:sp>
        <p:nvSpPr>
          <p:cNvPr id="1286" name="Google Shape;1286;p83"/>
          <p:cNvSpPr txBox="1"/>
          <p:nvPr/>
        </p:nvSpPr>
        <p:spPr>
          <a:xfrm>
            <a:off x="-44300" y="4663225"/>
            <a:ext cx="7155000" cy="470100"/>
          </a:xfrm>
          <a:prstGeom prst="rect">
            <a:avLst/>
          </a:prstGeom>
          <a:noFill/>
          <a:ln>
            <a:noFill/>
          </a:ln>
        </p:spPr>
        <p:txBody>
          <a:bodyPr spcFirstLastPara="1" wrap="square" lIns="91425" tIns="91425" rIns="91425" bIns="91425" anchor="b" anchorCtr="0">
            <a:noAutofit/>
          </a:bodyPr>
          <a:lstStyle/>
          <a:p>
            <a:pPr marL="279400" lvl="0" indent="-279400" algn="l" rtl="0">
              <a:lnSpc>
                <a:spcPct val="100000"/>
              </a:lnSpc>
              <a:spcBef>
                <a:spcPts val="0"/>
              </a:spcBef>
              <a:spcAft>
                <a:spcPts val="0"/>
              </a:spcAft>
              <a:buNone/>
            </a:pPr>
            <a:r>
              <a:rPr lang="en" sz="1100" b="1">
                <a:solidFill>
                  <a:schemeClr val="dk1"/>
                </a:solidFill>
              </a:rPr>
              <a:t>Yang et al., in prep (1)</a:t>
            </a:r>
            <a:endParaRPr sz="1100" b="1">
              <a:solidFill>
                <a:schemeClr val="dk1"/>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290"/>
        <p:cNvGrpSpPr/>
        <p:nvPr/>
      </p:nvGrpSpPr>
      <p:grpSpPr>
        <a:xfrm>
          <a:off x="0" y="0"/>
          <a:ext cx="0" cy="0"/>
          <a:chOff x="0" y="0"/>
          <a:chExt cx="0" cy="0"/>
        </a:xfrm>
      </p:grpSpPr>
      <p:grpSp>
        <p:nvGrpSpPr>
          <p:cNvPr id="1291" name="Google Shape;1291;p84"/>
          <p:cNvGrpSpPr/>
          <p:nvPr/>
        </p:nvGrpSpPr>
        <p:grpSpPr>
          <a:xfrm>
            <a:off x="4082604" y="1789204"/>
            <a:ext cx="1900200" cy="2511600"/>
            <a:chOff x="4082604" y="1103404"/>
            <a:chExt cx="1900200" cy="2511600"/>
          </a:xfrm>
        </p:grpSpPr>
        <p:sp>
          <p:nvSpPr>
            <p:cNvPr id="1292" name="Google Shape;1292;p84"/>
            <p:cNvSpPr/>
            <p:nvPr/>
          </p:nvSpPr>
          <p:spPr>
            <a:xfrm>
              <a:off x="4972800" y="1997725"/>
              <a:ext cx="990600" cy="990600"/>
            </a:xfrm>
            <a:prstGeom prst="ellipse">
              <a:avLst/>
            </a:prstGeom>
            <a:solidFill>
              <a:schemeClr val="lt1"/>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93" name="Google Shape;1293;p84"/>
            <p:cNvSpPr/>
            <p:nvPr/>
          </p:nvSpPr>
          <p:spPr>
            <a:xfrm rot="-1029893">
              <a:off x="4382127" y="1245839"/>
              <a:ext cx="1301154" cy="2226731"/>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294" name="Google Shape;1294;p8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68</a:t>
            </a:fld>
            <a:endParaRPr/>
          </a:p>
        </p:txBody>
      </p:sp>
      <p:cxnSp>
        <p:nvCxnSpPr>
          <p:cNvPr id="1295" name="Google Shape;1295;p84"/>
          <p:cNvCxnSpPr/>
          <p:nvPr/>
        </p:nvCxnSpPr>
        <p:spPr>
          <a:xfrm>
            <a:off x="3503875" y="1525950"/>
            <a:ext cx="0" cy="3055200"/>
          </a:xfrm>
          <a:prstGeom prst="straightConnector1">
            <a:avLst/>
          </a:prstGeom>
          <a:noFill/>
          <a:ln w="28575" cap="flat" cmpd="sng">
            <a:solidFill>
              <a:schemeClr val="dk2"/>
            </a:solidFill>
            <a:prstDash val="solid"/>
            <a:round/>
            <a:headEnd type="stealth" w="med" len="med"/>
            <a:tailEnd type="none" w="med" len="med"/>
          </a:ln>
        </p:spPr>
      </p:cxnSp>
      <p:cxnSp>
        <p:nvCxnSpPr>
          <p:cNvPr id="1296" name="Google Shape;1296;p84"/>
          <p:cNvCxnSpPr/>
          <p:nvPr/>
        </p:nvCxnSpPr>
        <p:spPr>
          <a:xfrm>
            <a:off x="3372600" y="3483150"/>
            <a:ext cx="3623100" cy="0"/>
          </a:xfrm>
          <a:prstGeom prst="straightConnector1">
            <a:avLst/>
          </a:prstGeom>
          <a:noFill/>
          <a:ln w="28575" cap="flat" cmpd="sng">
            <a:solidFill>
              <a:schemeClr val="dk2"/>
            </a:solidFill>
            <a:prstDash val="solid"/>
            <a:round/>
            <a:headEnd type="none" w="med" len="med"/>
            <a:tailEnd type="stealth" w="med" len="med"/>
          </a:ln>
        </p:spPr>
      </p:cxnSp>
      <p:sp>
        <p:nvSpPr>
          <p:cNvPr id="1297" name="Google Shape;1297;p84"/>
          <p:cNvSpPr txBox="1"/>
          <p:nvPr/>
        </p:nvSpPr>
        <p:spPr>
          <a:xfrm>
            <a:off x="6601825" y="3542750"/>
            <a:ext cx="453600" cy="36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2"/>
                </a:solidFill>
              </a:rPr>
              <a:t>10</a:t>
            </a:r>
            <a:endParaRPr sz="1800">
              <a:solidFill>
                <a:schemeClr val="dk2"/>
              </a:solidFill>
            </a:endParaRPr>
          </a:p>
        </p:txBody>
      </p:sp>
      <p:sp>
        <p:nvSpPr>
          <p:cNvPr id="1298" name="Google Shape;1298;p84"/>
          <p:cNvSpPr txBox="1"/>
          <p:nvPr/>
        </p:nvSpPr>
        <p:spPr>
          <a:xfrm>
            <a:off x="4972800" y="3542750"/>
            <a:ext cx="322200" cy="36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2"/>
                </a:solidFill>
              </a:rPr>
              <a:t>5</a:t>
            </a:r>
            <a:endParaRPr sz="1800">
              <a:solidFill>
                <a:schemeClr val="dk2"/>
              </a:solidFill>
            </a:endParaRPr>
          </a:p>
        </p:txBody>
      </p:sp>
      <p:sp>
        <p:nvSpPr>
          <p:cNvPr id="1299" name="Google Shape;1299;p84"/>
          <p:cNvSpPr txBox="1"/>
          <p:nvPr/>
        </p:nvSpPr>
        <p:spPr>
          <a:xfrm>
            <a:off x="3591750" y="3542750"/>
            <a:ext cx="322200" cy="36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2"/>
                </a:solidFill>
              </a:rPr>
              <a:t>1</a:t>
            </a:r>
            <a:endParaRPr sz="1800">
              <a:solidFill>
                <a:schemeClr val="dk2"/>
              </a:solidFill>
            </a:endParaRPr>
          </a:p>
        </p:txBody>
      </p:sp>
      <p:sp>
        <p:nvSpPr>
          <p:cNvPr id="1300" name="Google Shape;1300;p84"/>
          <p:cNvSpPr txBox="1"/>
          <p:nvPr/>
        </p:nvSpPr>
        <p:spPr>
          <a:xfrm>
            <a:off x="2898475" y="1066500"/>
            <a:ext cx="1206000" cy="39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2"/>
                </a:solidFill>
              </a:rPr>
              <a:t>log(p/1-p)</a:t>
            </a:r>
            <a:endParaRPr sz="1800">
              <a:solidFill>
                <a:schemeClr val="dk2"/>
              </a:solidFill>
            </a:endParaRPr>
          </a:p>
        </p:txBody>
      </p:sp>
      <p:sp>
        <p:nvSpPr>
          <p:cNvPr id="1301" name="Google Shape;1301;p84"/>
          <p:cNvSpPr txBox="1"/>
          <p:nvPr/>
        </p:nvSpPr>
        <p:spPr>
          <a:xfrm>
            <a:off x="1461725" y="3046750"/>
            <a:ext cx="1835100" cy="1111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800">
                <a:solidFill>
                  <a:schemeClr val="dk2"/>
                </a:solidFill>
              </a:rPr>
              <a:t>0</a:t>
            </a:r>
            <a:endParaRPr sz="1800">
              <a:solidFill>
                <a:schemeClr val="dk2"/>
              </a:solidFill>
            </a:endParaRPr>
          </a:p>
          <a:p>
            <a:pPr marL="0" lvl="0" indent="0" algn="r" rtl="0">
              <a:spcBef>
                <a:spcPts val="0"/>
              </a:spcBef>
              <a:spcAft>
                <a:spcPts val="0"/>
              </a:spcAft>
              <a:buNone/>
            </a:pPr>
            <a:r>
              <a:rPr lang="en" sz="1800">
                <a:solidFill>
                  <a:schemeClr val="dk2"/>
                </a:solidFill>
              </a:rPr>
              <a:t>(50%)</a:t>
            </a:r>
            <a:endParaRPr sz="1800">
              <a:solidFill>
                <a:schemeClr val="dk2"/>
              </a:solidFill>
            </a:endParaRPr>
          </a:p>
        </p:txBody>
      </p:sp>
      <p:sp>
        <p:nvSpPr>
          <p:cNvPr id="1302" name="Google Shape;1302;p84"/>
          <p:cNvSpPr txBox="1"/>
          <p:nvPr/>
        </p:nvSpPr>
        <p:spPr>
          <a:xfrm>
            <a:off x="3913925" y="2055425"/>
            <a:ext cx="1497900" cy="39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dk1"/>
                </a:solidFill>
              </a:rPr>
              <a:t>Norm</a:t>
            </a:r>
            <a:endParaRPr sz="1800" b="1">
              <a:solidFill>
                <a:schemeClr val="dk1"/>
              </a:solidFill>
            </a:endParaRPr>
          </a:p>
          <a:p>
            <a:pPr marL="0" lvl="0" indent="0" algn="ctr" rtl="0">
              <a:spcBef>
                <a:spcPts val="0"/>
              </a:spcBef>
              <a:spcAft>
                <a:spcPts val="0"/>
              </a:spcAft>
              <a:buNone/>
            </a:pPr>
            <a:r>
              <a:rPr lang="en" sz="1800">
                <a:solidFill>
                  <a:schemeClr val="dk1"/>
                </a:solidFill>
              </a:rPr>
              <a:t>(x-intercept)</a:t>
            </a:r>
            <a:endParaRPr sz="1800">
              <a:solidFill>
                <a:schemeClr val="dk1"/>
              </a:solidFill>
            </a:endParaRPr>
          </a:p>
        </p:txBody>
      </p:sp>
      <p:sp>
        <p:nvSpPr>
          <p:cNvPr id="1303" name="Google Shape;1303;p84"/>
          <p:cNvSpPr txBox="1"/>
          <p:nvPr/>
        </p:nvSpPr>
        <p:spPr>
          <a:xfrm>
            <a:off x="5930575" y="2683525"/>
            <a:ext cx="1995900" cy="39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dk1"/>
                </a:solidFill>
              </a:rPr>
              <a:t>Norm Violation Sensitivity</a:t>
            </a:r>
            <a:endParaRPr sz="1800" b="1">
              <a:solidFill>
                <a:schemeClr val="dk1"/>
              </a:solidFill>
            </a:endParaRPr>
          </a:p>
          <a:p>
            <a:pPr marL="0" lvl="0" indent="0" algn="ctr" rtl="0">
              <a:spcBef>
                <a:spcPts val="0"/>
              </a:spcBef>
              <a:spcAft>
                <a:spcPts val="0"/>
              </a:spcAft>
              <a:buNone/>
            </a:pPr>
            <a:r>
              <a:rPr lang="en" sz="1800">
                <a:solidFill>
                  <a:schemeClr val="dk1"/>
                </a:solidFill>
              </a:rPr>
              <a:t>(slope)</a:t>
            </a:r>
            <a:endParaRPr sz="1800">
              <a:solidFill>
                <a:schemeClr val="dk1"/>
              </a:solidFill>
            </a:endParaRPr>
          </a:p>
        </p:txBody>
      </p:sp>
      <p:sp>
        <p:nvSpPr>
          <p:cNvPr id="1304" name="Google Shape;1304;p84"/>
          <p:cNvSpPr txBox="1"/>
          <p:nvPr/>
        </p:nvSpPr>
        <p:spPr>
          <a:xfrm>
            <a:off x="7071475" y="3286200"/>
            <a:ext cx="1206000" cy="393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2"/>
                </a:solidFill>
              </a:rPr>
              <a:t>offer size</a:t>
            </a:r>
            <a:endParaRPr sz="1800">
              <a:solidFill>
                <a:schemeClr val="dk2"/>
              </a:solidFill>
            </a:endParaRPr>
          </a:p>
        </p:txBody>
      </p:sp>
      <p:cxnSp>
        <p:nvCxnSpPr>
          <p:cNvPr id="1305" name="Google Shape;1305;p84"/>
          <p:cNvCxnSpPr/>
          <p:nvPr/>
        </p:nvCxnSpPr>
        <p:spPr>
          <a:xfrm>
            <a:off x="4647358" y="2683525"/>
            <a:ext cx="0" cy="799500"/>
          </a:xfrm>
          <a:prstGeom prst="straightConnector1">
            <a:avLst/>
          </a:prstGeom>
          <a:noFill/>
          <a:ln w="19050" cap="flat" cmpd="sng">
            <a:solidFill>
              <a:schemeClr val="dk2"/>
            </a:solidFill>
            <a:prstDash val="dash"/>
            <a:round/>
            <a:headEnd type="none" w="med" len="med"/>
            <a:tailEnd type="triangle" w="med" len="med"/>
          </a:ln>
        </p:spPr>
      </p:cxnSp>
      <p:sp>
        <p:nvSpPr>
          <p:cNvPr id="1306" name="Google Shape;1306;p84"/>
          <p:cNvSpPr txBox="1">
            <a:spLocks noGrp="1"/>
          </p:cNvSpPr>
          <p:nvPr>
            <p:ph type="title" idx="4294967295"/>
          </p:nvPr>
        </p:nvSpPr>
        <p:spPr>
          <a:xfrm>
            <a:off x="460500" y="2119850"/>
            <a:ext cx="24939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200" b="1" i="1">
                <a:latin typeface="Times New Roman"/>
                <a:ea typeface="Times New Roman"/>
                <a:cs typeface="Times New Roman"/>
                <a:sym typeface="Times New Roman"/>
              </a:rPr>
              <a:t>Multilevel</a:t>
            </a:r>
            <a:endParaRPr sz="2200" b="1" i="1">
              <a:latin typeface="Times New Roman"/>
              <a:ea typeface="Times New Roman"/>
              <a:cs typeface="Times New Roman"/>
              <a:sym typeface="Times New Roman"/>
            </a:endParaRPr>
          </a:p>
          <a:p>
            <a:pPr marL="0" lvl="0" indent="0" algn="l" rtl="0">
              <a:spcBef>
                <a:spcPts val="0"/>
              </a:spcBef>
              <a:spcAft>
                <a:spcPts val="0"/>
              </a:spcAft>
              <a:buNone/>
            </a:pPr>
            <a:r>
              <a:rPr lang="en" sz="2200" b="1" i="1">
                <a:latin typeface="Times New Roman"/>
                <a:ea typeface="Times New Roman"/>
                <a:cs typeface="Times New Roman"/>
                <a:sym typeface="Times New Roman"/>
              </a:rPr>
              <a:t>Logistic Regression</a:t>
            </a:r>
            <a:endParaRPr sz="2200" b="1" i="1">
              <a:latin typeface="Times New Roman"/>
              <a:ea typeface="Times New Roman"/>
              <a:cs typeface="Times New Roman"/>
              <a:sym typeface="Times New Roman"/>
            </a:endParaRPr>
          </a:p>
          <a:p>
            <a:pPr marL="0" lvl="0" indent="0" algn="l" rtl="0">
              <a:spcBef>
                <a:spcPts val="0"/>
              </a:spcBef>
              <a:spcAft>
                <a:spcPts val="0"/>
              </a:spcAft>
              <a:buNone/>
            </a:pPr>
            <a:endParaRPr sz="2200" b="1" i="1">
              <a:latin typeface="Times New Roman"/>
              <a:ea typeface="Times New Roman"/>
              <a:cs typeface="Times New Roman"/>
              <a:sym typeface="Times New Roman"/>
            </a:endParaRPr>
          </a:p>
          <a:p>
            <a:pPr marL="0" lvl="0" indent="0" algn="l" rtl="0">
              <a:spcBef>
                <a:spcPts val="0"/>
              </a:spcBef>
              <a:spcAft>
                <a:spcPts val="0"/>
              </a:spcAft>
              <a:buNone/>
            </a:pPr>
            <a:r>
              <a:rPr lang="en" sz="2200" b="1" i="1">
                <a:latin typeface="Times New Roman"/>
                <a:ea typeface="Times New Roman"/>
                <a:cs typeface="Times New Roman"/>
                <a:sym typeface="Times New Roman"/>
              </a:rPr>
              <a:t>random + fixed</a:t>
            </a:r>
            <a:endParaRPr sz="2200" b="1" i="1">
              <a:latin typeface="Times New Roman"/>
              <a:ea typeface="Times New Roman"/>
              <a:cs typeface="Times New Roman"/>
              <a:sym typeface="Times New Roman"/>
            </a:endParaRPr>
          </a:p>
        </p:txBody>
      </p:sp>
      <p:sp>
        <p:nvSpPr>
          <p:cNvPr id="1307" name="Google Shape;1307;p84"/>
          <p:cNvSpPr txBox="1"/>
          <p:nvPr/>
        </p:nvSpPr>
        <p:spPr>
          <a:xfrm>
            <a:off x="-10375" y="147650"/>
            <a:ext cx="8842800" cy="11271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r>
              <a:rPr lang="en" sz="2800" b="1">
                <a:solidFill>
                  <a:schemeClr val="dk1"/>
                </a:solidFill>
              </a:rPr>
              <a:t>Norm and Norm Violation Sensitivity</a:t>
            </a:r>
            <a:endParaRPr sz="2800" b="1">
              <a:solidFill>
                <a:schemeClr val="dk1"/>
              </a:solidFill>
            </a:endParaRPr>
          </a:p>
        </p:txBody>
      </p:sp>
      <p:cxnSp>
        <p:nvCxnSpPr>
          <p:cNvPr id="1308" name="Google Shape;1308;p84"/>
          <p:cNvCxnSpPr/>
          <p:nvPr/>
        </p:nvCxnSpPr>
        <p:spPr>
          <a:xfrm flipH="1">
            <a:off x="3678000" y="1800425"/>
            <a:ext cx="3090900" cy="2458500"/>
          </a:xfrm>
          <a:prstGeom prst="straightConnector1">
            <a:avLst/>
          </a:prstGeom>
          <a:noFill/>
          <a:ln w="28575" cap="flat" cmpd="sng">
            <a:solidFill>
              <a:srgbClr val="980000"/>
            </a:solidFill>
            <a:prstDash val="solid"/>
            <a:round/>
            <a:headEnd type="none" w="med" len="med"/>
            <a:tailEnd type="none" w="med" len="med"/>
          </a:ln>
        </p:spPr>
      </p:cxnSp>
      <p:sp>
        <p:nvSpPr>
          <p:cNvPr id="1309" name="Google Shape;1309;p84"/>
          <p:cNvSpPr txBox="1"/>
          <p:nvPr/>
        </p:nvSpPr>
        <p:spPr>
          <a:xfrm>
            <a:off x="6816625" y="1597550"/>
            <a:ext cx="1655700" cy="36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980302"/>
                </a:solidFill>
              </a:rPr>
              <a:t>Participant A</a:t>
            </a:r>
            <a:endParaRPr sz="1800" b="1">
              <a:solidFill>
                <a:srgbClr val="980302"/>
              </a:solidFill>
            </a:endParaRPr>
          </a:p>
        </p:txBody>
      </p:sp>
      <p:sp>
        <p:nvSpPr>
          <p:cNvPr id="1310" name="Google Shape;1310;p84"/>
          <p:cNvSpPr txBox="1"/>
          <p:nvPr/>
        </p:nvSpPr>
        <p:spPr>
          <a:xfrm>
            <a:off x="-44300" y="4663225"/>
            <a:ext cx="7155000" cy="470100"/>
          </a:xfrm>
          <a:prstGeom prst="rect">
            <a:avLst/>
          </a:prstGeom>
          <a:noFill/>
          <a:ln>
            <a:noFill/>
          </a:ln>
        </p:spPr>
        <p:txBody>
          <a:bodyPr spcFirstLastPara="1" wrap="square" lIns="91425" tIns="91425" rIns="91425" bIns="91425" anchor="b" anchorCtr="0">
            <a:noAutofit/>
          </a:bodyPr>
          <a:lstStyle/>
          <a:p>
            <a:pPr marL="279400" lvl="0" indent="-279400" algn="l" rtl="0">
              <a:lnSpc>
                <a:spcPct val="100000"/>
              </a:lnSpc>
              <a:spcBef>
                <a:spcPts val="0"/>
              </a:spcBef>
              <a:spcAft>
                <a:spcPts val="0"/>
              </a:spcAft>
              <a:buNone/>
            </a:pPr>
            <a:r>
              <a:rPr lang="en" sz="1100" b="1">
                <a:solidFill>
                  <a:schemeClr val="dk1"/>
                </a:solidFill>
              </a:rPr>
              <a:t>Yang et al., in prep (1)</a:t>
            </a:r>
            <a:endParaRPr sz="1100" b="1">
              <a:solidFill>
                <a:schemeClr val="dk1"/>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314"/>
        <p:cNvGrpSpPr/>
        <p:nvPr/>
      </p:nvGrpSpPr>
      <p:grpSpPr>
        <a:xfrm>
          <a:off x="0" y="0"/>
          <a:ext cx="0" cy="0"/>
          <a:chOff x="0" y="0"/>
          <a:chExt cx="0" cy="0"/>
        </a:xfrm>
      </p:grpSpPr>
      <p:grpSp>
        <p:nvGrpSpPr>
          <p:cNvPr id="1315" name="Google Shape;1315;p85"/>
          <p:cNvGrpSpPr/>
          <p:nvPr/>
        </p:nvGrpSpPr>
        <p:grpSpPr>
          <a:xfrm>
            <a:off x="4082604" y="1789204"/>
            <a:ext cx="1900200" cy="2511600"/>
            <a:chOff x="4082604" y="1103404"/>
            <a:chExt cx="1900200" cy="2511600"/>
          </a:xfrm>
        </p:grpSpPr>
        <p:sp>
          <p:nvSpPr>
            <p:cNvPr id="1316" name="Google Shape;1316;p85"/>
            <p:cNvSpPr/>
            <p:nvPr/>
          </p:nvSpPr>
          <p:spPr>
            <a:xfrm>
              <a:off x="4972800" y="1997725"/>
              <a:ext cx="990600" cy="990600"/>
            </a:xfrm>
            <a:prstGeom prst="ellipse">
              <a:avLst/>
            </a:prstGeom>
            <a:solidFill>
              <a:schemeClr val="lt1"/>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17" name="Google Shape;1317;p85"/>
            <p:cNvSpPr/>
            <p:nvPr/>
          </p:nvSpPr>
          <p:spPr>
            <a:xfrm rot="-1029893">
              <a:off x="4382127" y="1245839"/>
              <a:ext cx="1301154" cy="2226731"/>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318" name="Google Shape;1318;p8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69</a:t>
            </a:fld>
            <a:endParaRPr/>
          </a:p>
        </p:txBody>
      </p:sp>
      <p:cxnSp>
        <p:nvCxnSpPr>
          <p:cNvPr id="1319" name="Google Shape;1319;p85"/>
          <p:cNvCxnSpPr/>
          <p:nvPr/>
        </p:nvCxnSpPr>
        <p:spPr>
          <a:xfrm>
            <a:off x="3503875" y="1525950"/>
            <a:ext cx="0" cy="3055200"/>
          </a:xfrm>
          <a:prstGeom prst="straightConnector1">
            <a:avLst/>
          </a:prstGeom>
          <a:noFill/>
          <a:ln w="28575" cap="flat" cmpd="sng">
            <a:solidFill>
              <a:schemeClr val="dk2"/>
            </a:solidFill>
            <a:prstDash val="solid"/>
            <a:round/>
            <a:headEnd type="stealth" w="med" len="med"/>
            <a:tailEnd type="none" w="med" len="med"/>
          </a:ln>
        </p:spPr>
      </p:cxnSp>
      <p:cxnSp>
        <p:nvCxnSpPr>
          <p:cNvPr id="1320" name="Google Shape;1320;p85"/>
          <p:cNvCxnSpPr/>
          <p:nvPr/>
        </p:nvCxnSpPr>
        <p:spPr>
          <a:xfrm>
            <a:off x="3372600" y="3483150"/>
            <a:ext cx="3623100" cy="0"/>
          </a:xfrm>
          <a:prstGeom prst="straightConnector1">
            <a:avLst/>
          </a:prstGeom>
          <a:noFill/>
          <a:ln w="28575" cap="flat" cmpd="sng">
            <a:solidFill>
              <a:schemeClr val="dk2"/>
            </a:solidFill>
            <a:prstDash val="solid"/>
            <a:round/>
            <a:headEnd type="none" w="med" len="med"/>
            <a:tailEnd type="stealth" w="med" len="med"/>
          </a:ln>
        </p:spPr>
      </p:cxnSp>
      <p:sp>
        <p:nvSpPr>
          <p:cNvPr id="1321" name="Google Shape;1321;p85"/>
          <p:cNvSpPr txBox="1"/>
          <p:nvPr/>
        </p:nvSpPr>
        <p:spPr>
          <a:xfrm>
            <a:off x="6601825" y="3542750"/>
            <a:ext cx="453600" cy="36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2"/>
                </a:solidFill>
              </a:rPr>
              <a:t>10</a:t>
            </a:r>
            <a:endParaRPr sz="1800">
              <a:solidFill>
                <a:schemeClr val="dk2"/>
              </a:solidFill>
            </a:endParaRPr>
          </a:p>
        </p:txBody>
      </p:sp>
      <p:sp>
        <p:nvSpPr>
          <p:cNvPr id="1322" name="Google Shape;1322;p85"/>
          <p:cNvSpPr txBox="1"/>
          <p:nvPr/>
        </p:nvSpPr>
        <p:spPr>
          <a:xfrm>
            <a:off x="4972800" y="3542750"/>
            <a:ext cx="322200" cy="36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2"/>
                </a:solidFill>
              </a:rPr>
              <a:t>5</a:t>
            </a:r>
            <a:endParaRPr sz="1800">
              <a:solidFill>
                <a:schemeClr val="dk2"/>
              </a:solidFill>
            </a:endParaRPr>
          </a:p>
        </p:txBody>
      </p:sp>
      <p:sp>
        <p:nvSpPr>
          <p:cNvPr id="1323" name="Google Shape;1323;p85"/>
          <p:cNvSpPr txBox="1"/>
          <p:nvPr/>
        </p:nvSpPr>
        <p:spPr>
          <a:xfrm>
            <a:off x="3591750" y="3542750"/>
            <a:ext cx="322200" cy="36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2"/>
                </a:solidFill>
              </a:rPr>
              <a:t>1</a:t>
            </a:r>
            <a:endParaRPr sz="1800">
              <a:solidFill>
                <a:schemeClr val="dk2"/>
              </a:solidFill>
            </a:endParaRPr>
          </a:p>
        </p:txBody>
      </p:sp>
      <p:sp>
        <p:nvSpPr>
          <p:cNvPr id="1324" name="Google Shape;1324;p85"/>
          <p:cNvSpPr txBox="1"/>
          <p:nvPr/>
        </p:nvSpPr>
        <p:spPr>
          <a:xfrm>
            <a:off x="2898475" y="1066500"/>
            <a:ext cx="1206000" cy="39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2"/>
                </a:solidFill>
              </a:rPr>
              <a:t>log(p/1-p)</a:t>
            </a:r>
            <a:endParaRPr sz="1800">
              <a:solidFill>
                <a:schemeClr val="dk2"/>
              </a:solidFill>
            </a:endParaRPr>
          </a:p>
        </p:txBody>
      </p:sp>
      <p:sp>
        <p:nvSpPr>
          <p:cNvPr id="1325" name="Google Shape;1325;p85"/>
          <p:cNvSpPr txBox="1"/>
          <p:nvPr/>
        </p:nvSpPr>
        <p:spPr>
          <a:xfrm>
            <a:off x="1461725" y="3046750"/>
            <a:ext cx="1835100" cy="1111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800">
                <a:solidFill>
                  <a:schemeClr val="dk2"/>
                </a:solidFill>
              </a:rPr>
              <a:t>0</a:t>
            </a:r>
            <a:endParaRPr sz="1800">
              <a:solidFill>
                <a:schemeClr val="dk2"/>
              </a:solidFill>
            </a:endParaRPr>
          </a:p>
          <a:p>
            <a:pPr marL="0" lvl="0" indent="0" algn="r" rtl="0">
              <a:spcBef>
                <a:spcPts val="0"/>
              </a:spcBef>
              <a:spcAft>
                <a:spcPts val="0"/>
              </a:spcAft>
              <a:buNone/>
            </a:pPr>
            <a:r>
              <a:rPr lang="en" sz="1800">
                <a:solidFill>
                  <a:schemeClr val="dk2"/>
                </a:solidFill>
              </a:rPr>
              <a:t>(50%)</a:t>
            </a:r>
            <a:endParaRPr sz="1800">
              <a:solidFill>
                <a:schemeClr val="dk2"/>
              </a:solidFill>
            </a:endParaRPr>
          </a:p>
        </p:txBody>
      </p:sp>
      <p:sp>
        <p:nvSpPr>
          <p:cNvPr id="1326" name="Google Shape;1326;p85"/>
          <p:cNvSpPr txBox="1"/>
          <p:nvPr/>
        </p:nvSpPr>
        <p:spPr>
          <a:xfrm>
            <a:off x="3913925" y="2055425"/>
            <a:ext cx="1497900" cy="39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dk1"/>
                </a:solidFill>
              </a:rPr>
              <a:t>Norm</a:t>
            </a:r>
            <a:endParaRPr sz="1800" b="1">
              <a:solidFill>
                <a:schemeClr val="dk1"/>
              </a:solidFill>
            </a:endParaRPr>
          </a:p>
          <a:p>
            <a:pPr marL="0" lvl="0" indent="0" algn="ctr" rtl="0">
              <a:spcBef>
                <a:spcPts val="0"/>
              </a:spcBef>
              <a:spcAft>
                <a:spcPts val="0"/>
              </a:spcAft>
              <a:buNone/>
            </a:pPr>
            <a:r>
              <a:rPr lang="en" sz="1800">
                <a:solidFill>
                  <a:schemeClr val="dk1"/>
                </a:solidFill>
              </a:rPr>
              <a:t>(x-intercept)</a:t>
            </a:r>
            <a:endParaRPr sz="1800">
              <a:solidFill>
                <a:schemeClr val="dk1"/>
              </a:solidFill>
            </a:endParaRPr>
          </a:p>
        </p:txBody>
      </p:sp>
      <p:sp>
        <p:nvSpPr>
          <p:cNvPr id="1327" name="Google Shape;1327;p85"/>
          <p:cNvSpPr txBox="1"/>
          <p:nvPr/>
        </p:nvSpPr>
        <p:spPr>
          <a:xfrm>
            <a:off x="5930575" y="2683525"/>
            <a:ext cx="1995900" cy="39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dk1"/>
                </a:solidFill>
              </a:rPr>
              <a:t>Norm Violation Sensitivity</a:t>
            </a:r>
            <a:endParaRPr sz="1800" b="1">
              <a:solidFill>
                <a:schemeClr val="dk1"/>
              </a:solidFill>
            </a:endParaRPr>
          </a:p>
          <a:p>
            <a:pPr marL="0" lvl="0" indent="0" algn="ctr" rtl="0">
              <a:spcBef>
                <a:spcPts val="0"/>
              </a:spcBef>
              <a:spcAft>
                <a:spcPts val="0"/>
              </a:spcAft>
              <a:buNone/>
            </a:pPr>
            <a:r>
              <a:rPr lang="en" sz="1800">
                <a:solidFill>
                  <a:schemeClr val="dk1"/>
                </a:solidFill>
              </a:rPr>
              <a:t>(slope)</a:t>
            </a:r>
            <a:endParaRPr sz="1800">
              <a:solidFill>
                <a:schemeClr val="dk1"/>
              </a:solidFill>
            </a:endParaRPr>
          </a:p>
        </p:txBody>
      </p:sp>
      <p:sp>
        <p:nvSpPr>
          <p:cNvPr id="1328" name="Google Shape;1328;p85"/>
          <p:cNvSpPr txBox="1"/>
          <p:nvPr/>
        </p:nvSpPr>
        <p:spPr>
          <a:xfrm>
            <a:off x="7071475" y="3286200"/>
            <a:ext cx="1206000" cy="393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2"/>
                </a:solidFill>
              </a:rPr>
              <a:t>offer size</a:t>
            </a:r>
            <a:endParaRPr sz="1800">
              <a:solidFill>
                <a:schemeClr val="dk2"/>
              </a:solidFill>
            </a:endParaRPr>
          </a:p>
        </p:txBody>
      </p:sp>
      <p:cxnSp>
        <p:nvCxnSpPr>
          <p:cNvPr id="1329" name="Google Shape;1329;p85"/>
          <p:cNvCxnSpPr/>
          <p:nvPr/>
        </p:nvCxnSpPr>
        <p:spPr>
          <a:xfrm>
            <a:off x="4647358" y="2683525"/>
            <a:ext cx="0" cy="799500"/>
          </a:xfrm>
          <a:prstGeom prst="straightConnector1">
            <a:avLst/>
          </a:prstGeom>
          <a:noFill/>
          <a:ln w="19050" cap="flat" cmpd="sng">
            <a:solidFill>
              <a:schemeClr val="dk2"/>
            </a:solidFill>
            <a:prstDash val="dash"/>
            <a:round/>
            <a:headEnd type="none" w="med" len="med"/>
            <a:tailEnd type="triangle" w="med" len="med"/>
          </a:ln>
        </p:spPr>
      </p:cxnSp>
      <p:sp>
        <p:nvSpPr>
          <p:cNvPr id="1330" name="Google Shape;1330;p85"/>
          <p:cNvSpPr txBox="1">
            <a:spLocks noGrp="1"/>
          </p:cNvSpPr>
          <p:nvPr>
            <p:ph type="title" idx="4294967295"/>
          </p:nvPr>
        </p:nvSpPr>
        <p:spPr>
          <a:xfrm>
            <a:off x="460500" y="2119850"/>
            <a:ext cx="24939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200" b="1" i="1">
                <a:latin typeface="Times New Roman"/>
                <a:ea typeface="Times New Roman"/>
                <a:cs typeface="Times New Roman"/>
                <a:sym typeface="Times New Roman"/>
              </a:rPr>
              <a:t>Multilevel</a:t>
            </a:r>
            <a:endParaRPr sz="2200" b="1" i="1">
              <a:latin typeface="Times New Roman"/>
              <a:ea typeface="Times New Roman"/>
              <a:cs typeface="Times New Roman"/>
              <a:sym typeface="Times New Roman"/>
            </a:endParaRPr>
          </a:p>
          <a:p>
            <a:pPr marL="0" lvl="0" indent="0" algn="l" rtl="0">
              <a:spcBef>
                <a:spcPts val="0"/>
              </a:spcBef>
              <a:spcAft>
                <a:spcPts val="0"/>
              </a:spcAft>
              <a:buNone/>
            </a:pPr>
            <a:r>
              <a:rPr lang="en" sz="2200" b="1" i="1">
                <a:latin typeface="Times New Roman"/>
                <a:ea typeface="Times New Roman"/>
                <a:cs typeface="Times New Roman"/>
                <a:sym typeface="Times New Roman"/>
              </a:rPr>
              <a:t>Logistic Regression</a:t>
            </a:r>
            <a:endParaRPr sz="2200" b="1" i="1">
              <a:latin typeface="Times New Roman"/>
              <a:ea typeface="Times New Roman"/>
              <a:cs typeface="Times New Roman"/>
              <a:sym typeface="Times New Roman"/>
            </a:endParaRPr>
          </a:p>
          <a:p>
            <a:pPr marL="0" lvl="0" indent="0" algn="l" rtl="0">
              <a:spcBef>
                <a:spcPts val="0"/>
              </a:spcBef>
              <a:spcAft>
                <a:spcPts val="0"/>
              </a:spcAft>
              <a:buNone/>
            </a:pPr>
            <a:endParaRPr sz="2200" b="1" i="1">
              <a:latin typeface="Times New Roman"/>
              <a:ea typeface="Times New Roman"/>
              <a:cs typeface="Times New Roman"/>
              <a:sym typeface="Times New Roman"/>
            </a:endParaRPr>
          </a:p>
          <a:p>
            <a:pPr marL="0" lvl="0" indent="0" algn="l" rtl="0">
              <a:spcBef>
                <a:spcPts val="0"/>
              </a:spcBef>
              <a:spcAft>
                <a:spcPts val="0"/>
              </a:spcAft>
              <a:buNone/>
            </a:pPr>
            <a:r>
              <a:rPr lang="en" sz="2200" b="1" i="1">
                <a:latin typeface="Times New Roman"/>
                <a:ea typeface="Times New Roman"/>
                <a:cs typeface="Times New Roman"/>
                <a:sym typeface="Times New Roman"/>
              </a:rPr>
              <a:t>random + fixed</a:t>
            </a:r>
            <a:endParaRPr sz="2200" b="1" i="1">
              <a:latin typeface="Times New Roman"/>
              <a:ea typeface="Times New Roman"/>
              <a:cs typeface="Times New Roman"/>
              <a:sym typeface="Times New Roman"/>
            </a:endParaRPr>
          </a:p>
        </p:txBody>
      </p:sp>
      <p:sp>
        <p:nvSpPr>
          <p:cNvPr id="1331" name="Google Shape;1331;p85"/>
          <p:cNvSpPr txBox="1"/>
          <p:nvPr/>
        </p:nvSpPr>
        <p:spPr>
          <a:xfrm>
            <a:off x="-10375" y="147650"/>
            <a:ext cx="8842800" cy="11271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r>
              <a:rPr lang="en" sz="2800" b="1">
                <a:solidFill>
                  <a:schemeClr val="dk1"/>
                </a:solidFill>
              </a:rPr>
              <a:t>Norm and Norm Violation Sensitivity</a:t>
            </a:r>
            <a:endParaRPr sz="2800" b="1">
              <a:solidFill>
                <a:schemeClr val="dk1"/>
              </a:solidFill>
            </a:endParaRPr>
          </a:p>
        </p:txBody>
      </p:sp>
      <p:cxnSp>
        <p:nvCxnSpPr>
          <p:cNvPr id="1332" name="Google Shape;1332;p85"/>
          <p:cNvCxnSpPr/>
          <p:nvPr/>
        </p:nvCxnSpPr>
        <p:spPr>
          <a:xfrm flipH="1">
            <a:off x="3678000" y="1800425"/>
            <a:ext cx="3090900" cy="2458500"/>
          </a:xfrm>
          <a:prstGeom prst="straightConnector1">
            <a:avLst/>
          </a:prstGeom>
          <a:noFill/>
          <a:ln w="28575" cap="flat" cmpd="sng">
            <a:solidFill>
              <a:srgbClr val="980000"/>
            </a:solidFill>
            <a:prstDash val="solid"/>
            <a:round/>
            <a:headEnd type="none" w="med" len="med"/>
            <a:tailEnd type="none" w="med" len="med"/>
          </a:ln>
        </p:spPr>
      </p:cxnSp>
      <p:sp>
        <p:nvSpPr>
          <p:cNvPr id="1333" name="Google Shape;1333;p85"/>
          <p:cNvSpPr txBox="1"/>
          <p:nvPr/>
        </p:nvSpPr>
        <p:spPr>
          <a:xfrm>
            <a:off x="6816625" y="1597550"/>
            <a:ext cx="1655700" cy="36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980302"/>
                </a:solidFill>
              </a:rPr>
              <a:t>Participant A</a:t>
            </a:r>
            <a:endParaRPr sz="1800" b="1">
              <a:solidFill>
                <a:srgbClr val="980302"/>
              </a:solidFill>
            </a:endParaRPr>
          </a:p>
        </p:txBody>
      </p:sp>
      <p:cxnSp>
        <p:nvCxnSpPr>
          <p:cNvPr id="1334" name="Google Shape;1334;p85"/>
          <p:cNvCxnSpPr/>
          <p:nvPr/>
        </p:nvCxnSpPr>
        <p:spPr>
          <a:xfrm flipH="1">
            <a:off x="3940725" y="1369475"/>
            <a:ext cx="1839900" cy="3450300"/>
          </a:xfrm>
          <a:prstGeom prst="straightConnector1">
            <a:avLst/>
          </a:prstGeom>
          <a:noFill/>
          <a:ln w="28575" cap="flat" cmpd="sng">
            <a:solidFill>
              <a:schemeClr val="accent5"/>
            </a:solidFill>
            <a:prstDash val="solid"/>
            <a:round/>
            <a:headEnd type="none" w="med" len="med"/>
            <a:tailEnd type="none" w="med" len="med"/>
          </a:ln>
        </p:spPr>
      </p:cxnSp>
      <p:sp>
        <p:nvSpPr>
          <p:cNvPr id="1335" name="Google Shape;1335;p85"/>
          <p:cNvSpPr txBox="1"/>
          <p:nvPr/>
        </p:nvSpPr>
        <p:spPr>
          <a:xfrm>
            <a:off x="5772175" y="1086250"/>
            <a:ext cx="1655700" cy="36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accent5"/>
                </a:solidFill>
              </a:rPr>
              <a:t>Participant B</a:t>
            </a:r>
            <a:endParaRPr sz="1800" b="1">
              <a:solidFill>
                <a:schemeClr val="accent5"/>
              </a:solidFill>
            </a:endParaRPr>
          </a:p>
        </p:txBody>
      </p:sp>
      <p:sp>
        <p:nvSpPr>
          <p:cNvPr id="1336" name="Google Shape;1336;p85"/>
          <p:cNvSpPr txBox="1"/>
          <p:nvPr/>
        </p:nvSpPr>
        <p:spPr>
          <a:xfrm>
            <a:off x="-44300" y="4663225"/>
            <a:ext cx="7155000" cy="470100"/>
          </a:xfrm>
          <a:prstGeom prst="rect">
            <a:avLst/>
          </a:prstGeom>
          <a:noFill/>
          <a:ln>
            <a:noFill/>
          </a:ln>
        </p:spPr>
        <p:txBody>
          <a:bodyPr spcFirstLastPara="1" wrap="square" lIns="91425" tIns="91425" rIns="91425" bIns="91425" anchor="b" anchorCtr="0">
            <a:noAutofit/>
          </a:bodyPr>
          <a:lstStyle/>
          <a:p>
            <a:pPr marL="279400" lvl="0" indent="-279400" algn="l" rtl="0">
              <a:lnSpc>
                <a:spcPct val="100000"/>
              </a:lnSpc>
              <a:spcBef>
                <a:spcPts val="0"/>
              </a:spcBef>
              <a:spcAft>
                <a:spcPts val="0"/>
              </a:spcAft>
              <a:buNone/>
            </a:pPr>
            <a:r>
              <a:rPr lang="en" sz="1100" b="1">
                <a:solidFill>
                  <a:schemeClr val="dk1"/>
                </a:solidFill>
              </a:rPr>
              <a:t>Yang et al., in prep (1)</a:t>
            </a:r>
            <a:endParaRPr sz="1100" b="1">
              <a:solidFill>
                <a:schemeClr val="dk1"/>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340"/>
        <p:cNvGrpSpPr/>
        <p:nvPr/>
      </p:nvGrpSpPr>
      <p:grpSpPr>
        <a:xfrm>
          <a:off x="0" y="0"/>
          <a:ext cx="0" cy="0"/>
          <a:chOff x="0" y="0"/>
          <a:chExt cx="0" cy="0"/>
        </a:xfrm>
      </p:grpSpPr>
      <p:sp>
        <p:nvSpPr>
          <p:cNvPr id="1341" name="Google Shape;1341;p8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70</a:t>
            </a:fld>
            <a:endParaRPr/>
          </a:p>
        </p:txBody>
      </p:sp>
      <p:sp>
        <p:nvSpPr>
          <p:cNvPr id="1342" name="Google Shape;1342;p86"/>
          <p:cNvSpPr txBox="1"/>
          <p:nvPr/>
        </p:nvSpPr>
        <p:spPr>
          <a:xfrm>
            <a:off x="248775" y="1321500"/>
            <a:ext cx="6827700" cy="2500500"/>
          </a:xfrm>
          <a:prstGeom prst="rect">
            <a:avLst/>
          </a:prstGeom>
          <a:noFill/>
          <a:ln>
            <a:noFill/>
          </a:ln>
        </p:spPr>
        <p:txBody>
          <a:bodyPr spcFirstLastPara="1" wrap="square" lIns="91425" tIns="91425" rIns="91425" bIns="91425" anchor="t" anchorCtr="0">
            <a:noAutofit/>
          </a:bodyPr>
          <a:lstStyle/>
          <a:p>
            <a:pPr marL="457200" lvl="0" indent="-368300" algn="l" rtl="0">
              <a:lnSpc>
                <a:spcPct val="115000"/>
              </a:lnSpc>
              <a:spcBef>
                <a:spcPts val="0"/>
              </a:spcBef>
              <a:spcAft>
                <a:spcPts val="0"/>
              </a:spcAft>
              <a:buClr>
                <a:schemeClr val="dk1"/>
              </a:buClr>
              <a:buSzPts val="2200"/>
              <a:buChar char="●"/>
            </a:pPr>
            <a:r>
              <a:rPr lang="en" sz="2200" b="1">
                <a:solidFill>
                  <a:schemeClr val="dk1"/>
                </a:solidFill>
              </a:rPr>
              <a:t>Functional connectivity</a:t>
            </a:r>
            <a:br>
              <a:rPr lang="en" sz="2200">
                <a:solidFill>
                  <a:schemeClr val="dk1"/>
                </a:solidFill>
              </a:rPr>
            </a:br>
            <a:r>
              <a:rPr lang="en" sz="2200" b="1">
                <a:solidFill>
                  <a:srgbClr val="38761D"/>
                </a:solidFill>
              </a:rPr>
              <a:t>- Default Mode Network (DMN)</a:t>
            </a:r>
            <a:br>
              <a:rPr lang="en" sz="2200">
                <a:solidFill>
                  <a:schemeClr val="dk1"/>
                </a:solidFill>
              </a:rPr>
            </a:br>
            <a:r>
              <a:rPr lang="en" sz="2200">
                <a:solidFill>
                  <a:srgbClr val="3C78D8"/>
                </a:solidFill>
              </a:rPr>
              <a:t>- Executive Control Network (ECN) </a:t>
            </a:r>
            <a:r>
              <a:rPr lang="en" sz="2200">
                <a:solidFill>
                  <a:schemeClr val="dk1"/>
                </a:solidFill>
              </a:rPr>
              <a:t> </a:t>
            </a:r>
            <a:endParaRPr sz="2200">
              <a:solidFill>
                <a:schemeClr val="dk1"/>
              </a:solidFill>
            </a:endParaRPr>
          </a:p>
          <a:p>
            <a:pPr marL="457200" lvl="0" indent="-368300" algn="l" rtl="0">
              <a:lnSpc>
                <a:spcPct val="115000"/>
              </a:lnSpc>
              <a:spcBef>
                <a:spcPts val="1000"/>
              </a:spcBef>
              <a:spcAft>
                <a:spcPts val="1000"/>
              </a:spcAft>
              <a:buClr>
                <a:schemeClr val="dk1"/>
              </a:buClr>
              <a:buSzPts val="2200"/>
              <a:buChar char="●"/>
            </a:pPr>
            <a:r>
              <a:rPr lang="en" sz="2200" b="1">
                <a:solidFill>
                  <a:schemeClr val="dk1"/>
                </a:solidFill>
              </a:rPr>
              <a:t>Connectivity-behavior association</a:t>
            </a:r>
            <a:br>
              <a:rPr lang="en" sz="2200" b="1">
                <a:solidFill>
                  <a:schemeClr val="dk1"/>
                </a:solidFill>
              </a:rPr>
            </a:br>
            <a:r>
              <a:rPr lang="en" sz="2200">
                <a:solidFill>
                  <a:schemeClr val="dk1"/>
                </a:solidFill>
              </a:rPr>
              <a:t>- Fairness norm (x-intercept)</a:t>
            </a:r>
            <a:br>
              <a:rPr lang="en" sz="2200">
                <a:solidFill>
                  <a:schemeClr val="dk1"/>
                </a:solidFill>
              </a:rPr>
            </a:br>
            <a:r>
              <a:rPr lang="en" sz="2200">
                <a:solidFill>
                  <a:schemeClr val="dk1"/>
                </a:solidFill>
              </a:rPr>
              <a:t>- Norm violation sensitivity (slope)</a:t>
            </a:r>
            <a:endParaRPr sz="2200">
              <a:solidFill>
                <a:schemeClr val="dk1"/>
              </a:solidFill>
            </a:endParaRPr>
          </a:p>
        </p:txBody>
      </p:sp>
      <p:sp>
        <p:nvSpPr>
          <p:cNvPr id="1343" name="Google Shape;1343;p86"/>
          <p:cNvSpPr txBox="1"/>
          <p:nvPr/>
        </p:nvSpPr>
        <p:spPr>
          <a:xfrm>
            <a:off x="-44300" y="4663225"/>
            <a:ext cx="7155000" cy="470100"/>
          </a:xfrm>
          <a:prstGeom prst="rect">
            <a:avLst/>
          </a:prstGeom>
          <a:noFill/>
          <a:ln>
            <a:noFill/>
          </a:ln>
        </p:spPr>
        <p:txBody>
          <a:bodyPr spcFirstLastPara="1" wrap="square" lIns="91425" tIns="91425" rIns="91425" bIns="91425" anchor="b" anchorCtr="0">
            <a:noAutofit/>
          </a:bodyPr>
          <a:lstStyle/>
          <a:p>
            <a:pPr marL="279400" lvl="0" indent="-279400" algn="l" rtl="0">
              <a:lnSpc>
                <a:spcPct val="100000"/>
              </a:lnSpc>
              <a:spcBef>
                <a:spcPts val="0"/>
              </a:spcBef>
              <a:spcAft>
                <a:spcPts val="0"/>
              </a:spcAft>
              <a:buNone/>
            </a:pPr>
            <a:r>
              <a:rPr lang="en" sz="1100" b="1">
                <a:solidFill>
                  <a:schemeClr val="dk1"/>
                </a:solidFill>
              </a:rPr>
              <a:t>Yang et al., in prep (1)</a:t>
            </a:r>
            <a:endParaRPr sz="1100" b="1">
              <a:solidFill>
                <a:schemeClr val="dk1"/>
              </a:solidFill>
            </a:endParaRPr>
          </a:p>
        </p:txBody>
      </p:sp>
      <p:grpSp>
        <p:nvGrpSpPr>
          <p:cNvPr id="1344" name="Google Shape;1344;p86"/>
          <p:cNvGrpSpPr/>
          <p:nvPr/>
        </p:nvGrpSpPr>
        <p:grpSpPr>
          <a:xfrm>
            <a:off x="5661021" y="1494830"/>
            <a:ext cx="2990804" cy="2615173"/>
            <a:chOff x="5661021" y="1494830"/>
            <a:chExt cx="2990804" cy="2615173"/>
          </a:xfrm>
        </p:grpSpPr>
        <p:grpSp>
          <p:nvGrpSpPr>
            <p:cNvPr id="1345" name="Google Shape;1345;p86"/>
            <p:cNvGrpSpPr/>
            <p:nvPr/>
          </p:nvGrpSpPr>
          <p:grpSpPr>
            <a:xfrm>
              <a:off x="5661021" y="1494830"/>
              <a:ext cx="2990804" cy="1305648"/>
              <a:chOff x="5661021" y="1190030"/>
              <a:chExt cx="2990804" cy="1305648"/>
            </a:xfrm>
          </p:grpSpPr>
          <p:grpSp>
            <p:nvGrpSpPr>
              <p:cNvPr id="1346" name="Google Shape;1346;p86"/>
              <p:cNvGrpSpPr/>
              <p:nvPr/>
            </p:nvGrpSpPr>
            <p:grpSpPr>
              <a:xfrm>
                <a:off x="5661021" y="1425796"/>
                <a:ext cx="2764051" cy="1069883"/>
                <a:chOff x="-321558" y="1161346"/>
                <a:chExt cx="1727100" cy="663000"/>
              </a:xfrm>
            </p:grpSpPr>
            <p:sp>
              <p:nvSpPr>
                <p:cNvPr id="1347" name="Google Shape;1347;p86"/>
                <p:cNvSpPr/>
                <p:nvPr/>
              </p:nvSpPr>
              <p:spPr>
                <a:xfrm>
                  <a:off x="-321558" y="1161346"/>
                  <a:ext cx="1727100" cy="663000"/>
                </a:xfrm>
                <a:prstGeom prst="roundRect">
                  <a:avLst>
                    <a:gd name="adj" fmla="val 16667"/>
                  </a:avLst>
                </a:prstGeom>
                <a:solidFill>
                  <a:schemeClr val="lt1"/>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348" name="Google Shape;1348;p86"/>
                <p:cNvGrpSpPr/>
                <p:nvPr/>
              </p:nvGrpSpPr>
              <p:grpSpPr>
                <a:xfrm>
                  <a:off x="-259808" y="1189551"/>
                  <a:ext cx="1624776" cy="606602"/>
                  <a:chOff x="-259808" y="1189551"/>
                  <a:chExt cx="1624776" cy="606602"/>
                </a:xfrm>
              </p:grpSpPr>
              <p:pic>
                <p:nvPicPr>
                  <p:cNvPr id="1349" name="Google Shape;1349;p86" title="DMN_2green.png"/>
                  <p:cNvPicPr preferRelativeResize="0"/>
                  <p:nvPr/>
                </p:nvPicPr>
                <p:blipFill rotWithShape="1">
                  <a:blip r:embed="rId3">
                    <a:alphaModFix/>
                  </a:blip>
                  <a:srcRect t="11465" r="55062" b="46348"/>
                  <a:stretch/>
                </p:blipFill>
                <p:spPr>
                  <a:xfrm>
                    <a:off x="275952" y="1210719"/>
                    <a:ext cx="487076" cy="544200"/>
                  </a:xfrm>
                  <a:prstGeom prst="rect">
                    <a:avLst/>
                  </a:prstGeom>
                  <a:noFill/>
                  <a:ln>
                    <a:noFill/>
                  </a:ln>
                </p:spPr>
              </p:pic>
              <p:pic>
                <p:nvPicPr>
                  <p:cNvPr id="1350" name="Google Shape;1350;p86" title="DMN_2green.png"/>
                  <p:cNvPicPr preferRelativeResize="0"/>
                  <p:nvPr/>
                </p:nvPicPr>
                <p:blipFill rotWithShape="1">
                  <a:blip r:embed="rId3">
                    <a:alphaModFix/>
                  </a:blip>
                  <a:srcRect l="45048" t="11466" b="46346"/>
                  <a:stretch/>
                </p:blipFill>
                <p:spPr>
                  <a:xfrm>
                    <a:off x="769380" y="1210705"/>
                    <a:ext cx="595588" cy="544215"/>
                  </a:xfrm>
                  <a:prstGeom prst="rect">
                    <a:avLst/>
                  </a:prstGeom>
                  <a:noFill/>
                  <a:ln>
                    <a:noFill/>
                  </a:ln>
                </p:spPr>
              </p:pic>
              <p:pic>
                <p:nvPicPr>
                  <p:cNvPr id="1351" name="Google Shape;1351;p86" title="DMN_2green.png"/>
                  <p:cNvPicPr preferRelativeResize="0"/>
                  <p:nvPr/>
                </p:nvPicPr>
                <p:blipFill rotWithShape="1">
                  <a:blip r:embed="rId3">
                    <a:alphaModFix/>
                  </a:blip>
                  <a:srcRect t="52978" r="55062"/>
                  <a:stretch/>
                </p:blipFill>
                <p:spPr>
                  <a:xfrm>
                    <a:off x="-259808" y="1189551"/>
                    <a:ext cx="487076" cy="606602"/>
                  </a:xfrm>
                  <a:prstGeom prst="rect">
                    <a:avLst/>
                  </a:prstGeom>
                  <a:noFill/>
                  <a:ln>
                    <a:noFill/>
                  </a:ln>
                </p:spPr>
              </p:pic>
            </p:grpSp>
          </p:grpSp>
          <p:sp>
            <p:nvSpPr>
              <p:cNvPr id="1352" name="Google Shape;1352;p86"/>
              <p:cNvSpPr txBox="1"/>
              <p:nvPr/>
            </p:nvSpPr>
            <p:spPr>
              <a:xfrm>
                <a:off x="5713925" y="1190030"/>
                <a:ext cx="2937900" cy="47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r>
                  <a:rPr lang="en" sz="1600" b="1">
                    <a:solidFill>
                      <a:srgbClr val="38761D"/>
                    </a:solidFill>
                    <a:highlight>
                      <a:schemeClr val="lt1"/>
                    </a:highlight>
                  </a:rPr>
                  <a:t>Default Mode Network</a:t>
                </a:r>
                <a:endParaRPr sz="1600" b="1">
                  <a:highlight>
                    <a:schemeClr val="lt1"/>
                  </a:highlight>
                </a:endParaRPr>
              </a:p>
            </p:txBody>
          </p:sp>
        </p:grpSp>
        <p:grpSp>
          <p:nvGrpSpPr>
            <p:cNvPr id="1353" name="Google Shape;1353;p86"/>
            <p:cNvGrpSpPr/>
            <p:nvPr/>
          </p:nvGrpSpPr>
          <p:grpSpPr>
            <a:xfrm>
              <a:off x="5661030" y="2786832"/>
              <a:ext cx="2990795" cy="1323171"/>
              <a:chOff x="5661030" y="2786832"/>
              <a:chExt cx="2990795" cy="1323171"/>
            </a:xfrm>
          </p:grpSpPr>
          <p:grpSp>
            <p:nvGrpSpPr>
              <p:cNvPr id="1354" name="Google Shape;1354;p86"/>
              <p:cNvGrpSpPr/>
              <p:nvPr/>
            </p:nvGrpSpPr>
            <p:grpSpPr>
              <a:xfrm>
                <a:off x="5661030" y="3048903"/>
                <a:ext cx="2764200" cy="1061100"/>
                <a:chOff x="5661005" y="2942303"/>
                <a:chExt cx="2764200" cy="1061100"/>
              </a:xfrm>
            </p:grpSpPr>
            <p:sp>
              <p:nvSpPr>
                <p:cNvPr id="1355" name="Google Shape;1355;p86"/>
                <p:cNvSpPr/>
                <p:nvPr/>
              </p:nvSpPr>
              <p:spPr>
                <a:xfrm>
                  <a:off x="5661005" y="2942303"/>
                  <a:ext cx="2764200" cy="1061100"/>
                </a:xfrm>
                <a:prstGeom prst="roundRect">
                  <a:avLst>
                    <a:gd name="adj" fmla="val 16667"/>
                  </a:avLst>
                </a:prstGeom>
                <a:solidFill>
                  <a:schemeClr val="lt1"/>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356" name="Google Shape;1356;p86"/>
                <p:cNvGrpSpPr/>
                <p:nvPr/>
              </p:nvGrpSpPr>
              <p:grpSpPr>
                <a:xfrm>
                  <a:off x="5793771" y="2976214"/>
                  <a:ext cx="2532437" cy="958984"/>
                  <a:chOff x="-9625" y="1107063"/>
                  <a:chExt cx="1987628" cy="752676"/>
                </a:xfrm>
              </p:grpSpPr>
              <p:pic>
                <p:nvPicPr>
                  <p:cNvPr id="1357" name="Google Shape;1357;p86" title="ECN_7cool.png"/>
                  <p:cNvPicPr preferRelativeResize="0"/>
                  <p:nvPr/>
                </p:nvPicPr>
                <p:blipFill rotWithShape="1">
                  <a:blip r:embed="rId4">
                    <a:alphaModFix/>
                  </a:blip>
                  <a:srcRect t="11395" r="55952" b="51773"/>
                  <a:stretch/>
                </p:blipFill>
                <p:spPr>
                  <a:xfrm>
                    <a:off x="648489" y="1206657"/>
                    <a:ext cx="547751" cy="553498"/>
                  </a:xfrm>
                  <a:prstGeom prst="rect">
                    <a:avLst/>
                  </a:prstGeom>
                  <a:noFill/>
                  <a:ln>
                    <a:noFill/>
                  </a:ln>
                </p:spPr>
              </p:pic>
              <p:pic>
                <p:nvPicPr>
                  <p:cNvPr id="1358" name="Google Shape;1358;p86" title="ECN_7cool.png"/>
                  <p:cNvPicPr preferRelativeResize="0"/>
                  <p:nvPr/>
                </p:nvPicPr>
                <p:blipFill rotWithShape="1">
                  <a:blip r:embed="rId4">
                    <a:alphaModFix/>
                  </a:blip>
                  <a:srcRect l="43454" t="9886" b="45877"/>
                  <a:stretch/>
                </p:blipFill>
                <p:spPr>
                  <a:xfrm>
                    <a:off x="1274852" y="1151025"/>
                    <a:ext cx="703151" cy="664755"/>
                  </a:xfrm>
                  <a:prstGeom prst="rect">
                    <a:avLst/>
                  </a:prstGeom>
                  <a:noFill/>
                  <a:ln>
                    <a:noFill/>
                  </a:ln>
                </p:spPr>
              </p:pic>
              <p:pic>
                <p:nvPicPr>
                  <p:cNvPr id="1359" name="Google Shape;1359;p86" title="ECN_7cool.png"/>
                  <p:cNvPicPr preferRelativeResize="0"/>
                  <p:nvPr/>
                </p:nvPicPr>
                <p:blipFill rotWithShape="1">
                  <a:blip r:embed="rId4">
                    <a:alphaModFix/>
                  </a:blip>
                  <a:srcRect t="49917" r="55952"/>
                  <a:stretch/>
                </p:blipFill>
                <p:spPr>
                  <a:xfrm>
                    <a:off x="-9625" y="1107063"/>
                    <a:ext cx="547751" cy="752676"/>
                  </a:xfrm>
                  <a:prstGeom prst="rect">
                    <a:avLst/>
                  </a:prstGeom>
                  <a:noFill/>
                  <a:ln>
                    <a:noFill/>
                  </a:ln>
                </p:spPr>
              </p:pic>
            </p:grpSp>
          </p:grpSp>
          <p:sp>
            <p:nvSpPr>
              <p:cNvPr id="1360" name="Google Shape;1360;p86"/>
              <p:cNvSpPr txBox="1"/>
              <p:nvPr/>
            </p:nvSpPr>
            <p:spPr>
              <a:xfrm>
                <a:off x="5713925" y="2786832"/>
                <a:ext cx="2937900" cy="47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r>
                  <a:rPr lang="en" sz="1600" b="1">
                    <a:solidFill>
                      <a:srgbClr val="3C78D8"/>
                    </a:solidFill>
                    <a:highlight>
                      <a:schemeClr val="lt1"/>
                    </a:highlight>
                  </a:rPr>
                  <a:t>Executive Control Network</a:t>
                </a:r>
                <a:endParaRPr sz="1600" b="1">
                  <a:solidFill>
                    <a:srgbClr val="3C78D8"/>
                  </a:solidFill>
                  <a:highlight>
                    <a:schemeClr val="lt1"/>
                  </a:highlight>
                </a:endParaRPr>
              </a:p>
            </p:txBody>
          </p:sp>
        </p:grpSp>
      </p:grpSp>
      <p:sp>
        <p:nvSpPr>
          <p:cNvPr id="1361" name="Google Shape;1361;p86"/>
          <p:cNvSpPr txBox="1"/>
          <p:nvPr/>
        </p:nvSpPr>
        <p:spPr>
          <a:xfrm>
            <a:off x="4810750" y="1616525"/>
            <a:ext cx="548700" cy="54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800" b="1">
                <a:solidFill>
                  <a:srgbClr val="38761D"/>
                </a:solidFill>
                <a:latin typeface="Roboto"/>
                <a:ea typeface="Roboto"/>
                <a:cs typeface="Roboto"/>
                <a:sym typeface="Roboto"/>
              </a:rPr>
              <a:t>✔</a:t>
            </a:r>
            <a:endParaRPr sz="2800" b="1">
              <a:solidFill>
                <a:srgbClr val="38761D"/>
              </a:solidFill>
            </a:endParaRPr>
          </a:p>
        </p:txBody>
      </p:sp>
      <p:sp>
        <p:nvSpPr>
          <p:cNvPr id="1362" name="Google Shape;1362;p86"/>
          <p:cNvSpPr txBox="1"/>
          <p:nvPr/>
        </p:nvSpPr>
        <p:spPr>
          <a:xfrm>
            <a:off x="-10375" y="147650"/>
            <a:ext cx="8842800" cy="1127100"/>
          </a:xfrm>
          <a:prstGeom prst="rect">
            <a:avLst/>
          </a:prstGeom>
          <a:noFill/>
          <a:ln>
            <a:noFill/>
          </a:ln>
        </p:spPr>
        <p:txBody>
          <a:bodyPr spcFirstLastPara="1" wrap="square" lIns="91425" tIns="91425" rIns="91425" bIns="91425" anchor="ctr" anchorCtr="0">
            <a:noAutofit/>
          </a:bodyPr>
          <a:lstStyle/>
          <a:p>
            <a:pPr marL="457200" lvl="0" indent="0" algn="l" rtl="0">
              <a:spcBef>
                <a:spcPts val="0"/>
              </a:spcBef>
              <a:spcAft>
                <a:spcPts val="0"/>
              </a:spcAft>
              <a:buNone/>
            </a:pPr>
            <a:r>
              <a:rPr lang="en" sz="2800" b="1">
                <a:solidFill>
                  <a:schemeClr val="dk1"/>
                </a:solidFill>
                <a:highlight>
                  <a:schemeClr val="lt1"/>
                </a:highlight>
              </a:rPr>
              <a:t>Age * social context interaction?</a:t>
            </a:r>
            <a:endParaRPr sz="2800" b="1">
              <a:solidFill>
                <a:schemeClr val="dk1"/>
              </a:solidFill>
              <a:highlight>
                <a:schemeClr val="lt1"/>
              </a:highlight>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366"/>
        <p:cNvGrpSpPr/>
        <p:nvPr/>
      </p:nvGrpSpPr>
      <p:grpSpPr>
        <a:xfrm>
          <a:off x="0" y="0"/>
          <a:ext cx="0" cy="0"/>
          <a:chOff x="0" y="0"/>
          <a:chExt cx="0" cy="0"/>
        </a:xfrm>
      </p:grpSpPr>
      <p:sp>
        <p:nvSpPr>
          <p:cNvPr id="1367" name="Google Shape;1367;p8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71</a:t>
            </a:fld>
            <a:endParaRPr/>
          </a:p>
        </p:txBody>
      </p:sp>
      <p:pic>
        <p:nvPicPr>
          <p:cNvPr id="1368" name="Google Shape;1368;p87" title="ECN_mPFC_in-out_age_BehFairSensitivityFull_scatter_classic_noOlder.png"/>
          <p:cNvPicPr preferRelativeResize="0"/>
          <p:nvPr/>
        </p:nvPicPr>
        <p:blipFill rotWithShape="1">
          <a:blip r:embed="rId3">
            <a:alphaModFix/>
          </a:blip>
          <a:srcRect r="19432"/>
          <a:stretch/>
        </p:blipFill>
        <p:spPr>
          <a:xfrm>
            <a:off x="4390400" y="1111633"/>
            <a:ext cx="4198409" cy="3794901"/>
          </a:xfrm>
          <a:prstGeom prst="rect">
            <a:avLst/>
          </a:prstGeom>
          <a:noFill/>
          <a:ln>
            <a:noFill/>
          </a:ln>
        </p:spPr>
      </p:pic>
      <p:sp>
        <p:nvSpPr>
          <p:cNvPr id="1369" name="Google Shape;1369;p87"/>
          <p:cNvSpPr/>
          <p:nvPr/>
        </p:nvSpPr>
        <p:spPr>
          <a:xfrm>
            <a:off x="5366325" y="1042950"/>
            <a:ext cx="2318400" cy="3057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370" name="Google Shape;1370;p87"/>
          <p:cNvPicPr preferRelativeResize="0"/>
          <p:nvPr/>
        </p:nvPicPr>
        <p:blipFill rotWithShape="1">
          <a:blip r:embed="rId4">
            <a:alphaModFix/>
          </a:blip>
          <a:srcRect l="80901" t="33213" b="46043"/>
          <a:stretch/>
        </p:blipFill>
        <p:spPr>
          <a:xfrm>
            <a:off x="7627650" y="2950542"/>
            <a:ext cx="1393499" cy="1100784"/>
          </a:xfrm>
          <a:prstGeom prst="rect">
            <a:avLst/>
          </a:prstGeom>
          <a:noFill/>
          <a:ln>
            <a:noFill/>
          </a:ln>
        </p:spPr>
      </p:pic>
      <p:sp>
        <p:nvSpPr>
          <p:cNvPr id="1371" name="Google Shape;1371;p87"/>
          <p:cNvSpPr txBox="1"/>
          <p:nvPr/>
        </p:nvSpPr>
        <p:spPr>
          <a:xfrm>
            <a:off x="-44300" y="4663225"/>
            <a:ext cx="7155000" cy="470100"/>
          </a:xfrm>
          <a:prstGeom prst="rect">
            <a:avLst/>
          </a:prstGeom>
          <a:noFill/>
          <a:ln>
            <a:noFill/>
          </a:ln>
        </p:spPr>
        <p:txBody>
          <a:bodyPr spcFirstLastPara="1" wrap="square" lIns="91425" tIns="91425" rIns="91425" bIns="91425" anchor="b" anchorCtr="0">
            <a:noAutofit/>
          </a:bodyPr>
          <a:lstStyle/>
          <a:p>
            <a:pPr marL="279400" lvl="0" indent="-279400" algn="l" rtl="0">
              <a:lnSpc>
                <a:spcPct val="100000"/>
              </a:lnSpc>
              <a:spcBef>
                <a:spcPts val="0"/>
              </a:spcBef>
              <a:spcAft>
                <a:spcPts val="0"/>
              </a:spcAft>
              <a:buNone/>
            </a:pPr>
            <a:r>
              <a:rPr lang="en" sz="1100" b="1">
                <a:solidFill>
                  <a:schemeClr val="dk1"/>
                </a:solidFill>
              </a:rPr>
              <a:t>Yang et al., in prep (1)</a:t>
            </a:r>
            <a:endParaRPr sz="1100" b="1">
              <a:solidFill>
                <a:schemeClr val="dk1"/>
              </a:solidFill>
            </a:endParaRPr>
          </a:p>
        </p:txBody>
      </p:sp>
      <p:grpSp>
        <p:nvGrpSpPr>
          <p:cNvPr id="1372" name="Google Shape;1372;p87"/>
          <p:cNvGrpSpPr/>
          <p:nvPr/>
        </p:nvGrpSpPr>
        <p:grpSpPr>
          <a:xfrm>
            <a:off x="355617" y="1111615"/>
            <a:ext cx="3861258" cy="1829926"/>
            <a:chOff x="463742" y="1005490"/>
            <a:chExt cx="3861258" cy="1829926"/>
          </a:xfrm>
        </p:grpSpPr>
        <p:pic>
          <p:nvPicPr>
            <p:cNvPr id="1373" name="Google Shape;1373;p87" title="ecn_p_in-out_o-y_sens-logit.png"/>
            <p:cNvPicPr preferRelativeResize="0"/>
            <p:nvPr/>
          </p:nvPicPr>
          <p:blipFill rotWithShape="1">
            <a:blip r:embed="rId5">
              <a:alphaModFix/>
            </a:blip>
            <a:srcRect l="44933" t="10739" b="45974"/>
            <a:stretch/>
          </p:blipFill>
          <p:spPr>
            <a:xfrm>
              <a:off x="2318026" y="1005490"/>
              <a:ext cx="2006974" cy="1829926"/>
            </a:xfrm>
            <a:prstGeom prst="rect">
              <a:avLst/>
            </a:prstGeom>
            <a:noFill/>
            <a:ln>
              <a:noFill/>
            </a:ln>
          </p:spPr>
        </p:pic>
        <p:grpSp>
          <p:nvGrpSpPr>
            <p:cNvPr id="1374" name="Google Shape;1374;p87"/>
            <p:cNvGrpSpPr/>
            <p:nvPr/>
          </p:nvGrpSpPr>
          <p:grpSpPr>
            <a:xfrm>
              <a:off x="463742" y="1183721"/>
              <a:ext cx="1727100" cy="663000"/>
              <a:chOff x="114467" y="1173421"/>
              <a:chExt cx="1727100" cy="663000"/>
            </a:xfrm>
          </p:grpSpPr>
          <p:grpSp>
            <p:nvGrpSpPr>
              <p:cNvPr id="1375" name="Google Shape;1375;p87"/>
              <p:cNvGrpSpPr/>
              <p:nvPr/>
            </p:nvGrpSpPr>
            <p:grpSpPr>
              <a:xfrm>
                <a:off x="197425" y="1194595"/>
                <a:ext cx="1582351" cy="599205"/>
                <a:chOff x="-9625" y="1107063"/>
                <a:chExt cx="1987628" cy="752676"/>
              </a:xfrm>
            </p:grpSpPr>
            <p:pic>
              <p:nvPicPr>
                <p:cNvPr id="1376" name="Google Shape;1376;p87" title="ECN_7cool.png"/>
                <p:cNvPicPr preferRelativeResize="0"/>
                <p:nvPr/>
              </p:nvPicPr>
              <p:blipFill rotWithShape="1">
                <a:blip r:embed="rId6">
                  <a:alphaModFix/>
                </a:blip>
                <a:srcRect t="11395" r="55952" b="51773"/>
                <a:stretch/>
              </p:blipFill>
              <p:spPr>
                <a:xfrm>
                  <a:off x="648489" y="1206657"/>
                  <a:ext cx="547751" cy="553498"/>
                </a:xfrm>
                <a:prstGeom prst="rect">
                  <a:avLst/>
                </a:prstGeom>
                <a:noFill/>
                <a:ln>
                  <a:noFill/>
                </a:ln>
              </p:spPr>
            </p:pic>
            <p:pic>
              <p:nvPicPr>
                <p:cNvPr id="1377" name="Google Shape;1377;p87" title="ECN_7cool.png"/>
                <p:cNvPicPr preferRelativeResize="0"/>
                <p:nvPr/>
              </p:nvPicPr>
              <p:blipFill rotWithShape="1">
                <a:blip r:embed="rId6">
                  <a:alphaModFix/>
                </a:blip>
                <a:srcRect l="43454" t="9886" b="45877"/>
                <a:stretch/>
              </p:blipFill>
              <p:spPr>
                <a:xfrm>
                  <a:off x="1274852" y="1151025"/>
                  <a:ext cx="703151" cy="664755"/>
                </a:xfrm>
                <a:prstGeom prst="rect">
                  <a:avLst/>
                </a:prstGeom>
                <a:noFill/>
                <a:ln>
                  <a:noFill/>
                </a:ln>
              </p:spPr>
            </p:pic>
            <p:pic>
              <p:nvPicPr>
                <p:cNvPr id="1378" name="Google Shape;1378;p87" title="ECN_7cool.png"/>
                <p:cNvPicPr preferRelativeResize="0"/>
                <p:nvPr/>
              </p:nvPicPr>
              <p:blipFill rotWithShape="1">
                <a:blip r:embed="rId6">
                  <a:alphaModFix/>
                </a:blip>
                <a:srcRect t="49917" r="55952"/>
                <a:stretch/>
              </p:blipFill>
              <p:spPr>
                <a:xfrm>
                  <a:off x="-9625" y="1107063"/>
                  <a:ext cx="547751" cy="752676"/>
                </a:xfrm>
                <a:prstGeom prst="rect">
                  <a:avLst/>
                </a:prstGeom>
                <a:noFill/>
                <a:ln>
                  <a:noFill/>
                </a:ln>
              </p:spPr>
            </p:pic>
          </p:grpSp>
          <p:sp>
            <p:nvSpPr>
              <p:cNvPr id="1379" name="Google Shape;1379;p87"/>
              <p:cNvSpPr/>
              <p:nvPr/>
            </p:nvSpPr>
            <p:spPr>
              <a:xfrm>
                <a:off x="114467" y="1173421"/>
                <a:ext cx="1727100" cy="663000"/>
              </a:xfrm>
              <a:prstGeom prst="roundRect">
                <a:avLst>
                  <a:gd name="adj" fmla="val 16667"/>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380" name="Google Shape;1380;p87"/>
            <p:cNvSpPr/>
            <p:nvPr/>
          </p:nvSpPr>
          <p:spPr>
            <a:xfrm>
              <a:off x="2190850" y="1421975"/>
              <a:ext cx="1969407" cy="393598"/>
            </a:xfrm>
            <a:custGeom>
              <a:avLst/>
              <a:gdLst/>
              <a:ahLst/>
              <a:cxnLst/>
              <a:rect l="l" t="t" r="r" b="b"/>
              <a:pathLst>
                <a:path w="77429" h="23352" extrusionOk="0">
                  <a:moveTo>
                    <a:pt x="0" y="0"/>
                  </a:moveTo>
                  <a:cubicBezTo>
                    <a:pt x="6214" y="342"/>
                    <a:pt x="26425" y="410"/>
                    <a:pt x="37281" y="2049"/>
                  </a:cubicBezTo>
                  <a:cubicBezTo>
                    <a:pt x="48138" y="3688"/>
                    <a:pt x="58448" y="6283"/>
                    <a:pt x="65139" y="9833"/>
                  </a:cubicBezTo>
                  <a:cubicBezTo>
                    <a:pt x="71830" y="13384"/>
                    <a:pt x="75381" y="21099"/>
                    <a:pt x="77429" y="23352"/>
                  </a:cubicBezTo>
                </a:path>
              </a:pathLst>
            </a:custGeom>
            <a:noFill/>
            <a:ln w="28575" cap="flat" cmpd="sng">
              <a:solidFill>
                <a:srgbClr val="18C8FF"/>
              </a:solidFill>
              <a:prstDash val="solid"/>
              <a:round/>
              <a:headEnd type="none" w="med" len="med"/>
              <a:tailEnd type="none" w="med" len="med"/>
            </a:ln>
          </p:spPr>
          <p:txBody>
            <a:bodyPr/>
            <a:lstStyle/>
            <a:p>
              <a:endParaRPr lang="en-US"/>
            </a:p>
          </p:txBody>
        </p:sp>
      </p:grpSp>
      <p:sp>
        <p:nvSpPr>
          <p:cNvPr id="1381" name="Google Shape;1381;p87"/>
          <p:cNvSpPr txBox="1"/>
          <p:nvPr/>
        </p:nvSpPr>
        <p:spPr>
          <a:xfrm>
            <a:off x="0" y="0"/>
            <a:ext cx="9144000" cy="9144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400" b="1">
                <a:solidFill>
                  <a:srgbClr val="1155CC"/>
                </a:solidFill>
              </a:rPr>
              <a:t>Age moderate the correlation between context differentiation of ECN-mPFC connectivity and norm violation sensitivity</a:t>
            </a:r>
            <a:endParaRPr sz="2400" b="1">
              <a:solidFill>
                <a:srgbClr val="1155CC"/>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385"/>
        <p:cNvGrpSpPr/>
        <p:nvPr/>
      </p:nvGrpSpPr>
      <p:grpSpPr>
        <a:xfrm>
          <a:off x="0" y="0"/>
          <a:ext cx="0" cy="0"/>
          <a:chOff x="0" y="0"/>
          <a:chExt cx="0" cy="0"/>
        </a:xfrm>
      </p:grpSpPr>
      <p:sp>
        <p:nvSpPr>
          <p:cNvPr id="1386" name="Google Shape;1386;p8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72</a:t>
            </a:fld>
            <a:endParaRPr/>
          </a:p>
        </p:txBody>
      </p:sp>
      <p:pic>
        <p:nvPicPr>
          <p:cNvPr id="1387" name="Google Shape;1387;p88" title="ECN_mPFC_in-out_age_BehFairSensitivityFull_scatter_classic_noOlder.png"/>
          <p:cNvPicPr preferRelativeResize="0"/>
          <p:nvPr/>
        </p:nvPicPr>
        <p:blipFill rotWithShape="1">
          <a:blip r:embed="rId3">
            <a:alphaModFix/>
          </a:blip>
          <a:srcRect r="19432"/>
          <a:stretch/>
        </p:blipFill>
        <p:spPr>
          <a:xfrm>
            <a:off x="4390400" y="1111633"/>
            <a:ext cx="4198409" cy="3794901"/>
          </a:xfrm>
          <a:prstGeom prst="rect">
            <a:avLst/>
          </a:prstGeom>
          <a:noFill/>
          <a:ln>
            <a:noFill/>
          </a:ln>
        </p:spPr>
      </p:pic>
      <p:sp>
        <p:nvSpPr>
          <p:cNvPr id="1388" name="Google Shape;1388;p88"/>
          <p:cNvSpPr/>
          <p:nvPr/>
        </p:nvSpPr>
        <p:spPr>
          <a:xfrm>
            <a:off x="5366325" y="1042950"/>
            <a:ext cx="2318400" cy="3057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389" name="Google Shape;1389;p88"/>
          <p:cNvPicPr preferRelativeResize="0"/>
          <p:nvPr/>
        </p:nvPicPr>
        <p:blipFill rotWithShape="1">
          <a:blip r:embed="rId4">
            <a:alphaModFix/>
          </a:blip>
          <a:srcRect l="80901" t="33213" b="46043"/>
          <a:stretch/>
        </p:blipFill>
        <p:spPr>
          <a:xfrm>
            <a:off x="7627650" y="2950542"/>
            <a:ext cx="1393499" cy="1100784"/>
          </a:xfrm>
          <a:prstGeom prst="rect">
            <a:avLst/>
          </a:prstGeom>
          <a:noFill/>
          <a:ln>
            <a:noFill/>
          </a:ln>
        </p:spPr>
      </p:pic>
      <p:sp>
        <p:nvSpPr>
          <p:cNvPr id="1390" name="Google Shape;1390;p88"/>
          <p:cNvSpPr txBox="1"/>
          <p:nvPr/>
        </p:nvSpPr>
        <p:spPr>
          <a:xfrm>
            <a:off x="-44300" y="4663225"/>
            <a:ext cx="7155000" cy="470100"/>
          </a:xfrm>
          <a:prstGeom prst="rect">
            <a:avLst/>
          </a:prstGeom>
          <a:noFill/>
          <a:ln>
            <a:noFill/>
          </a:ln>
        </p:spPr>
        <p:txBody>
          <a:bodyPr spcFirstLastPara="1" wrap="square" lIns="91425" tIns="91425" rIns="91425" bIns="91425" anchor="b" anchorCtr="0">
            <a:noAutofit/>
          </a:bodyPr>
          <a:lstStyle/>
          <a:p>
            <a:pPr marL="279400" lvl="0" indent="-279400" algn="l" rtl="0">
              <a:lnSpc>
                <a:spcPct val="100000"/>
              </a:lnSpc>
              <a:spcBef>
                <a:spcPts val="0"/>
              </a:spcBef>
              <a:spcAft>
                <a:spcPts val="0"/>
              </a:spcAft>
              <a:buNone/>
            </a:pPr>
            <a:r>
              <a:rPr lang="en" sz="1100" b="1">
                <a:solidFill>
                  <a:schemeClr val="dk1"/>
                </a:solidFill>
              </a:rPr>
              <a:t>Yang et al., in prep (1)</a:t>
            </a:r>
            <a:endParaRPr sz="1100" b="1">
              <a:solidFill>
                <a:schemeClr val="dk1"/>
              </a:solidFill>
            </a:endParaRPr>
          </a:p>
        </p:txBody>
      </p:sp>
      <p:grpSp>
        <p:nvGrpSpPr>
          <p:cNvPr id="1391" name="Google Shape;1391;p88"/>
          <p:cNvGrpSpPr/>
          <p:nvPr/>
        </p:nvGrpSpPr>
        <p:grpSpPr>
          <a:xfrm>
            <a:off x="355617" y="1111615"/>
            <a:ext cx="3861258" cy="1829926"/>
            <a:chOff x="463742" y="1005490"/>
            <a:chExt cx="3861258" cy="1829926"/>
          </a:xfrm>
        </p:grpSpPr>
        <p:pic>
          <p:nvPicPr>
            <p:cNvPr id="1392" name="Google Shape;1392;p88" title="ecn_p_in-out_o-y_sens-logit.png"/>
            <p:cNvPicPr preferRelativeResize="0"/>
            <p:nvPr/>
          </p:nvPicPr>
          <p:blipFill rotWithShape="1">
            <a:blip r:embed="rId5">
              <a:alphaModFix/>
            </a:blip>
            <a:srcRect l="44933" t="10739" b="45974"/>
            <a:stretch/>
          </p:blipFill>
          <p:spPr>
            <a:xfrm>
              <a:off x="2318026" y="1005490"/>
              <a:ext cx="2006974" cy="1829926"/>
            </a:xfrm>
            <a:prstGeom prst="rect">
              <a:avLst/>
            </a:prstGeom>
            <a:noFill/>
            <a:ln>
              <a:noFill/>
            </a:ln>
          </p:spPr>
        </p:pic>
        <p:grpSp>
          <p:nvGrpSpPr>
            <p:cNvPr id="1393" name="Google Shape;1393;p88"/>
            <p:cNvGrpSpPr/>
            <p:nvPr/>
          </p:nvGrpSpPr>
          <p:grpSpPr>
            <a:xfrm>
              <a:off x="463742" y="1183721"/>
              <a:ext cx="1727100" cy="663000"/>
              <a:chOff x="114467" y="1173421"/>
              <a:chExt cx="1727100" cy="663000"/>
            </a:xfrm>
          </p:grpSpPr>
          <p:grpSp>
            <p:nvGrpSpPr>
              <p:cNvPr id="1394" name="Google Shape;1394;p88"/>
              <p:cNvGrpSpPr/>
              <p:nvPr/>
            </p:nvGrpSpPr>
            <p:grpSpPr>
              <a:xfrm>
                <a:off x="197425" y="1194595"/>
                <a:ext cx="1582351" cy="599205"/>
                <a:chOff x="-9625" y="1107063"/>
                <a:chExt cx="1987628" cy="752676"/>
              </a:xfrm>
            </p:grpSpPr>
            <p:pic>
              <p:nvPicPr>
                <p:cNvPr id="1395" name="Google Shape;1395;p88" title="ECN_7cool.png"/>
                <p:cNvPicPr preferRelativeResize="0"/>
                <p:nvPr/>
              </p:nvPicPr>
              <p:blipFill rotWithShape="1">
                <a:blip r:embed="rId6">
                  <a:alphaModFix/>
                </a:blip>
                <a:srcRect t="11395" r="55952" b="51773"/>
                <a:stretch/>
              </p:blipFill>
              <p:spPr>
                <a:xfrm>
                  <a:off x="648489" y="1206657"/>
                  <a:ext cx="547751" cy="553498"/>
                </a:xfrm>
                <a:prstGeom prst="rect">
                  <a:avLst/>
                </a:prstGeom>
                <a:noFill/>
                <a:ln>
                  <a:noFill/>
                </a:ln>
              </p:spPr>
            </p:pic>
            <p:pic>
              <p:nvPicPr>
                <p:cNvPr id="1396" name="Google Shape;1396;p88" title="ECN_7cool.png"/>
                <p:cNvPicPr preferRelativeResize="0"/>
                <p:nvPr/>
              </p:nvPicPr>
              <p:blipFill rotWithShape="1">
                <a:blip r:embed="rId6">
                  <a:alphaModFix/>
                </a:blip>
                <a:srcRect l="43454" t="9886" b="45877"/>
                <a:stretch/>
              </p:blipFill>
              <p:spPr>
                <a:xfrm>
                  <a:off x="1274852" y="1151025"/>
                  <a:ext cx="703151" cy="664755"/>
                </a:xfrm>
                <a:prstGeom prst="rect">
                  <a:avLst/>
                </a:prstGeom>
                <a:noFill/>
                <a:ln>
                  <a:noFill/>
                </a:ln>
              </p:spPr>
            </p:pic>
            <p:pic>
              <p:nvPicPr>
                <p:cNvPr id="1397" name="Google Shape;1397;p88" title="ECN_7cool.png"/>
                <p:cNvPicPr preferRelativeResize="0"/>
                <p:nvPr/>
              </p:nvPicPr>
              <p:blipFill rotWithShape="1">
                <a:blip r:embed="rId6">
                  <a:alphaModFix/>
                </a:blip>
                <a:srcRect t="49917" r="55952"/>
                <a:stretch/>
              </p:blipFill>
              <p:spPr>
                <a:xfrm>
                  <a:off x="-9625" y="1107063"/>
                  <a:ext cx="547751" cy="752676"/>
                </a:xfrm>
                <a:prstGeom prst="rect">
                  <a:avLst/>
                </a:prstGeom>
                <a:noFill/>
                <a:ln>
                  <a:noFill/>
                </a:ln>
              </p:spPr>
            </p:pic>
          </p:grpSp>
          <p:sp>
            <p:nvSpPr>
              <p:cNvPr id="1398" name="Google Shape;1398;p88"/>
              <p:cNvSpPr/>
              <p:nvPr/>
            </p:nvSpPr>
            <p:spPr>
              <a:xfrm>
                <a:off x="114467" y="1173421"/>
                <a:ext cx="1727100" cy="663000"/>
              </a:xfrm>
              <a:prstGeom prst="roundRect">
                <a:avLst>
                  <a:gd name="adj" fmla="val 16667"/>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399" name="Google Shape;1399;p88"/>
            <p:cNvSpPr/>
            <p:nvPr/>
          </p:nvSpPr>
          <p:spPr>
            <a:xfrm>
              <a:off x="2190850" y="1421975"/>
              <a:ext cx="1969407" cy="393598"/>
            </a:xfrm>
            <a:custGeom>
              <a:avLst/>
              <a:gdLst/>
              <a:ahLst/>
              <a:cxnLst/>
              <a:rect l="l" t="t" r="r" b="b"/>
              <a:pathLst>
                <a:path w="77429" h="23352" extrusionOk="0">
                  <a:moveTo>
                    <a:pt x="0" y="0"/>
                  </a:moveTo>
                  <a:cubicBezTo>
                    <a:pt x="6214" y="342"/>
                    <a:pt x="26425" y="410"/>
                    <a:pt x="37281" y="2049"/>
                  </a:cubicBezTo>
                  <a:cubicBezTo>
                    <a:pt x="48138" y="3688"/>
                    <a:pt x="58448" y="6283"/>
                    <a:pt x="65139" y="9833"/>
                  </a:cubicBezTo>
                  <a:cubicBezTo>
                    <a:pt x="71830" y="13384"/>
                    <a:pt x="75381" y="21099"/>
                    <a:pt x="77429" y="23352"/>
                  </a:cubicBezTo>
                </a:path>
              </a:pathLst>
            </a:custGeom>
            <a:noFill/>
            <a:ln w="28575" cap="flat" cmpd="sng">
              <a:solidFill>
                <a:srgbClr val="18C8FF"/>
              </a:solidFill>
              <a:prstDash val="solid"/>
              <a:round/>
              <a:headEnd type="none" w="med" len="med"/>
              <a:tailEnd type="none" w="med" len="med"/>
            </a:ln>
          </p:spPr>
          <p:txBody>
            <a:bodyPr/>
            <a:lstStyle/>
            <a:p>
              <a:endParaRPr lang="en-US"/>
            </a:p>
          </p:txBody>
        </p:sp>
      </p:grpSp>
      <p:sp>
        <p:nvSpPr>
          <p:cNvPr id="1400" name="Google Shape;1400;p88"/>
          <p:cNvSpPr txBox="1"/>
          <p:nvPr/>
        </p:nvSpPr>
        <p:spPr>
          <a:xfrm>
            <a:off x="0" y="0"/>
            <a:ext cx="9144000" cy="9144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400" b="1">
                <a:solidFill>
                  <a:srgbClr val="1155CC"/>
                </a:solidFill>
              </a:rPr>
              <a:t>Age moderate the correlation between context differentiation of ECN-mPFC connectivity and norm violation sensitivity</a:t>
            </a:r>
            <a:endParaRPr sz="2400" b="1">
              <a:solidFill>
                <a:srgbClr val="1155CC"/>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404"/>
        <p:cNvGrpSpPr/>
        <p:nvPr/>
      </p:nvGrpSpPr>
      <p:grpSpPr>
        <a:xfrm>
          <a:off x="0" y="0"/>
          <a:ext cx="0" cy="0"/>
          <a:chOff x="0" y="0"/>
          <a:chExt cx="0" cy="0"/>
        </a:xfrm>
      </p:grpSpPr>
      <p:sp>
        <p:nvSpPr>
          <p:cNvPr id="1405" name="Google Shape;1405;p8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73</a:t>
            </a:fld>
            <a:endParaRPr/>
          </a:p>
        </p:txBody>
      </p:sp>
      <p:pic>
        <p:nvPicPr>
          <p:cNvPr id="1406" name="Google Shape;1406;p89" title="ECN_mPFC_in-out_age_BehFairSensitivityFull_scatter_classic_noOlder.png"/>
          <p:cNvPicPr preferRelativeResize="0"/>
          <p:nvPr/>
        </p:nvPicPr>
        <p:blipFill rotWithShape="1">
          <a:blip r:embed="rId3">
            <a:alphaModFix/>
          </a:blip>
          <a:srcRect r="19432"/>
          <a:stretch/>
        </p:blipFill>
        <p:spPr>
          <a:xfrm>
            <a:off x="4390400" y="1111633"/>
            <a:ext cx="4198409" cy="3794901"/>
          </a:xfrm>
          <a:prstGeom prst="rect">
            <a:avLst/>
          </a:prstGeom>
          <a:noFill/>
          <a:ln>
            <a:noFill/>
          </a:ln>
        </p:spPr>
      </p:pic>
      <p:pic>
        <p:nvPicPr>
          <p:cNvPr id="1407" name="Google Shape;1407;p89"/>
          <p:cNvPicPr preferRelativeResize="0"/>
          <p:nvPr/>
        </p:nvPicPr>
        <p:blipFill rotWithShape="1">
          <a:blip r:embed="rId4">
            <a:alphaModFix/>
          </a:blip>
          <a:srcRect l="80901" t="33213" b="46043"/>
          <a:stretch/>
        </p:blipFill>
        <p:spPr>
          <a:xfrm>
            <a:off x="7627650" y="2950542"/>
            <a:ext cx="1393499" cy="1100784"/>
          </a:xfrm>
          <a:prstGeom prst="rect">
            <a:avLst/>
          </a:prstGeom>
          <a:noFill/>
          <a:ln>
            <a:noFill/>
          </a:ln>
        </p:spPr>
      </p:pic>
      <p:sp>
        <p:nvSpPr>
          <p:cNvPr id="1408" name="Google Shape;1408;p89"/>
          <p:cNvSpPr txBox="1"/>
          <p:nvPr/>
        </p:nvSpPr>
        <p:spPr>
          <a:xfrm>
            <a:off x="-44300" y="4663225"/>
            <a:ext cx="7155000" cy="470100"/>
          </a:xfrm>
          <a:prstGeom prst="rect">
            <a:avLst/>
          </a:prstGeom>
          <a:noFill/>
          <a:ln>
            <a:noFill/>
          </a:ln>
        </p:spPr>
        <p:txBody>
          <a:bodyPr spcFirstLastPara="1" wrap="square" lIns="91425" tIns="91425" rIns="91425" bIns="91425" anchor="b" anchorCtr="0">
            <a:noAutofit/>
          </a:bodyPr>
          <a:lstStyle/>
          <a:p>
            <a:pPr marL="279400" lvl="0" indent="-279400" algn="l" rtl="0">
              <a:lnSpc>
                <a:spcPct val="100000"/>
              </a:lnSpc>
              <a:spcBef>
                <a:spcPts val="0"/>
              </a:spcBef>
              <a:spcAft>
                <a:spcPts val="0"/>
              </a:spcAft>
              <a:buNone/>
            </a:pPr>
            <a:r>
              <a:rPr lang="en" sz="1100" b="1">
                <a:solidFill>
                  <a:schemeClr val="dk1"/>
                </a:solidFill>
              </a:rPr>
              <a:t>Yang et al., in prep (1)</a:t>
            </a:r>
            <a:endParaRPr sz="1100" b="1">
              <a:solidFill>
                <a:schemeClr val="dk1"/>
              </a:solidFill>
            </a:endParaRPr>
          </a:p>
        </p:txBody>
      </p:sp>
      <p:grpSp>
        <p:nvGrpSpPr>
          <p:cNvPr id="1409" name="Google Shape;1409;p89"/>
          <p:cNvGrpSpPr/>
          <p:nvPr/>
        </p:nvGrpSpPr>
        <p:grpSpPr>
          <a:xfrm>
            <a:off x="355617" y="1111615"/>
            <a:ext cx="3861258" cy="1829926"/>
            <a:chOff x="463742" y="1005490"/>
            <a:chExt cx="3861258" cy="1829926"/>
          </a:xfrm>
        </p:grpSpPr>
        <p:pic>
          <p:nvPicPr>
            <p:cNvPr id="1410" name="Google Shape;1410;p89" title="ecn_p_in-out_o-y_sens-logit.png"/>
            <p:cNvPicPr preferRelativeResize="0"/>
            <p:nvPr/>
          </p:nvPicPr>
          <p:blipFill rotWithShape="1">
            <a:blip r:embed="rId5">
              <a:alphaModFix/>
            </a:blip>
            <a:srcRect l="44933" t="10739" b="45974"/>
            <a:stretch/>
          </p:blipFill>
          <p:spPr>
            <a:xfrm>
              <a:off x="2318026" y="1005490"/>
              <a:ext cx="2006974" cy="1829926"/>
            </a:xfrm>
            <a:prstGeom prst="rect">
              <a:avLst/>
            </a:prstGeom>
            <a:noFill/>
            <a:ln>
              <a:noFill/>
            </a:ln>
          </p:spPr>
        </p:pic>
        <p:grpSp>
          <p:nvGrpSpPr>
            <p:cNvPr id="1411" name="Google Shape;1411;p89"/>
            <p:cNvGrpSpPr/>
            <p:nvPr/>
          </p:nvGrpSpPr>
          <p:grpSpPr>
            <a:xfrm>
              <a:off x="463742" y="1183721"/>
              <a:ext cx="1727100" cy="663000"/>
              <a:chOff x="114467" y="1173421"/>
              <a:chExt cx="1727100" cy="663000"/>
            </a:xfrm>
          </p:grpSpPr>
          <p:grpSp>
            <p:nvGrpSpPr>
              <p:cNvPr id="1412" name="Google Shape;1412;p89"/>
              <p:cNvGrpSpPr/>
              <p:nvPr/>
            </p:nvGrpSpPr>
            <p:grpSpPr>
              <a:xfrm>
                <a:off x="197425" y="1194595"/>
                <a:ext cx="1582351" cy="599205"/>
                <a:chOff x="-9625" y="1107063"/>
                <a:chExt cx="1987628" cy="752676"/>
              </a:xfrm>
            </p:grpSpPr>
            <p:pic>
              <p:nvPicPr>
                <p:cNvPr id="1413" name="Google Shape;1413;p89" title="ECN_7cool.png"/>
                <p:cNvPicPr preferRelativeResize="0"/>
                <p:nvPr/>
              </p:nvPicPr>
              <p:blipFill rotWithShape="1">
                <a:blip r:embed="rId6">
                  <a:alphaModFix/>
                </a:blip>
                <a:srcRect t="11395" r="55952" b="51773"/>
                <a:stretch/>
              </p:blipFill>
              <p:spPr>
                <a:xfrm>
                  <a:off x="648489" y="1206657"/>
                  <a:ext cx="547751" cy="553498"/>
                </a:xfrm>
                <a:prstGeom prst="rect">
                  <a:avLst/>
                </a:prstGeom>
                <a:noFill/>
                <a:ln>
                  <a:noFill/>
                </a:ln>
              </p:spPr>
            </p:pic>
            <p:pic>
              <p:nvPicPr>
                <p:cNvPr id="1414" name="Google Shape;1414;p89" title="ECN_7cool.png"/>
                <p:cNvPicPr preferRelativeResize="0"/>
                <p:nvPr/>
              </p:nvPicPr>
              <p:blipFill rotWithShape="1">
                <a:blip r:embed="rId6">
                  <a:alphaModFix/>
                </a:blip>
                <a:srcRect l="43454" t="9886" b="45877"/>
                <a:stretch/>
              </p:blipFill>
              <p:spPr>
                <a:xfrm>
                  <a:off x="1274852" y="1151025"/>
                  <a:ext cx="703151" cy="664755"/>
                </a:xfrm>
                <a:prstGeom prst="rect">
                  <a:avLst/>
                </a:prstGeom>
                <a:noFill/>
                <a:ln>
                  <a:noFill/>
                </a:ln>
              </p:spPr>
            </p:pic>
            <p:pic>
              <p:nvPicPr>
                <p:cNvPr id="1415" name="Google Shape;1415;p89" title="ECN_7cool.png"/>
                <p:cNvPicPr preferRelativeResize="0"/>
                <p:nvPr/>
              </p:nvPicPr>
              <p:blipFill rotWithShape="1">
                <a:blip r:embed="rId6">
                  <a:alphaModFix/>
                </a:blip>
                <a:srcRect t="49917" r="55952"/>
                <a:stretch/>
              </p:blipFill>
              <p:spPr>
                <a:xfrm>
                  <a:off x="-9625" y="1107063"/>
                  <a:ext cx="547751" cy="752676"/>
                </a:xfrm>
                <a:prstGeom prst="rect">
                  <a:avLst/>
                </a:prstGeom>
                <a:noFill/>
                <a:ln>
                  <a:noFill/>
                </a:ln>
              </p:spPr>
            </p:pic>
          </p:grpSp>
          <p:sp>
            <p:nvSpPr>
              <p:cNvPr id="1416" name="Google Shape;1416;p89"/>
              <p:cNvSpPr/>
              <p:nvPr/>
            </p:nvSpPr>
            <p:spPr>
              <a:xfrm>
                <a:off x="114467" y="1173421"/>
                <a:ext cx="1727100" cy="663000"/>
              </a:xfrm>
              <a:prstGeom prst="roundRect">
                <a:avLst>
                  <a:gd name="adj" fmla="val 16667"/>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417" name="Google Shape;1417;p89"/>
            <p:cNvSpPr/>
            <p:nvPr/>
          </p:nvSpPr>
          <p:spPr>
            <a:xfrm>
              <a:off x="2190850" y="1421975"/>
              <a:ext cx="1969407" cy="393598"/>
            </a:xfrm>
            <a:custGeom>
              <a:avLst/>
              <a:gdLst/>
              <a:ahLst/>
              <a:cxnLst/>
              <a:rect l="l" t="t" r="r" b="b"/>
              <a:pathLst>
                <a:path w="77429" h="23352" extrusionOk="0">
                  <a:moveTo>
                    <a:pt x="0" y="0"/>
                  </a:moveTo>
                  <a:cubicBezTo>
                    <a:pt x="6214" y="342"/>
                    <a:pt x="26425" y="410"/>
                    <a:pt x="37281" y="2049"/>
                  </a:cubicBezTo>
                  <a:cubicBezTo>
                    <a:pt x="48138" y="3688"/>
                    <a:pt x="58448" y="6283"/>
                    <a:pt x="65139" y="9833"/>
                  </a:cubicBezTo>
                  <a:cubicBezTo>
                    <a:pt x="71830" y="13384"/>
                    <a:pt x="75381" y="21099"/>
                    <a:pt x="77429" y="23352"/>
                  </a:cubicBezTo>
                </a:path>
              </a:pathLst>
            </a:custGeom>
            <a:noFill/>
            <a:ln w="28575" cap="flat" cmpd="sng">
              <a:solidFill>
                <a:srgbClr val="18C8FF"/>
              </a:solidFill>
              <a:prstDash val="solid"/>
              <a:round/>
              <a:headEnd type="none" w="med" len="med"/>
              <a:tailEnd type="none" w="med" len="med"/>
            </a:ln>
          </p:spPr>
          <p:txBody>
            <a:bodyPr/>
            <a:lstStyle/>
            <a:p>
              <a:endParaRPr lang="en-US"/>
            </a:p>
          </p:txBody>
        </p:sp>
      </p:grpSp>
      <p:sp>
        <p:nvSpPr>
          <p:cNvPr id="1418" name="Google Shape;1418;p89"/>
          <p:cNvSpPr txBox="1"/>
          <p:nvPr/>
        </p:nvSpPr>
        <p:spPr>
          <a:xfrm>
            <a:off x="0" y="0"/>
            <a:ext cx="9144000" cy="9144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400" b="1">
                <a:solidFill>
                  <a:srgbClr val="1155CC"/>
                </a:solidFill>
              </a:rPr>
              <a:t>Age moderate the correlation between context differentiation of ECN-mPFC connectivity and norm violation sensitivity</a:t>
            </a:r>
            <a:endParaRPr sz="2400" b="1">
              <a:solidFill>
                <a:srgbClr val="1155CC"/>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422"/>
        <p:cNvGrpSpPr/>
        <p:nvPr/>
      </p:nvGrpSpPr>
      <p:grpSpPr>
        <a:xfrm>
          <a:off x="0" y="0"/>
          <a:ext cx="0" cy="0"/>
          <a:chOff x="0" y="0"/>
          <a:chExt cx="0" cy="0"/>
        </a:xfrm>
      </p:grpSpPr>
      <p:sp>
        <p:nvSpPr>
          <p:cNvPr id="1423" name="Google Shape;1423;p9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74</a:t>
            </a:fld>
            <a:endParaRPr/>
          </a:p>
        </p:txBody>
      </p:sp>
      <p:pic>
        <p:nvPicPr>
          <p:cNvPr id="1424" name="Google Shape;1424;p90" title="ECN_mPFC_in-out_age_BehFairSensitivityFull_scatter_classic_noOlder.png"/>
          <p:cNvPicPr preferRelativeResize="0"/>
          <p:nvPr/>
        </p:nvPicPr>
        <p:blipFill rotWithShape="1">
          <a:blip r:embed="rId3">
            <a:alphaModFix/>
          </a:blip>
          <a:srcRect r="19432"/>
          <a:stretch/>
        </p:blipFill>
        <p:spPr>
          <a:xfrm>
            <a:off x="4390400" y="1111633"/>
            <a:ext cx="4198409" cy="3794901"/>
          </a:xfrm>
          <a:prstGeom prst="rect">
            <a:avLst/>
          </a:prstGeom>
          <a:noFill/>
          <a:ln>
            <a:noFill/>
          </a:ln>
        </p:spPr>
      </p:pic>
      <p:pic>
        <p:nvPicPr>
          <p:cNvPr id="1425" name="Google Shape;1425;p90"/>
          <p:cNvPicPr preferRelativeResize="0"/>
          <p:nvPr/>
        </p:nvPicPr>
        <p:blipFill rotWithShape="1">
          <a:blip r:embed="rId4">
            <a:alphaModFix/>
          </a:blip>
          <a:srcRect r="19536"/>
          <a:stretch/>
        </p:blipFill>
        <p:spPr>
          <a:xfrm>
            <a:off x="4390400" y="1111625"/>
            <a:ext cx="4198400" cy="3794901"/>
          </a:xfrm>
          <a:prstGeom prst="rect">
            <a:avLst/>
          </a:prstGeom>
          <a:noFill/>
          <a:ln>
            <a:noFill/>
          </a:ln>
        </p:spPr>
      </p:pic>
      <p:pic>
        <p:nvPicPr>
          <p:cNvPr id="1426" name="Google Shape;1426;p90"/>
          <p:cNvPicPr preferRelativeResize="0"/>
          <p:nvPr/>
        </p:nvPicPr>
        <p:blipFill rotWithShape="1">
          <a:blip r:embed="rId4">
            <a:alphaModFix/>
          </a:blip>
          <a:srcRect l="80901" t="33213" b="46043"/>
          <a:stretch/>
        </p:blipFill>
        <p:spPr>
          <a:xfrm>
            <a:off x="7627650" y="2950542"/>
            <a:ext cx="1393499" cy="1100784"/>
          </a:xfrm>
          <a:prstGeom prst="rect">
            <a:avLst/>
          </a:prstGeom>
          <a:noFill/>
          <a:ln>
            <a:noFill/>
          </a:ln>
        </p:spPr>
      </p:pic>
      <p:sp>
        <p:nvSpPr>
          <p:cNvPr id="1427" name="Google Shape;1427;p90"/>
          <p:cNvSpPr txBox="1"/>
          <p:nvPr/>
        </p:nvSpPr>
        <p:spPr>
          <a:xfrm>
            <a:off x="-44300" y="4663225"/>
            <a:ext cx="7155000" cy="470100"/>
          </a:xfrm>
          <a:prstGeom prst="rect">
            <a:avLst/>
          </a:prstGeom>
          <a:noFill/>
          <a:ln>
            <a:noFill/>
          </a:ln>
        </p:spPr>
        <p:txBody>
          <a:bodyPr spcFirstLastPara="1" wrap="square" lIns="91425" tIns="91425" rIns="91425" bIns="91425" anchor="b" anchorCtr="0">
            <a:noAutofit/>
          </a:bodyPr>
          <a:lstStyle/>
          <a:p>
            <a:pPr marL="279400" lvl="0" indent="-279400" algn="l" rtl="0">
              <a:lnSpc>
                <a:spcPct val="100000"/>
              </a:lnSpc>
              <a:spcBef>
                <a:spcPts val="0"/>
              </a:spcBef>
              <a:spcAft>
                <a:spcPts val="0"/>
              </a:spcAft>
              <a:buNone/>
            </a:pPr>
            <a:r>
              <a:rPr lang="en" sz="1100" b="1">
                <a:solidFill>
                  <a:schemeClr val="dk1"/>
                </a:solidFill>
              </a:rPr>
              <a:t>Yang et al., in prep (1)</a:t>
            </a:r>
            <a:endParaRPr sz="1100" b="1">
              <a:solidFill>
                <a:schemeClr val="dk1"/>
              </a:solidFill>
            </a:endParaRPr>
          </a:p>
        </p:txBody>
      </p:sp>
      <p:sp>
        <p:nvSpPr>
          <p:cNvPr id="1428" name="Google Shape;1428;p90"/>
          <p:cNvSpPr txBox="1"/>
          <p:nvPr/>
        </p:nvSpPr>
        <p:spPr>
          <a:xfrm>
            <a:off x="0" y="0"/>
            <a:ext cx="9144000" cy="9144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400" b="1">
                <a:solidFill>
                  <a:srgbClr val="1155CC"/>
                </a:solidFill>
              </a:rPr>
              <a:t>Age moderate the correlation between context differentiation of ECN-mPFC connectivity and norm violation sensitivity</a:t>
            </a:r>
            <a:endParaRPr sz="2400" b="1">
              <a:solidFill>
                <a:srgbClr val="1155CC"/>
              </a:solidFill>
            </a:endParaRPr>
          </a:p>
        </p:txBody>
      </p:sp>
      <p:grpSp>
        <p:nvGrpSpPr>
          <p:cNvPr id="1429" name="Google Shape;1429;p90"/>
          <p:cNvGrpSpPr/>
          <p:nvPr/>
        </p:nvGrpSpPr>
        <p:grpSpPr>
          <a:xfrm>
            <a:off x="355617" y="1111615"/>
            <a:ext cx="3861258" cy="1829926"/>
            <a:chOff x="463742" y="1005490"/>
            <a:chExt cx="3861258" cy="1829926"/>
          </a:xfrm>
        </p:grpSpPr>
        <p:pic>
          <p:nvPicPr>
            <p:cNvPr id="1430" name="Google Shape;1430;p90" title="ecn_p_in-out_o-y_sens-logit.png"/>
            <p:cNvPicPr preferRelativeResize="0"/>
            <p:nvPr/>
          </p:nvPicPr>
          <p:blipFill rotWithShape="1">
            <a:blip r:embed="rId5">
              <a:alphaModFix/>
            </a:blip>
            <a:srcRect l="44933" t="10739" b="45974"/>
            <a:stretch/>
          </p:blipFill>
          <p:spPr>
            <a:xfrm>
              <a:off x="2318026" y="1005490"/>
              <a:ext cx="2006974" cy="1829926"/>
            </a:xfrm>
            <a:prstGeom prst="rect">
              <a:avLst/>
            </a:prstGeom>
            <a:noFill/>
            <a:ln>
              <a:noFill/>
            </a:ln>
          </p:spPr>
        </p:pic>
        <p:grpSp>
          <p:nvGrpSpPr>
            <p:cNvPr id="1431" name="Google Shape;1431;p90"/>
            <p:cNvGrpSpPr/>
            <p:nvPr/>
          </p:nvGrpSpPr>
          <p:grpSpPr>
            <a:xfrm>
              <a:off x="463742" y="1183721"/>
              <a:ext cx="1727100" cy="663000"/>
              <a:chOff x="114467" y="1173421"/>
              <a:chExt cx="1727100" cy="663000"/>
            </a:xfrm>
          </p:grpSpPr>
          <p:grpSp>
            <p:nvGrpSpPr>
              <p:cNvPr id="1432" name="Google Shape;1432;p90"/>
              <p:cNvGrpSpPr/>
              <p:nvPr/>
            </p:nvGrpSpPr>
            <p:grpSpPr>
              <a:xfrm>
                <a:off x="197425" y="1194595"/>
                <a:ext cx="1582351" cy="599205"/>
                <a:chOff x="-9625" y="1107063"/>
                <a:chExt cx="1987628" cy="752676"/>
              </a:xfrm>
            </p:grpSpPr>
            <p:pic>
              <p:nvPicPr>
                <p:cNvPr id="1433" name="Google Shape;1433;p90" title="ECN_7cool.png"/>
                <p:cNvPicPr preferRelativeResize="0"/>
                <p:nvPr/>
              </p:nvPicPr>
              <p:blipFill rotWithShape="1">
                <a:blip r:embed="rId6">
                  <a:alphaModFix/>
                </a:blip>
                <a:srcRect t="11395" r="55952" b="51773"/>
                <a:stretch/>
              </p:blipFill>
              <p:spPr>
                <a:xfrm>
                  <a:off x="648489" y="1206657"/>
                  <a:ext cx="547751" cy="553498"/>
                </a:xfrm>
                <a:prstGeom prst="rect">
                  <a:avLst/>
                </a:prstGeom>
                <a:noFill/>
                <a:ln>
                  <a:noFill/>
                </a:ln>
              </p:spPr>
            </p:pic>
            <p:pic>
              <p:nvPicPr>
                <p:cNvPr id="1434" name="Google Shape;1434;p90" title="ECN_7cool.png"/>
                <p:cNvPicPr preferRelativeResize="0"/>
                <p:nvPr/>
              </p:nvPicPr>
              <p:blipFill rotWithShape="1">
                <a:blip r:embed="rId6">
                  <a:alphaModFix/>
                </a:blip>
                <a:srcRect l="43454" t="9886" b="45877"/>
                <a:stretch/>
              </p:blipFill>
              <p:spPr>
                <a:xfrm>
                  <a:off x="1274852" y="1151025"/>
                  <a:ext cx="703151" cy="664755"/>
                </a:xfrm>
                <a:prstGeom prst="rect">
                  <a:avLst/>
                </a:prstGeom>
                <a:noFill/>
                <a:ln>
                  <a:noFill/>
                </a:ln>
              </p:spPr>
            </p:pic>
            <p:pic>
              <p:nvPicPr>
                <p:cNvPr id="1435" name="Google Shape;1435;p90" title="ECN_7cool.png"/>
                <p:cNvPicPr preferRelativeResize="0"/>
                <p:nvPr/>
              </p:nvPicPr>
              <p:blipFill rotWithShape="1">
                <a:blip r:embed="rId6">
                  <a:alphaModFix/>
                </a:blip>
                <a:srcRect t="49917" r="55952"/>
                <a:stretch/>
              </p:blipFill>
              <p:spPr>
                <a:xfrm>
                  <a:off x="-9625" y="1107063"/>
                  <a:ext cx="547751" cy="752676"/>
                </a:xfrm>
                <a:prstGeom prst="rect">
                  <a:avLst/>
                </a:prstGeom>
                <a:noFill/>
                <a:ln>
                  <a:noFill/>
                </a:ln>
              </p:spPr>
            </p:pic>
          </p:grpSp>
          <p:sp>
            <p:nvSpPr>
              <p:cNvPr id="1436" name="Google Shape;1436;p90"/>
              <p:cNvSpPr/>
              <p:nvPr/>
            </p:nvSpPr>
            <p:spPr>
              <a:xfrm>
                <a:off x="114467" y="1173421"/>
                <a:ext cx="1727100" cy="663000"/>
              </a:xfrm>
              <a:prstGeom prst="roundRect">
                <a:avLst>
                  <a:gd name="adj" fmla="val 16667"/>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437" name="Google Shape;1437;p90"/>
            <p:cNvSpPr/>
            <p:nvPr/>
          </p:nvSpPr>
          <p:spPr>
            <a:xfrm>
              <a:off x="2190850" y="1421975"/>
              <a:ext cx="1969407" cy="393598"/>
            </a:xfrm>
            <a:custGeom>
              <a:avLst/>
              <a:gdLst/>
              <a:ahLst/>
              <a:cxnLst/>
              <a:rect l="l" t="t" r="r" b="b"/>
              <a:pathLst>
                <a:path w="77429" h="23352" extrusionOk="0">
                  <a:moveTo>
                    <a:pt x="0" y="0"/>
                  </a:moveTo>
                  <a:cubicBezTo>
                    <a:pt x="6214" y="342"/>
                    <a:pt x="26425" y="410"/>
                    <a:pt x="37281" y="2049"/>
                  </a:cubicBezTo>
                  <a:cubicBezTo>
                    <a:pt x="48138" y="3688"/>
                    <a:pt x="58448" y="6283"/>
                    <a:pt x="65139" y="9833"/>
                  </a:cubicBezTo>
                  <a:cubicBezTo>
                    <a:pt x="71830" y="13384"/>
                    <a:pt x="75381" y="21099"/>
                    <a:pt x="77429" y="23352"/>
                  </a:cubicBezTo>
                </a:path>
              </a:pathLst>
            </a:custGeom>
            <a:noFill/>
            <a:ln w="28575" cap="flat" cmpd="sng">
              <a:solidFill>
                <a:srgbClr val="18C8FF"/>
              </a:solidFill>
              <a:prstDash val="solid"/>
              <a:round/>
              <a:headEnd type="none" w="med" len="med"/>
              <a:tailEnd type="none" w="med" len="med"/>
            </a:ln>
          </p:spPr>
          <p:txBody>
            <a:bodyPr/>
            <a:lstStyle/>
            <a:p>
              <a:endParaRPr lang="en-US"/>
            </a:p>
          </p:txBody>
        </p:sp>
      </p:gr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441"/>
        <p:cNvGrpSpPr/>
        <p:nvPr/>
      </p:nvGrpSpPr>
      <p:grpSpPr>
        <a:xfrm>
          <a:off x="0" y="0"/>
          <a:ext cx="0" cy="0"/>
          <a:chOff x="0" y="0"/>
          <a:chExt cx="0" cy="0"/>
        </a:xfrm>
      </p:grpSpPr>
      <p:sp>
        <p:nvSpPr>
          <p:cNvPr id="1442" name="Google Shape;1442;p91"/>
          <p:cNvSpPr txBox="1"/>
          <p:nvPr/>
        </p:nvSpPr>
        <p:spPr>
          <a:xfrm>
            <a:off x="253875" y="2950550"/>
            <a:ext cx="4198500" cy="1242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2000">
                <a:solidFill>
                  <a:schemeClr val="dk1"/>
                </a:solidFill>
                <a:latin typeface="Roboto"/>
                <a:ea typeface="Roboto"/>
                <a:cs typeface="Roboto"/>
                <a:sym typeface="Roboto"/>
              </a:rPr>
              <a:t>Social information processing might be fundamentally different between younger and older adults.</a:t>
            </a:r>
            <a:endParaRPr sz="2000">
              <a:solidFill>
                <a:srgbClr val="CCCCCC"/>
              </a:solidFill>
              <a:highlight>
                <a:schemeClr val="lt1"/>
              </a:highlight>
            </a:endParaRPr>
          </a:p>
        </p:txBody>
      </p:sp>
      <p:sp>
        <p:nvSpPr>
          <p:cNvPr id="1443" name="Google Shape;1443;p9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75</a:t>
            </a:fld>
            <a:endParaRPr/>
          </a:p>
        </p:txBody>
      </p:sp>
      <p:pic>
        <p:nvPicPr>
          <p:cNvPr id="1444" name="Google Shape;1444;p91" title="ECN_mPFC_in-out_age_BehFairSensitivityFull_scatter_classic_noOlder.png"/>
          <p:cNvPicPr preferRelativeResize="0"/>
          <p:nvPr/>
        </p:nvPicPr>
        <p:blipFill rotWithShape="1">
          <a:blip r:embed="rId3">
            <a:alphaModFix/>
          </a:blip>
          <a:srcRect r="19432"/>
          <a:stretch/>
        </p:blipFill>
        <p:spPr>
          <a:xfrm>
            <a:off x="4390400" y="1111633"/>
            <a:ext cx="4198409" cy="3794901"/>
          </a:xfrm>
          <a:prstGeom prst="rect">
            <a:avLst/>
          </a:prstGeom>
          <a:noFill/>
          <a:ln>
            <a:noFill/>
          </a:ln>
        </p:spPr>
      </p:pic>
      <p:pic>
        <p:nvPicPr>
          <p:cNvPr id="1445" name="Google Shape;1445;p91"/>
          <p:cNvPicPr preferRelativeResize="0"/>
          <p:nvPr/>
        </p:nvPicPr>
        <p:blipFill rotWithShape="1">
          <a:blip r:embed="rId4">
            <a:alphaModFix/>
          </a:blip>
          <a:srcRect r="19536"/>
          <a:stretch/>
        </p:blipFill>
        <p:spPr>
          <a:xfrm>
            <a:off x="4390400" y="1111625"/>
            <a:ext cx="4198400" cy="3794901"/>
          </a:xfrm>
          <a:prstGeom prst="rect">
            <a:avLst/>
          </a:prstGeom>
          <a:noFill/>
          <a:ln>
            <a:noFill/>
          </a:ln>
        </p:spPr>
      </p:pic>
      <p:pic>
        <p:nvPicPr>
          <p:cNvPr id="1446" name="Google Shape;1446;p91"/>
          <p:cNvPicPr preferRelativeResize="0"/>
          <p:nvPr/>
        </p:nvPicPr>
        <p:blipFill rotWithShape="1">
          <a:blip r:embed="rId4">
            <a:alphaModFix/>
          </a:blip>
          <a:srcRect l="80901" t="33213" b="46043"/>
          <a:stretch/>
        </p:blipFill>
        <p:spPr>
          <a:xfrm>
            <a:off x="7627650" y="2950542"/>
            <a:ext cx="1393499" cy="1100784"/>
          </a:xfrm>
          <a:prstGeom prst="rect">
            <a:avLst/>
          </a:prstGeom>
          <a:noFill/>
          <a:ln>
            <a:noFill/>
          </a:ln>
        </p:spPr>
      </p:pic>
      <p:sp>
        <p:nvSpPr>
          <p:cNvPr id="1447" name="Google Shape;1447;p91"/>
          <p:cNvSpPr txBox="1"/>
          <p:nvPr/>
        </p:nvSpPr>
        <p:spPr>
          <a:xfrm>
            <a:off x="-44300" y="4663225"/>
            <a:ext cx="7155000" cy="470100"/>
          </a:xfrm>
          <a:prstGeom prst="rect">
            <a:avLst/>
          </a:prstGeom>
          <a:noFill/>
          <a:ln>
            <a:noFill/>
          </a:ln>
        </p:spPr>
        <p:txBody>
          <a:bodyPr spcFirstLastPara="1" wrap="square" lIns="91425" tIns="91425" rIns="91425" bIns="91425" anchor="b" anchorCtr="0">
            <a:noAutofit/>
          </a:bodyPr>
          <a:lstStyle/>
          <a:p>
            <a:pPr marL="279400" lvl="0" indent="-279400" algn="l" rtl="0">
              <a:lnSpc>
                <a:spcPct val="100000"/>
              </a:lnSpc>
              <a:spcBef>
                <a:spcPts val="0"/>
              </a:spcBef>
              <a:spcAft>
                <a:spcPts val="0"/>
              </a:spcAft>
              <a:buNone/>
            </a:pPr>
            <a:r>
              <a:rPr lang="en" sz="1100" b="1">
                <a:solidFill>
                  <a:schemeClr val="dk1"/>
                </a:solidFill>
              </a:rPr>
              <a:t>Yang et al., in prep (1)</a:t>
            </a:r>
            <a:endParaRPr sz="1100" b="1">
              <a:solidFill>
                <a:schemeClr val="dk1"/>
              </a:solidFill>
            </a:endParaRPr>
          </a:p>
        </p:txBody>
      </p:sp>
      <p:sp>
        <p:nvSpPr>
          <p:cNvPr id="1448" name="Google Shape;1448;p91"/>
          <p:cNvSpPr txBox="1"/>
          <p:nvPr/>
        </p:nvSpPr>
        <p:spPr>
          <a:xfrm>
            <a:off x="0" y="0"/>
            <a:ext cx="9144000" cy="9144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400" b="1">
                <a:solidFill>
                  <a:srgbClr val="1155CC"/>
                </a:solidFill>
              </a:rPr>
              <a:t>Age moderate the correlation between context differentiation of ECN-mPFC connectivity and norm violation sensitivity</a:t>
            </a:r>
            <a:endParaRPr sz="2400" b="1">
              <a:solidFill>
                <a:srgbClr val="1155CC"/>
              </a:solidFill>
            </a:endParaRPr>
          </a:p>
        </p:txBody>
      </p:sp>
      <p:grpSp>
        <p:nvGrpSpPr>
          <p:cNvPr id="1449" name="Google Shape;1449;p91"/>
          <p:cNvGrpSpPr/>
          <p:nvPr/>
        </p:nvGrpSpPr>
        <p:grpSpPr>
          <a:xfrm>
            <a:off x="355617" y="1111615"/>
            <a:ext cx="3861258" cy="1829926"/>
            <a:chOff x="463742" y="1005490"/>
            <a:chExt cx="3861258" cy="1829926"/>
          </a:xfrm>
        </p:grpSpPr>
        <p:pic>
          <p:nvPicPr>
            <p:cNvPr id="1450" name="Google Shape;1450;p91" title="ecn_p_in-out_o-y_sens-logit.png"/>
            <p:cNvPicPr preferRelativeResize="0"/>
            <p:nvPr/>
          </p:nvPicPr>
          <p:blipFill rotWithShape="1">
            <a:blip r:embed="rId5">
              <a:alphaModFix/>
            </a:blip>
            <a:srcRect l="44933" t="10739" b="45974"/>
            <a:stretch/>
          </p:blipFill>
          <p:spPr>
            <a:xfrm>
              <a:off x="2318026" y="1005490"/>
              <a:ext cx="2006974" cy="1829926"/>
            </a:xfrm>
            <a:prstGeom prst="rect">
              <a:avLst/>
            </a:prstGeom>
            <a:noFill/>
            <a:ln>
              <a:noFill/>
            </a:ln>
          </p:spPr>
        </p:pic>
        <p:grpSp>
          <p:nvGrpSpPr>
            <p:cNvPr id="1451" name="Google Shape;1451;p91"/>
            <p:cNvGrpSpPr/>
            <p:nvPr/>
          </p:nvGrpSpPr>
          <p:grpSpPr>
            <a:xfrm>
              <a:off x="463742" y="1183721"/>
              <a:ext cx="1727100" cy="663000"/>
              <a:chOff x="114467" y="1173421"/>
              <a:chExt cx="1727100" cy="663000"/>
            </a:xfrm>
          </p:grpSpPr>
          <p:grpSp>
            <p:nvGrpSpPr>
              <p:cNvPr id="1452" name="Google Shape;1452;p91"/>
              <p:cNvGrpSpPr/>
              <p:nvPr/>
            </p:nvGrpSpPr>
            <p:grpSpPr>
              <a:xfrm>
                <a:off x="197425" y="1194595"/>
                <a:ext cx="1582351" cy="599205"/>
                <a:chOff x="-9625" y="1107063"/>
                <a:chExt cx="1987628" cy="752676"/>
              </a:xfrm>
            </p:grpSpPr>
            <p:pic>
              <p:nvPicPr>
                <p:cNvPr id="1453" name="Google Shape;1453;p91" title="ECN_7cool.png"/>
                <p:cNvPicPr preferRelativeResize="0"/>
                <p:nvPr/>
              </p:nvPicPr>
              <p:blipFill rotWithShape="1">
                <a:blip r:embed="rId6">
                  <a:alphaModFix/>
                </a:blip>
                <a:srcRect t="11395" r="55952" b="51773"/>
                <a:stretch/>
              </p:blipFill>
              <p:spPr>
                <a:xfrm>
                  <a:off x="648489" y="1206657"/>
                  <a:ext cx="547751" cy="553498"/>
                </a:xfrm>
                <a:prstGeom prst="rect">
                  <a:avLst/>
                </a:prstGeom>
                <a:noFill/>
                <a:ln>
                  <a:noFill/>
                </a:ln>
              </p:spPr>
            </p:pic>
            <p:pic>
              <p:nvPicPr>
                <p:cNvPr id="1454" name="Google Shape;1454;p91" title="ECN_7cool.png"/>
                <p:cNvPicPr preferRelativeResize="0"/>
                <p:nvPr/>
              </p:nvPicPr>
              <p:blipFill rotWithShape="1">
                <a:blip r:embed="rId6">
                  <a:alphaModFix/>
                </a:blip>
                <a:srcRect l="43454" t="9886" b="45877"/>
                <a:stretch/>
              </p:blipFill>
              <p:spPr>
                <a:xfrm>
                  <a:off x="1274852" y="1151025"/>
                  <a:ext cx="703151" cy="664755"/>
                </a:xfrm>
                <a:prstGeom prst="rect">
                  <a:avLst/>
                </a:prstGeom>
                <a:noFill/>
                <a:ln>
                  <a:noFill/>
                </a:ln>
              </p:spPr>
            </p:pic>
            <p:pic>
              <p:nvPicPr>
                <p:cNvPr id="1455" name="Google Shape;1455;p91" title="ECN_7cool.png"/>
                <p:cNvPicPr preferRelativeResize="0"/>
                <p:nvPr/>
              </p:nvPicPr>
              <p:blipFill rotWithShape="1">
                <a:blip r:embed="rId6">
                  <a:alphaModFix/>
                </a:blip>
                <a:srcRect t="49917" r="55952"/>
                <a:stretch/>
              </p:blipFill>
              <p:spPr>
                <a:xfrm>
                  <a:off x="-9625" y="1107063"/>
                  <a:ext cx="547751" cy="752676"/>
                </a:xfrm>
                <a:prstGeom prst="rect">
                  <a:avLst/>
                </a:prstGeom>
                <a:noFill/>
                <a:ln>
                  <a:noFill/>
                </a:ln>
              </p:spPr>
            </p:pic>
          </p:grpSp>
          <p:sp>
            <p:nvSpPr>
              <p:cNvPr id="1456" name="Google Shape;1456;p91"/>
              <p:cNvSpPr/>
              <p:nvPr/>
            </p:nvSpPr>
            <p:spPr>
              <a:xfrm>
                <a:off x="114467" y="1173421"/>
                <a:ext cx="1727100" cy="663000"/>
              </a:xfrm>
              <a:prstGeom prst="roundRect">
                <a:avLst>
                  <a:gd name="adj" fmla="val 16667"/>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457" name="Google Shape;1457;p91"/>
            <p:cNvSpPr/>
            <p:nvPr/>
          </p:nvSpPr>
          <p:spPr>
            <a:xfrm>
              <a:off x="2190850" y="1421975"/>
              <a:ext cx="1969407" cy="393598"/>
            </a:xfrm>
            <a:custGeom>
              <a:avLst/>
              <a:gdLst/>
              <a:ahLst/>
              <a:cxnLst/>
              <a:rect l="l" t="t" r="r" b="b"/>
              <a:pathLst>
                <a:path w="77429" h="23352" extrusionOk="0">
                  <a:moveTo>
                    <a:pt x="0" y="0"/>
                  </a:moveTo>
                  <a:cubicBezTo>
                    <a:pt x="6214" y="342"/>
                    <a:pt x="26425" y="410"/>
                    <a:pt x="37281" y="2049"/>
                  </a:cubicBezTo>
                  <a:cubicBezTo>
                    <a:pt x="48138" y="3688"/>
                    <a:pt x="58448" y="6283"/>
                    <a:pt x="65139" y="9833"/>
                  </a:cubicBezTo>
                  <a:cubicBezTo>
                    <a:pt x="71830" y="13384"/>
                    <a:pt x="75381" y="21099"/>
                    <a:pt x="77429" y="23352"/>
                  </a:cubicBezTo>
                </a:path>
              </a:pathLst>
            </a:custGeom>
            <a:noFill/>
            <a:ln w="28575" cap="flat" cmpd="sng">
              <a:solidFill>
                <a:srgbClr val="18C8FF"/>
              </a:solidFill>
              <a:prstDash val="solid"/>
              <a:round/>
              <a:headEnd type="none" w="med" len="med"/>
              <a:tailEnd type="none" w="med" len="med"/>
            </a:ln>
          </p:spPr>
          <p:txBody>
            <a:bodyPr/>
            <a:lstStyle/>
            <a:p>
              <a:endParaRPr lang="en-US"/>
            </a:p>
          </p:txBody>
        </p:sp>
      </p:gr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461"/>
        <p:cNvGrpSpPr/>
        <p:nvPr/>
      </p:nvGrpSpPr>
      <p:grpSpPr>
        <a:xfrm>
          <a:off x="0" y="0"/>
          <a:ext cx="0" cy="0"/>
          <a:chOff x="0" y="0"/>
          <a:chExt cx="0" cy="0"/>
        </a:xfrm>
      </p:grpSpPr>
      <p:sp>
        <p:nvSpPr>
          <p:cNvPr id="1462" name="Google Shape;1462;p9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76</a:t>
            </a:fld>
            <a:endParaRPr/>
          </a:p>
        </p:txBody>
      </p:sp>
      <p:sp>
        <p:nvSpPr>
          <p:cNvPr id="1463" name="Google Shape;1463;p92"/>
          <p:cNvSpPr txBox="1"/>
          <p:nvPr/>
        </p:nvSpPr>
        <p:spPr>
          <a:xfrm>
            <a:off x="248775" y="1321500"/>
            <a:ext cx="6827700" cy="2500500"/>
          </a:xfrm>
          <a:prstGeom prst="rect">
            <a:avLst/>
          </a:prstGeom>
          <a:noFill/>
          <a:ln>
            <a:noFill/>
          </a:ln>
        </p:spPr>
        <p:txBody>
          <a:bodyPr spcFirstLastPara="1" wrap="square" lIns="91425" tIns="91425" rIns="91425" bIns="91425" anchor="t" anchorCtr="0">
            <a:noAutofit/>
          </a:bodyPr>
          <a:lstStyle/>
          <a:p>
            <a:pPr marL="457200" lvl="0" indent="-368300" algn="l" rtl="0">
              <a:lnSpc>
                <a:spcPct val="115000"/>
              </a:lnSpc>
              <a:spcBef>
                <a:spcPts val="0"/>
              </a:spcBef>
              <a:spcAft>
                <a:spcPts val="0"/>
              </a:spcAft>
              <a:buClr>
                <a:schemeClr val="dk1"/>
              </a:buClr>
              <a:buSzPts val="2200"/>
              <a:buChar char="●"/>
            </a:pPr>
            <a:r>
              <a:rPr lang="en" sz="2200" b="1">
                <a:solidFill>
                  <a:schemeClr val="dk1"/>
                </a:solidFill>
              </a:rPr>
              <a:t>Functional connectivity</a:t>
            </a:r>
            <a:br>
              <a:rPr lang="en" sz="2200">
                <a:solidFill>
                  <a:schemeClr val="dk1"/>
                </a:solidFill>
              </a:rPr>
            </a:br>
            <a:r>
              <a:rPr lang="en" sz="2200" b="1">
                <a:solidFill>
                  <a:srgbClr val="38761D"/>
                </a:solidFill>
              </a:rPr>
              <a:t>- Default Mode Network (DMN)</a:t>
            </a:r>
            <a:br>
              <a:rPr lang="en" sz="2200">
                <a:solidFill>
                  <a:schemeClr val="dk1"/>
                </a:solidFill>
              </a:rPr>
            </a:br>
            <a:r>
              <a:rPr lang="en" sz="2200">
                <a:solidFill>
                  <a:srgbClr val="3C78D8"/>
                </a:solidFill>
              </a:rPr>
              <a:t>- Executive Control Network (ECN) </a:t>
            </a:r>
            <a:r>
              <a:rPr lang="en" sz="2200">
                <a:solidFill>
                  <a:schemeClr val="dk1"/>
                </a:solidFill>
              </a:rPr>
              <a:t> </a:t>
            </a:r>
            <a:endParaRPr sz="2200">
              <a:solidFill>
                <a:schemeClr val="dk1"/>
              </a:solidFill>
            </a:endParaRPr>
          </a:p>
          <a:p>
            <a:pPr marL="457200" lvl="0" indent="-368300" algn="l" rtl="0">
              <a:lnSpc>
                <a:spcPct val="115000"/>
              </a:lnSpc>
              <a:spcBef>
                <a:spcPts val="1000"/>
              </a:spcBef>
              <a:spcAft>
                <a:spcPts val="1000"/>
              </a:spcAft>
              <a:buClr>
                <a:schemeClr val="dk1"/>
              </a:buClr>
              <a:buSzPts val="2200"/>
              <a:buChar char="●"/>
            </a:pPr>
            <a:r>
              <a:rPr lang="en" sz="2200" b="1">
                <a:solidFill>
                  <a:schemeClr val="dk1"/>
                </a:solidFill>
              </a:rPr>
              <a:t>Connectivity-behavior association</a:t>
            </a:r>
            <a:br>
              <a:rPr lang="en" sz="2200" b="1">
                <a:solidFill>
                  <a:schemeClr val="dk1"/>
                </a:solidFill>
              </a:rPr>
            </a:br>
            <a:r>
              <a:rPr lang="en" sz="2200">
                <a:solidFill>
                  <a:schemeClr val="dk1"/>
                </a:solidFill>
              </a:rPr>
              <a:t>- Fairness norm</a:t>
            </a:r>
            <a:br>
              <a:rPr lang="en" sz="2200">
                <a:solidFill>
                  <a:schemeClr val="dk1"/>
                </a:solidFill>
              </a:rPr>
            </a:br>
            <a:r>
              <a:rPr lang="en" sz="2200" b="1">
                <a:solidFill>
                  <a:srgbClr val="3C78D8"/>
                </a:solidFill>
              </a:rPr>
              <a:t>- Norm violation sensitivity</a:t>
            </a:r>
            <a:endParaRPr sz="2200" b="1">
              <a:solidFill>
                <a:srgbClr val="3C78D8"/>
              </a:solidFill>
            </a:endParaRPr>
          </a:p>
        </p:txBody>
      </p:sp>
      <p:sp>
        <p:nvSpPr>
          <p:cNvPr id="1464" name="Google Shape;1464;p92"/>
          <p:cNvSpPr txBox="1"/>
          <p:nvPr/>
        </p:nvSpPr>
        <p:spPr>
          <a:xfrm>
            <a:off x="4391847" y="3303645"/>
            <a:ext cx="548700" cy="54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800" b="1">
                <a:solidFill>
                  <a:srgbClr val="3C78D8"/>
                </a:solidFill>
                <a:latin typeface="Roboto"/>
                <a:ea typeface="Roboto"/>
                <a:cs typeface="Roboto"/>
                <a:sym typeface="Roboto"/>
              </a:rPr>
              <a:t>✔</a:t>
            </a:r>
            <a:endParaRPr sz="2800" b="1">
              <a:solidFill>
                <a:srgbClr val="3C78D8"/>
              </a:solidFill>
            </a:endParaRPr>
          </a:p>
        </p:txBody>
      </p:sp>
      <p:sp>
        <p:nvSpPr>
          <p:cNvPr id="1465" name="Google Shape;1465;p92"/>
          <p:cNvSpPr txBox="1"/>
          <p:nvPr/>
        </p:nvSpPr>
        <p:spPr>
          <a:xfrm>
            <a:off x="-44300" y="4663225"/>
            <a:ext cx="7155000" cy="470100"/>
          </a:xfrm>
          <a:prstGeom prst="rect">
            <a:avLst/>
          </a:prstGeom>
          <a:noFill/>
          <a:ln>
            <a:noFill/>
          </a:ln>
        </p:spPr>
        <p:txBody>
          <a:bodyPr spcFirstLastPara="1" wrap="square" lIns="91425" tIns="91425" rIns="91425" bIns="91425" anchor="b" anchorCtr="0">
            <a:noAutofit/>
          </a:bodyPr>
          <a:lstStyle/>
          <a:p>
            <a:pPr marL="279400" lvl="0" indent="-279400" algn="l" rtl="0">
              <a:lnSpc>
                <a:spcPct val="100000"/>
              </a:lnSpc>
              <a:spcBef>
                <a:spcPts val="0"/>
              </a:spcBef>
              <a:spcAft>
                <a:spcPts val="0"/>
              </a:spcAft>
              <a:buNone/>
            </a:pPr>
            <a:r>
              <a:rPr lang="en" sz="1100" b="1">
                <a:solidFill>
                  <a:schemeClr val="dk1"/>
                </a:solidFill>
              </a:rPr>
              <a:t>Yang et al., in prep (1)</a:t>
            </a:r>
            <a:endParaRPr sz="1100" b="1">
              <a:solidFill>
                <a:schemeClr val="dk1"/>
              </a:solidFill>
            </a:endParaRPr>
          </a:p>
        </p:txBody>
      </p:sp>
      <p:sp>
        <p:nvSpPr>
          <p:cNvPr id="1466" name="Google Shape;1466;p92"/>
          <p:cNvSpPr txBox="1"/>
          <p:nvPr/>
        </p:nvSpPr>
        <p:spPr>
          <a:xfrm>
            <a:off x="4810750" y="1616525"/>
            <a:ext cx="548700" cy="54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800" b="1">
                <a:solidFill>
                  <a:srgbClr val="38761D"/>
                </a:solidFill>
                <a:latin typeface="Roboto"/>
                <a:ea typeface="Roboto"/>
                <a:cs typeface="Roboto"/>
                <a:sym typeface="Roboto"/>
              </a:rPr>
              <a:t>✔</a:t>
            </a:r>
            <a:endParaRPr sz="2800" b="1">
              <a:solidFill>
                <a:srgbClr val="38761D"/>
              </a:solidFill>
            </a:endParaRPr>
          </a:p>
        </p:txBody>
      </p:sp>
      <p:grpSp>
        <p:nvGrpSpPr>
          <p:cNvPr id="1467" name="Google Shape;1467;p92"/>
          <p:cNvGrpSpPr/>
          <p:nvPr/>
        </p:nvGrpSpPr>
        <p:grpSpPr>
          <a:xfrm>
            <a:off x="5661021" y="1494830"/>
            <a:ext cx="2990804" cy="2615173"/>
            <a:chOff x="5661021" y="1494830"/>
            <a:chExt cx="2990804" cy="2615173"/>
          </a:xfrm>
        </p:grpSpPr>
        <p:grpSp>
          <p:nvGrpSpPr>
            <p:cNvPr id="1468" name="Google Shape;1468;p92"/>
            <p:cNvGrpSpPr/>
            <p:nvPr/>
          </p:nvGrpSpPr>
          <p:grpSpPr>
            <a:xfrm>
              <a:off x="5661021" y="1494830"/>
              <a:ext cx="2990804" cy="1305648"/>
              <a:chOff x="5661021" y="1190030"/>
              <a:chExt cx="2990804" cy="1305648"/>
            </a:xfrm>
          </p:grpSpPr>
          <p:grpSp>
            <p:nvGrpSpPr>
              <p:cNvPr id="1469" name="Google Shape;1469;p92"/>
              <p:cNvGrpSpPr/>
              <p:nvPr/>
            </p:nvGrpSpPr>
            <p:grpSpPr>
              <a:xfrm>
                <a:off x="5661021" y="1425796"/>
                <a:ext cx="2764051" cy="1069883"/>
                <a:chOff x="-321558" y="1161346"/>
                <a:chExt cx="1727100" cy="663000"/>
              </a:xfrm>
            </p:grpSpPr>
            <p:sp>
              <p:nvSpPr>
                <p:cNvPr id="1470" name="Google Shape;1470;p92"/>
                <p:cNvSpPr/>
                <p:nvPr/>
              </p:nvSpPr>
              <p:spPr>
                <a:xfrm>
                  <a:off x="-321558" y="1161346"/>
                  <a:ext cx="1727100" cy="663000"/>
                </a:xfrm>
                <a:prstGeom prst="roundRect">
                  <a:avLst>
                    <a:gd name="adj" fmla="val 16667"/>
                  </a:avLst>
                </a:prstGeom>
                <a:solidFill>
                  <a:schemeClr val="lt1"/>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471" name="Google Shape;1471;p92"/>
                <p:cNvGrpSpPr/>
                <p:nvPr/>
              </p:nvGrpSpPr>
              <p:grpSpPr>
                <a:xfrm>
                  <a:off x="-259808" y="1189551"/>
                  <a:ext cx="1624776" cy="606602"/>
                  <a:chOff x="-259808" y="1189551"/>
                  <a:chExt cx="1624776" cy="606602"/>
                </a:xfrm>
              </p:grpSpPr>
              <p:pic>
                <p:nvPicPr>
                  <p:cNvPr id="1472" name="Google Shape;1472;p92" title="DMN_2green.png"/>
                  <p:cNvPicPr preferRelativeResize="0"/>
                  <p:nvPr/>
                </p:nvPicPr>
                <p:blipFill rotWithShape="1">
                  <a:blip r:embed="rId3">
                    <a:alphaModFix/>
                  </a:blip>
                  <a:srcRect t="11465" r="55062" b="46348"/>
                  <a:stretch/>
                </p:blipFill>
                <p:spPr>
                  <a:xfrm>
                    <a:off x="275952" y="1210719"/>
                    <a:ext cx="487076" cy="544200"/>
                  </a:xfrm>
                  <a:prstGeom prst="rect">
                    <a:avLst/>
                  </a:prstGeom>
                  <a:noFill/>
                  <a:ln>
                    <a:noFill/>
                  </a:ln>
                </p:spPr>
              </p:pic>
              <p:pic>
                <p:nvPicPr>
                  <p:cNvPr id="1473" name="Google Shape;1473;p92" title="DMN_2green.png"/>
                  <p:cNvPicPr preferRelativeResize="0"/>
                  <p:nvPr/>
                </p:nvPicPr>
                <p:blipFill rotWithShape="1">
                  <a:blip r:embed="rId3">
                    <a:alphaModFix/>
                  </a:blip>
                  <a:srcRect l="45048" t="11466" b="46346"/>
                  <a:stretch/>
                </p:blipFill>
                <p:spPr>
                  <a:xfrm>
                    <a:off x="769380" y="1210705"/>
                    <a:ext cx="595588" cy="544215"/>
                  </a:xfrm>
                  <a:prstGeom prst="rect">
                    <a:avLst/>
                  </a:prstGeom>
                  <a:noFill/>
                  <a:ln>
                    <a:noFill/>
                  </a:ln>
                </p:spPr>
              </p:pic>
              <p:pic>
                <p:nvPicPr>
                  <p:cNvPr id="1474" name="Google Shape;1474;p92" title="DMN_2green.png"/>
                  <p:cNvPicPr preferRelativeResize="0"/>
                  <p:nvPr/>
                </p:nvPicPr>
                <p:blipFill rotWithShape="1">
                  <a:blip r:embed="rId3">
                    <a:alphaModFix/>
                  </a:blip>
                  <a:srcRect t="52978" r="55062"/>
                  <a:stretch/>
                </p:blipFill>
                <p:spPr>
                  <a:xfrm>
                    <a:off x="-259808" y="1189551"/>
                    <a:ext cx="487076" cy="606602"/>
                  </a:xfrm>
                  <a:prstGeom prst="rect">
                    <a:avLst/>
                  </a:prstGeom>
                  <a:noFill/>
                  <a:ln>
                    <a:noFill/>
                  </a:ln>
                </p:spPr>
              </p:pic>
            </p:grpSp>
          </p:grpSp>
          <p:sp>
            <p:nvSpPr>
              <p:cNvPr id="1475" name="Google Shape;1475;p92"/>
              <p:cNvSpPr txBox="1"/>
              <p:nvPr/>
            </p:nvSpPr>
            <p:spPr>
              <a:xfrm>
                <a:off x="5713925" y="1190030"/>
                <a:ext cx="2937900" cy="47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r>
                  <a:rPr lang="en" sz="1600" b="1">
                    <a:solidFill>
                      <a:srgbClr val="38761D"/>
                    </a:solidFill>
                    <a:highlight>
                      <a:schemeClr val="lt1"/>
                    </a:highlight>
                  </a:rPr>
                  <a:t>Default Mode Network</a:t>
                </a:r>
                <a:endParaRPr sz="1600" b="1">
                  <a:highlight>
                    <a:schemeClr val="lt1"/>
                  </a:highlight>
                </a:endParaRPr>
              </a:p>
            </p:txBody>
          </p:sp>
        </p:grpSp>
        <p:grpSp>
          <p:nvGrpSpPr>
            <p:cNvPr id="1476" name="Google Shape;1476;p92"/>
            <p:cNvGrpSpPr/>
            <p:nvPr/>
          </p:nvGrpSpPr>
          <p:grpSpPr>
            <a:xfrm>
              <a:off x="5661030" y="2786832"/>
              <a:ext cx="2990795" cy="1323171"/>
              <a:chOff x="5661030" y="2786832"/>
              <a:chExt cx="2990795" cy="1323171"/>
            </a:xfrm>
          </p:grpSpPr>
          <p:grpSp>
            <p:nvGrpSpPr>
              <p:cNvPr id="1477" name="Google Shape;1477;p92"/>
              <p:cNvGrpSpPr/>
              <p:nvPr/>
            </p:nvGrpSpPr>
            <p:grpSpPr>
              <a:xfrm>
                <a:off x="5661030" y="3048903"/>
                <a:ext cx="2764200" cy="1061100"/>
                <a:chOff x="5661005" y="2942303"/>
                <a:chExt cx="2764200" cy="1061100"/>
              </a:xfrm>
            </p:grpSpPr>
            <p:sp>
              <p:nvSpPr>
                <p:cNvPr id="1478" name="Google Shape;1478;p92"/>
                <p:cNvSpPr/>
                <p:nvPr/>
              </p:nvSpPr>
              <p:spPr>
                <a:xfrm>
                  <a:off x="5661005" y="2942303"/>
                  <a:ext cx="2764200" cy="1061100"/>
                </a:xfrm>
                <a:prstGeom prst="roundRect">
                  <a:avLst>
                    <a:gd name="adj" fmla="val 16667"/>
                  </a:avLst>
                </a:prstGeom>
                <a:solidFill>
                  <a:schemeClr val="lt1"/>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479" name="Google Shape;1479;p92"/>
                <p:cNvGrpSpPr/>
                <p:nvPr/>
              </p:nvGrpSpPr>
              <p:grpSpPr>
                <a:xfrm>
                  <a:off x="5793771" y="2976214"/>
                  <a:ext cx="2532437" cy="958984"/>
                  <a:chOff x="-9625" y="1107063"/>
                  <a:chExt cx="1987628" cy="752676"/>
                </a:xfrm>
              </p:grpSpPr>
              <p:pic>
                <p:nvPicPr>
                  <p:cNvPr id="1480" name="Google Shape;1480;p92" title="ECN_7cool.png"/>
                  <p:cNvPicPr preferRelativeResize="0"/>
                  <p:nvPr/>
                </p:nvPicPr>
                <p:blipFill rotWithShape="1">
                  <a:blip r:embed="rId4">
                    <a:alphaModFix/>
                  </a:blip>
                  <a:srcRect t="11395" r="55952" b="51773"/>
                  <a:stretch/>
                </p:blipFill>
                <p:spPr>
                  <a:xfrm>
                    <a:off x="648489" y="1206657"/>
                    <a:ext cx="547751" cy="553498"/>
                  </a:xfrm>
                  <a:prstGeom prst="rect">
                    <a:avLst/>
                  </a:prstGeom>
                  <a:noFill/>
                  <a:ln>
                    <a:noFill/>
                  </a:ln>
                </p:spPr>
              </p:pic>
              <p:pic>
                <p:nvPicPr>
                  <p:cNvPr id="1481" name="Google Shape;1481;p92" title="ECN_7cool.png"/>
                  <p:cNvPicPr preferRelativeResize="0"/>
                  <p:nvPr/>
                </p:nvPicPr>
                <p:blipFill rotWithShape="1">
                  <a:blip r:embed="rId4">
                    <a:alphaModFix/>
                  </a:blip>
                  <a:srcRect l="43454" t="9886" b="45877"/>
                  <a:stretch/>
                </p:blipFill>
                <p:spPr>
                  <a:xfrm>
                    <a:off x="1274852" y="1151025"/>
                    <a:ext cx="703151" cy="664755"/>
                  </a:xfrm>
                  <a:prstGeom prst="rect">
                    <a:avLst/>
                  </a:prstGeom>
                  <a:noFill/>
                  <a:ln>
                    <a:noFill/>
                  </a:ln>
                </p:spPr>
              </p:pic>
              <p:pic>
                <p:nvPicPr>
                  <p:cNvPr id="1482" name="Google Shape;1482;p92" title="ECN_7cool.png"/>
                  <p:cNvPicPr preferRelativeResize="0"/>
                  <p:nvPr/>
                </p:nvPicPr>
                <p:blipFill rotWithShape="1">
                  <a:blip r:embed="rId4">
                    <a:alphaModFix/>
                  </a:blip>
                  <a:srcRect t="49917" r="55952"/>
                  <a:stretch/>
                </p:blipFill>
                <p:spPr>
                  <a:xfrm>
                    <a:off x="-9625" y="1107063"/>
                    <a:ext cx="547751" cy="752676"/>
                  </a:xfrm>
                  <a:prstGeom prst="rect">
                    <a:avLst/>
                  </a:prstGeom>
                  <a:noFill/>
                  <a:ln>
                    <a:noFill/>
                  </a:ln>
                </p:spPr>
              </p:pic>
            </p:grpSp>
          </p:grpSp>
          <p:sp>
            <p:nvSpPr>
              <p:cNvPr id="1483" name="Google Shape;1483;p92"/>
              <p:cNvSpPr txBox="1"/>
              <p:nvPr/>
            </p:nvSpPr>
            <p:spPr>
              <a:xfrm>
                <a:off x="5713925" y="2786832"/>
                <a:ext cx="2937900" cy="47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r>
                  <a:rPr lang="en" sz="1600" b="1">
                    <a:solidFill>
                      <a:srgbClr val="3C78D8"/>
                    </a:solidFill>
                    <a:highlight>
                      <a:schemeClr val="lt1"/>
                    </a:highlight>
                  </a:rPr>
                  <a:t>Executive Control Network</a:t>
                </a:r>
                <a:endParaRPr sz="1600" b="1">
                  <a:solidFill>
                    <a:srgbClr val="3C78D8"/>
                  </a:solidFill>
                  <a:highlight>
                    <a:schemeClr val="lt1"/>
                  </a:highlight>
                </a:endParaRPr>
              </a:p>
            </p:txBody>
          </p:sp>
        </p:grpSp>
      </p:grpSp>
      <p:sp>
        <p:nvSpPr>
          <p:cNvPr id="1484" name="Google Shape;1484;p92"/>
          <p:cNvSpPr txBox="1"/>
          <p:nvPr/>
        </p:nvSpPr>
        <p:spPr>
          <a:xfrm>
            <a:off x="-10375" y="147650"/>
            <a:ext cx="8842800" cy="1127100"/>
          </a:xfrm>
          <a:prstGeom prst="rect">
            <a:avLst/>
          </a:prstGeom>
          <a:noFill/>
          <a:ln>
            <a:noFill/>
          </a:ln>
        </p:spPr>
        <p:txBody>
          <a:bodyPr spcFirstLastPara="1" wrap="square" lIns="91425" tIns="91425" rIns="91425" bIns="91425" anchor="ctr" anchorCtr="0">
            <a:noAutofit/>
          </a:bodyPr>
          <a:lstStyle/>
          <a:p>
            <a:pPr marL="457200" lvl="0" indent="0" algn="l" rtl="0">
              <a:spcBef>
                <a:spcPts val="0"/>
              </a:spcBef>
              <a:spcAft>
                <a:spcPts val="0"/>
              </a:spcAft>
              <a:buNone/>
            </a:pPr>
            <a:r>
              <a:rPr lang="en" sz="2800" b="1">
                <a:solidFill>
                  <a:schemeClr val="dk1"/>
                </a:solidFill>
                <a:highlight>
                  <a:schemeClr val="lt1"/>
                </a:highlight>
              </a:rPr>
              <a:t>Age * social context interaction?</a:t>
            </a:r>
            <a:endParaRPr sz="2800" b="1">
              <a:solidFill>
                <a:schemeClr val="dk1"/>
              </a:solidFill>
              <a:highlight>
                <a:schemeClr val="lt1"/>
              </a:highlight>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488"/>
        <p:cNvGrpSpPr/>
        <p:nvPr/>
      </p:nvGrpSpPr>
      <p:grpSpPr>
        <a:xfrm>
          <a:off x="0" y="0"/>
          <a:ext cx="0" cy="0"/>
          <a:chOff x="0" y="0"/>
          <a:chExt cx="0" cy="0"/>
        </a:xfrm>
      </p:grpSpPr>
      <p:sp>
        <p:nvSpPr>
          <p:cNvPr id="1489" name="Google Shape;1489;p9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77</a:t>
            </a:fld>
            <a:endParaRPr/>
          </a:p>
        </p:txBody>
      </p:sp>
      <p:sp>
        <p:nvSpPr>
          <p:cNvPr id="1490" name="Google Shape;1490;p93"/>
          <p:cNvSpPr txBox="1">
            <a:spLocks noGrp="1"/>
          </p:cNvSpPr>
          <p:nvPr>
            <p:ph type="title" idx="4294967295"/>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What do the results tell us?</a:t>
            </a:r>
            <a:endParaRPr b="1"/>
          </a:p>
        </p:txBody>
      </p:sp>
      <p:sp>
        <p:nvSpPr>
          <p:cNvPr id="1491" name="Google Shape;1491;p93"/>
          <p:cNvSpPr txBox="1"/>
          <p:nvPr/>
        </p:nvSpPr>
        <p:spPr>
          <a:xfrm>
            <a:off x="484975" y="1130150"/>
            <a:ext cx="5804700" cy="17199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0"/>
              </a:spcBef>
              <a:spcAft>
                <a:spcPts val="1000"/>
              </a:spcAft>
              <a:buNone/>
            </a:pPr>
            <a:endParaRPr sz="2200" b="1">
              <a:solidFill>
                <a:schemeClr val="dk1"/>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495"/>
        <p:cNvGrpSpPr/>
        <p:nvPr/>
      </p:nvGrpSpPr>
      <p:grpSpPr>
        <a:xfrm>
          <a:off x="0" y="0"/>
          <a:ext cx="0" cy="0"/>
          <a:chOff x="0" y="0"/>
          <a:chExt cx="0" cy="0"/>
        </a:xfrm>
      </p:grpSpPr>
      <p:sp>
        <p:nvSpPr>
          <p:cNvPr id="1496" name="Google Shape;1496;p9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78</a:t>
            </a:fld>
            <a:endParaRPr/>
          </a:p>
        </p:txBody>
      </p:sp>
      <p:sp>
        <p:nvSpPr>
          <p:cNvPr id="1497" name="Google Shape;1497;p94"/>
          <p:cNvSpPr txBox="1">
            <a:spLocks noGrp="1"/>
          </p:cNvSpPr>
          <p:nvPr>
            <p:ph type="title" idx="4294967295"/>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What do the results tell us?</a:t>
            </a:r>
            <a:endParaRPr b="1"/>
          </a:p>
        </p:txBody>
      </p:sp>
      <p:sp>
        <p:nvSpPr>
          <p:cNvPr id="1498" name="Google Shape;1498;p94"/>
          <p:cNvSpPr txBox="1"/>
          <p:nvPr/>
        </p:nvSpPr>
        <p:spPr>
          <a:xfrm>
            <a:off x="484975" y="1130150"/>
            <a:ext cx="5372100" cy="1719900"/>
          </a:xfrm>
          <a:prstGeom prst="rect">
            <a:avLst/>
          </a:prstGeom>
          <a:noFill/>
          <a:ln>
            <a:noFill/>
          </a:ln>
        </p:spPr>
        <p:txBody>
          <a:bodyPr spcFirstLastPara="1" wrap="square" lIns="91425" tIns="91425" rIns="91425" bIns="91425" anchor="t" anchorCtr="0">
            <a:noAutofit/>
          </a:bodyPr>
          <a:lstStyle/>
          <a:p>
            <a:pPr marL="457200" lvl="0" indent="-368300" algn="l" rtl="0">
              <a:lnSpc>
                <a:spcPct val="115000"/>
              </a:lnSpc>
              <a:spcBef>
                <a:spcPts val="0"/>
              </a:spcBef>
              <a:spcAft>
                <a:spcPts val="1000"/>
              </a:spcAft>
              <a:buClr>
                <a:schemeClr val="dk1"/>
              </a:buClr>
              <a:buSzPts val="2200"/>
              <a:buAutoNum type="arabicPeriod"/>
            </a:pPr>
            <a:r>
              <a:rPr lang="en" sz="2200" b="1">
                <a:solidFill>
                  <a:schemeClr val="dk1"/>
                </a:solidFill>
              </a:rPr>
              <a:t>Aging may affect multiple network connectivity involved in fairness and social context processing.</a:t>
            </a:r>
            <a:endParaRPr sz="2200" b="1">
              <a:solidFill>
                <a:schemeClr val="dk1"/>
              </a:solidFill>
            </a:endParaRPr>
          </a:p>
        </p:txBody>
      </p:sp>
      <p:grpSp>
        <p:nvGrpSpPr>
          <p:cNvPr id="1499" name="Google Shape;1499;p94"/>
          <p:cNvGrpSpPr/>
          <p:nvPr/>
        </p:nvGrpSpPr>
        <p:grpSpPr>
          <a:xfrm>
            <a:off x="5868501" y="445025"/>
            <a:ext cx="2367224" cy="1569048"/>
            <a:chOff x="5868501" y="445025"/>
            <a:chExt cx="2367224" cy="1569048"/>
          </a:xfrm>
        </p:grpSpPr>
        <p:grpSp>
          <p:nvGrpSpPr>
            <p:cNvPr id="1500" name="Google Shape;1500;p94"/>
            <p:cNvGrpSpPr/>
            <p:nvPr/>
          </p:nvGrpSpPr>
          <p:grpSpPr>
            <a:xfrm>
              <a:off x="5868501" y="445025"/>
              <a:ext cx="2253818" cy="1569048"/>
              <a:chOff x="5785279" y="241987"/>
              <a:chExt cx="2822565" cy="1964995"/>
            </a:xfrm>
          </p:grpSpPr>
          <p:grpSp>
            <p:nvGrpSpPr>
              <p:cNvPr id="1501" name="Google Shape;1501;p94"/>
              <p:cNvGrpSpPr/>
              <p:nvPr/>
            </p:nvGrpSpPr>
            <p:grpSpPr>
              <a:xfrm>
                <a:off x="6164978" y="581205"/>
                <a:ext cx="2442867" cy="1625777"/>
                <a:chOff x="463742" y="1183721"/>
                <a:chExt cx="3765788" cy="2506208"/>
              </a:xfrm>
            </p:grpSpPr>
            <p:grpSp>
              <p:nvGrpSpPr>
                <p:cNvPr id="1502" name="Google Shape;1502;p94"/>
                <p:cNvGrpSpPr/>
                <p:nvPr/>
              </p:nvGrpSpPr>
              <p:grpSpPr>
                <a:xfrm>
                  <a:off x="463742" y="1183721"/>
                  <a:ext cx="3765788" cy="2506208"/>
                  <a:chOff x="463742" y="1183721"/>
                  <a:chExt cx="3765788" cy="2506208"/>
                </a:xfrm>
              </p:grpSpPr>
              <p:pic>
                <p:nvPicPr>
                  <p:cNvPr id="1503" name="Google Shape;1503;p94" title="dmn_p_in-out_y-o_blue.png"/>
                  <p:cNvPicPr preferRelativeResize="0"/>
                  <p:nvPr/>
                </p:nvPicPr>
                <p:blipFill rotWithShape="1">
                  <a:blip r:embed="rId3">
                    <a:alphaModFix/>
                  </a:blip>
                  <a:srcRect l="4253" t="13623" r="56905" b="53187"/>
                  <a:stretch/>
                </p:blipFill>
                <p:spPr>
                  <a:xfrm>
                    <a:off x="715593" y="2149876"/>
                    <a:ext cx="1407891" cy="1395021"/>
                  </a:xfrm>
                  <a:prstGeom prst="rect">
                    <a:avLst/>
                  </a:prstGeom>
                  <a:noFill/>
                  <a:ln>
                    <a:noFill/>
                  </a:ln>
                </p:spPr>
              </p:pic>
              <p:pic>
                <p:nvPicPr>
                  <p:cNvPr id="1504" name="Google Shape;1504;p94" title="dmn_p_in-out_y-o_blue.png"/>
                  <p:cNvPicPr preferRelativeResize="0"/>
                  <p:nvPr/>
                </p:nvPicPr>
                <p:blipFill rotWithShape="1">
                  <a:blip r:embed="rId3">
                    <a:alphaModFix/>
                  </a:blip>
                  <a:srcRect l="44134" t="9649" b="47002"/>
                  <a:stretch/>
                </p:blipFill>
                <p:spPr>
                  <a:xfrm>
                    <a:off x="2204581" y="1867879"/>
                    <a:ext cx="2024949" cy="1822049"/>
                  </a:xfrm>
                  <a:prstGeom prst="rect">
                    <a:avLst/>
                  </a:prstGeom>
                  <a:noFill/>
                  <a:ln>
                    <a:noFill/>
                  </a:ln>
                </p:spPr>
              </p:pic>
              <p:grpSp>
                <p:nvGrpSpPr>
                  <p:cNvPr id="1505" name="Google Shape;1505;p94"/>
                  <p:cNvGrpSpPr/>
                  <p:nvPr/>
                </p:nvGrpSpPr>
                <p:grpSpPr>
                  <a:xfrm>
                    <a:off x="463742" y="1183721"/>
                    <a:ext cx="1727100" cy="663000"/>
                    <a:chOff x="-321558" y="1161346"/>
                    <a:chExt cx="1727100" cy="663000"/>
                  </a:xfrm>
                </p:grpSpPr>
                <p:sp>
                  <p:nvSpPr>
                    <p:cNvPr id="1506" name="Google Shape;1506;p94"/>
                    <p:cNvSpPr/>
                    <p:nvPr/>
                  </p:nvSpPr>
                  <p:spPr>
                    <a:xfrm>
                      <a:off x="-321558" y="1161346"/>
                      <a:ext cx="1727100" cy="663000"/>
                    </a:xfrm>
                    <a:prstGeom prst="roundRect">
                      <a:avLst>
                        <a:gd name="adj" fmla="val 16667"/>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507" name="Google Shape;1507;p94"/>
                    <p:cNvGrpSpPr/>
                    <p:nvPr/>
                  </p:nvGrpSpPr>
                  <p:grpSpPr>
                    <a:xfrm>
                      <a:off x="-259808" y="1189551"/>
                      <a:ext cx="1624776" cy="606602"/>
                      <a:chOff x="-259808" y="1189551"/>
                      <a:chExt cx="1624776" cy="606602"/>
                    </a:xfrm>
                  </p:grpSpPr>
                  <p:pic>
                    <p:nvPicPr>
                      <p:cNvPr id="1508" name="Google Shape;1508;p94" title="DMN_2green.png"/>
                      <p:cNvPicPr preferRelativeResize="0"/>
                      <p:nvPr/>
                    </p:nvPicPr>
                    <p:blipFill rotWithShape="1">
                      <a:blip r:embed="rId4">
                        <a:alphaModFix/>
                      </a:blip>
                      <a:srcRect t="11465" r="55062" b="46348"/>
                      <a:stretch/>
                    </p:blipFill>
                    <p:spPr>
                      <a:xfrm>
                        <a:off x="275952" y="1210719"/>
                        <a:ext cx="487076" cy="544200"/>
                      </a:xfrm>
                      <a:prstGeom prst="rect">
                        <a:avLst/>
                      </a:prstGeom>
                      <a:noFill/>
                      <a:ln>
                        <a:noFill/>
                      </a:ln>
                    </p:spPr>
                  </p:pic>
                  <p:pic>
                    <p:nvPicPr>
                      <p:cNvPr id="1509" name="Google Shape;1509;p94" title="DMN_2green.png"/>
                      <p:cNvPicPr preferRelativeResize="0"/>
                      <p:nvPr/>
                    </p:nvPicPr>
                    <p:blipFill rotWithShape="1">
                      <a:blip r:embed="rId4">
                        <a:alphaModFix/>
                      </a:blip>
                      <a:srcRect l="45048" t="11466" b="46346"/>
                      <a:stretch/>
                    </p:blipFill>
                    <p:spPr>
                      <a:xfrm>
                        <a:off x="769380" y="1210705"/>
                        <a:ext cx="595588" cy="544215"/>
                      </a:xfrm>
                      <a:prstGeom prst="rect">
                        <a:avLst/>
                      </a:prstGeom>
                      <a:noFill/>
                      <a:ln>
                        <a:noFill/>
                      </a:ln>
                    </p:spPr>
                  </p:pic>
                  <p:pic>
                    <p:nvPicPr>
                      <p:cNvPr id="1510" name="Google Shape;1510;p94" title="DMN_2green.png"/>
                      <p:cNvPicPr preferRelativeResize="0"/>
                      <p:nvPr/>
                    </p:nvPicPr>
                    <p:blipFill rotWithShape="1">
                      <a:blip r:embed="rId4">
                        <a:alphaModFix/>
                      </a:blip>
                      <a:srcRect t="52978" r="55062"/>
                      <a:stretch/>
                    </p:blipFill>
                    <p:spPr>
                      <a:xfrm>
                        <a:off x="-259808" y="1189551"/>
                        <a:ext cx="487076" cy="606602"/>
                      </a:xfrm>
                      <a:prstGeom prst="rect">
                        <a:avLst/>
                      </a:prstGeom>
                      <a:noFill/>
                      <a:ln>
                        <a:noFill/>
                      </a:ln>
                    </p:spPr>
                  </p:pic>
                </p:grpSp>
              </p:grpSp>
            </p:grpSp>
            <p:cxnSp>
              <p:nvCxnSpPr>
                <p:cNvPr id="1511" name="Google Shape;1511;p94"/>
                <p:cNvCxnSpPr/>
                <p:nvPr/>
              </p:nvCxnSpPr>
              <p:spPr>
                <a:xfrm>
                  <a:off x="2150267" y="1505188"/>
                  <a:ext cx="1624500" cy="1059000"/>
                </a:xfrm>
                <a:prstGeom prst="curvedConnector3">
                  <a:avLst>
                    <a:gd name="adj1" fmla="val 50000"/>
                  </a:avLst>
                </a:prstGeom>
                <a:noFill/>
                <a:ln w="19050" cap="flat" cmpd="sng">
                  <a:solidFill>
                    <a:srgbClr val="26BF00"/>
                  </a:solidFill>
                  <a:prstDash val="solid"/>
                  <a:round/>
                  <a:headEnd type="none" w="med" len="med"/>
                  <a:tailEnd type="none" w="med" len="med"/>
                </a:ln>
              </p:spPr>
            </p:cxnSp>
          </p:grpSp>
          <p:sp>
            <p:nvSpPr>
              <p:cNvPr id="1512" name="Google Shape;1512;p94"/>
              <p:cNvSpPr txBox="1"/>
              <p:nvPr/>
            </p:nvSpPr>
            <p:spPr>
              <a:xfrm>
                <a:off x="5785279" y="241987"/>
                <a:ext cx="1920000" cy="309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rPr>
                  <a:t>DMN-dACC</a:t>
                </a:r>
                <a:endParaRPr sz="1200">
                  <a:solidFill>
                    <a:schemeClr val="dk1"/>
                  </a:solidFill>
                </a:endParaRPr>
              </a:p>
            </p:txBody>
          </p:sp>
        </p:grpSp>
        <p:sp>
          <p:nvSpPr>
            <p:cNvPr id="1513" name="Google Shape;1513;p94"/>
            <p:cNvSpPr/>
            <p:nvPr/>
          </p:nvSpPr>
          <p:spPr>
            <a:xfrm>
              <a:off x="6073625" y="487650"/>
              <a:ext cx="2162100" cy="1526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1514" name="Google Shape;1514;p94"/>
          <p:cNvGrpSpPr/>
          <p:nvPr/>
        </p:nvGrpSpPr>
        <p:grpSpPr>
          <a:xfrm>
            <a:off x="6708976" y="1658800"/>
            <a:ext cx="2234943" cy="1107993"/>
            <a:chOff x="5837643" y="2156248"/>
            <a:chExt cx="2798926" cy="1387593"/>
          </a:xfrm>
        </p:grpSpPr>
        <p:grpSp>
          <p:nvGrpSpPr>
            <p:cNvPr id="1515" name="Google Shape;1515;p94"/>
            <p:cNvGrpSpPr/>
            <p:nvPr/>
          </p:nvGrpSpPr>
          <p:grpSpPr>
            <a:xfrm>
              <a:off x="6164978" y="2372506"/>
              <a:ext cx="2471592" cy="1171336"/>
              <a:chOff x="463742" y="1005490"/>
              <a:chExt cx="3861258" cy="1829926"/>
            </a:xfrm>
          </p:grpSpPr>
          <p:pic>
            <p:nvPicPr>
              <p:cNvPr id="1516" name="Google Shape;1516;p94" title="ecn_p_in-out_o-y_sens-logit.png"/>
              <p:cNvPicPr preferRelativeResize="0"/>
              <p:nvPr/>
            </p:nvPicPr>
            <p:blipFill rotWithShape="1">
              <a:blip r:embed="rId5">
                <a:alphaModFix/>
              </a:blip>
              <a:srcRect l="44933" t="10739" b="45974"/>
              <a:stretch/>
            </p:blipFill>
            <p:spPr>
              <a:xfrm>
                <a:off x="2318026" y="1005490"/>
                <a:ext cx="2006974" cy="1829926"/>
              </a:xfrm>
              <a:prstGeom prst="rect">
                <a:avLst/>
              </a:prstGeom>
              <a:noFill/>
              <a:ln>
                <a:noFill/>
              </a:ln>
            </p:spPr>
          </p:pic>
          <p:grpSp>
            <p:nvGrpSpPr>
              <p:cNvPr id="1517" name="Google Shape;1517;p94"/>
              <p:cNvGrpSpPr/>
              <p:nvPr/>
            </p:nvGrpSpPr>
            <p:grpSpPr>
              <a:xfrm>
                <a:off x="463742" y="1183721"/>
                <a:ext cx="1727100" cy="663000"/>
                <a:chOff x="114467" y="1173421"/>
                <a:chExt cx="1727100" cy="663000"/>
              </a:xfrm>
            </p:grpSpPr>
            <p:grpSp>
              <p:nvGrpSpPr>
                <p:cNvPr id="1518" name="Google Shape;1518;p94"/>
                <p:cNvGrpSpPr/>
                <p:nvPr/>
              </p:nvGrpSpPr>
              <p:grpSpPr>
                <a:xfrm>
                  <a:off x="197425" y="1194595"/>
                  <a:ext cx="1582351" cy="599205"/>
                  <a:chOff x="-9625" y="1107063"/>
                  <a:chExt cx="1987628" cy="752676"/>
                </a:xfrm>
              </p:grpSpPr>
              <p:pic>
                <p:nvPicPr>
                  <p:cNvPr id="1519" name="Google Shape;1519;p94" title="ECN_7cool.png"/>
                  <p:cNvPicPr preferRelativeResize="0"/>
                  <p:nvPr/>
                </p:nvPicPr>
                <p:blipFill rotWithShape="1">
                  <a:blip r:embed="rId6">
                    <a:alphaModFix/>
                  </a:blip>
                  <a:srcRect t="11395" r="55952" b="51773"/>
                  <a:stretch/>
                </p:blipFill>
                <p:spPr>
                  <a:xfrm>
                    <a:off x="648489" y="1206657"/>
                    <a:ext cx="547751" cy="553498"/>
                  </a:xfrm>
                  <a:prstGeom prst="rect">
                    <a:avLst/>
                  </a:prstGeom>
                  <a:noFill/>
                  <a:ln>
                    <a:noFill/>
                  </a:ln>
                </p:spPr>
              </p:pic>
              <p:pic>
                <p:nvPicPr>
                  <p:cNvPr id="1520" name="Google Shape;1520;p94" title="ECN_7cool.png"/>
                  <p:cNvPicPr preferRelativeResize="0"/>
                  <p:nvPr/>
                </p:nvPicPr>
                <p:blipFill rotWithShape="1">
                  <a:blip r:embed="rId6">
                    <a:alphaModFix/>
                  </a:blip>
                  <a:srcRect l="43454" t="9886" b="45877"/>
                  <a:stretch/>
                </p:blipFill>
                <p:spPr>
                  <a:xfrm>
                    <a:off x="1274852" y="1151025"/>
                    <a:ext cx="703151" cy="664755"/>
                  </a:xfrm>
                  <a:prstGeom prst="rect">
                    <a:avLst/>
                  </a:prstGeom>
                  <a:noFill/>
                  <a:ln>
                    <a:noFill/>
                  </a:ln>
                </p:spPr>
              </p:pic>
              <p:pic>
                <p:nvPicPr>
                  <p:cNvPr id="1521" name="Google Shape;1521;p94" title="ECN_7cool.png"/>
                  <p:cNvPicPr preferRelativeResize="0"/>
                  <p:nvPr/>
                </p:nvPicPr>
                <p:blipFill rotWithShape="1">
                  <a:blip r:embed="rId6">
                    <a:alphaModFix/>
                  </a:blip>
                  <a:srcRect t="49917" r="55952"/>
                  <a:stretch/>
                </p:blipFill>
                <p:spPr>
                  <a:xfrm>
                    <a:off x="-9625" y="1107063"/>
                    <a:ext cx="547751" cy="752676"/>
                  </a:xfrm>
                  <a:prstGeom prst="rect">
                    <a:avLst/>
                  </a:prstGeom>
                  <a:noFill/>
                  <a:ln>
                    <a:noFill/>
                  </a:ln>
                </p:spPr>
              </p:pic>
            </p:grpSp>
            <p:sp>
              <p:nvSpPr>
                <p:cNvPr id="1522" name="Google Shape;1522;p94"/>
                <p:cNvSpPr/>
                <p:nvPr/>
              </p:nvSpPr>
              <p:spPr>
                <a:xfrm>
                  <a:off x="114467" y="1173421"/>
                  <a:ext cx="1727100" cy="663000"/>
                </a:xfrm>
                <a:prstGeom prst="roundRect">
                  <a:avLst>
                    <a:gd name="adj" fmla="val 16667"/>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523" name="Google Shape;1523;p94"/>
              <p:cNvSpPr/>
              <p:nvPr/>
            </p:nvSpPr>
            <p:spPr>
              <a:xfrm>
                <a:off x="2190850" y="1421975"/>
                <a:ext cx="1969407" cy="393598"/>
              </a:xfrm>
              <a:custGeom>
                <a:avLst/>
                <a:gdLst/>
                <a:ahLst/>
                <a:cxnLst/>
                <a:rect l="l" t="t" r="r" b="b"/>
                <a:pathLst>
                  <a:path w="77429" h="23352" extrusionOk="0">
                    <a:moveTo>
                      <a:pt x="0" y="0"/>
                    </a:moveTo>
                    <a:cubicBezTo>
                      <a:pt x="6214" y="342"/>
                      <a:pt x="26425" y="410"/>
                      <a:pt x="37281" y="2049"/>
                    </a:cubicBezTo>
                    <a:cubicBezTo>
                      <a:pt x="48138" y="3688"/>
                      <a:pt x="58448" y="6283"/>
                      <a:pt x="65139" y="9833"/>
                    </a:cubicBezTo>
                    <a:cubicBezTo>
                      <a:pt x="71830" y="13384"/>
                      <a:pt x="75381" y="21099"/>
                      <a:pt x="77429" y="23352"/>
                    </a:cubicBezTo>
                  </a:path>
                </a:pathLst>
              </a:custGeom>
              <a:noFill/>
              <a:ln w="28575" cap="flat" cmpd="sng">
                <a:solidFill>
                  <a:srgbClr val="18C8FF"/>
                </a:solidFill>
                <a:prstDash val="solid"/>
                <a:round/>
                <a:headEnd type="none" w="med" len="med"/>
                <a:tailEnd type="none" w="med" len="med"/>
              </a:ln>
            </p:spPr>
            <p:txBody>
              <a:bodyPr/>
              <a:lstStyle/>
              <a:p>
                <a:endParaRPr lang="en-US"/>
              </a:p>
            </p:txBody>
          </p:sp>
        </p:grpSp>
        <p:sp>
          <p:nvSpPr>
            <p:cNvPr id="1524" name="Google Shape;1524;p94"/>
            <p:cNvSpPr txBox="1"/>
            <p:nvPr/>
          </p:nvSpPr>
          <p:spPr>
            <a:xfrm>
              <a:off x="5837643" y="2156248"/>
              <a:ext cx="1815300" cy="309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rPr>
                <a:t>ECN-mPFC</a:t>
              </a:r>
              <a:endParaRPr sz="1200">
                <a:solidFill>
                  <a:schemeClr val="dk1"/>
                </a:solidFill>
              </a:endParaRPr>
            </a:p>
          </p:txBody>
        </p:sp>
      </p:gr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528"/>
        <p:cNvGrpSpPr/>
        <p:nvPr/>
      </p:nvGrpSpPr>
      <p:grpSpPr>
        <a:xfrm>
          <a:off x="0" y="0"/>
          <a:ext cx="0" cy="0"/>
          <a:chOff x="0" y="0"/>
          <a:chExt cx="0" cy="0"/>
        </a:xfrm>
      </p:grpSpPr>
      <p:sp>
        <p:nvSpPr>
          <p:cNvPr id="1529" name="Google Shape;1529;p9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79</a:t>
            </a:fld>
            <a:endParaRPr/>
          </a:p>
        </p:txBody>
      </p:sp>
      <p:sp>
        <p:nvSpPr>
          <p:cNvPr id="1530" name="Google Shape;1530;p95"/>
          <p:cNvSpPr txBox="1">
            <a:spLocks noGrp="1"/>
          </p:cNvSpPr>
          <p:nvPr>
            <p:ph type="title" idx="4294967295"/>
          </p:nvPr>
        </p:nvSpPr>
        <p:spPr>
          <a:xfrm>
            <a:off x="311700" y="445025"/>
            <a:ext cx="5526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What do the results tell us?</a:t>
            </a:r>
            <a:endParaRPr b="1"/>
          </a:p>
        </p:txBody>
      </p:sp>
      <p:sp>
        <p:nvSpPr>
          <p:cNvPr id="1531" name="Google Shape;1531;p95"/>
          <p:cNvSpPr txBox="1"/>
          <p:nvPr/>
        </p:nvSpPr>
        <p:spPr>
          <a:xfrm>
            <a:off x="484975" y="1130150"/>
            <a:ext cx="5526600" cy="1719900"/>
          </a:xfrm>
          <a:prstGeom prst="rect">
            <a:avLst/>
          </a:prstGeom>
          <a:noFill/>
          <a:ln>
            <a:noFill/>
          </a:ln>
        </p:spPr>
        <p:txBody>
          <a:bodyPr spcFirstLastPara="1" wrap="square" lIns="91425" tIns="91425" rIns="91425" bIns="91425" anchor="t" anchorCtr="0">
            <a:noAutofit/>
          </a:bodyPr>
          <a:lstStyle/>
          <a:p>
            <a:pPr marL="457200" lvl="0" indent="-368300" algn="l" rtl="0">
              <a:lnSpc>
                <a:spcPct val="115000"/>
              </a:lnSpc>
              <a:spcBef>
                <a:spcPts val="0"/>
              </a:spcBef>
              <a:spcAft>
                <a:spcPts val="0"/>
              </a:spcAft>
              <a:buClr>
                <a:schemeClr val="dk1"/>
              </a:buClr>
              <a:buSzPts val="2200"/>
              <a:buAutoNum type="arabicPeriod"/>
            </a:pPr>
            <a:r>
              <a:rPr lang="en" sz="2200" b="1">
                <a:solidFill>
                  <a:schemeClr val="dk1"/>
                </a:solidFill>
              </a:rPr>
              <a:t>Aging may affect multiple network connectivity involved in fairness and social context processing.</a:t>
            </a:r>
            <a:endParaRPr sz="2200" b="1">
              <a:solidFill>
                <a:schemeClr val="dk1"/>
              </a:solidFill>
            </a:endParaRPr>
          </a:p>
          <a:p>
            <a:pPr marL="457200" lvl="0" indent="-368300" algn="l" rtl="0">
              <a:lnSpc>
                <a:spcPct val="115000"/>
              </a:lnSpc>
              <a:spcBef>
                <a:spcPts val="1000"/>
              </a:spcBef>
              <a:spcAft>
                <a:spcPts val="1000"/>
              </a:spcAft>
              <a:buClr>
                <a:schemeClr val="dk1"/>
              </a:buClr>
              <a:buSzPts val="2200"/>
              <a:buAutoNum type="arabicPeriod"/>
            </a:pPr>
            <a:r>
              <a:rPr lang="en" sz="2200" b="1">
                <a:solidFill>
                  <a:schemeClr val="dk1"/>
                </a:solidFill>
              </a:rPr>
              <a:t>Aging may result in distinctive neural integration patterns in social information processing rather than uniform decline.</a:t>
            </a:r>
            <a:endParaRPr sz="2200" b="1">
              <a:solidFill>
                <a:schemeClr val="dk1"/>
              </a:solidFill>
            </a:endParaRPr>
          </a:p>
        </p:txBody>
      </p:sp>
      <p:grpSp>
        <p:nvGrpSpPr>
          <p:cNvPr id="1532" name="Google Shape;1532;p95"/>
          <p:cNvGrpSpPr/>
          <p:nvPr/>
        </p:nvGrpSpPr>
        <p:grpSpPr>
          <a:xfrm>
            <a:off x="5868501" y="445025"/>
            <a:ext cx="2367224" cy="1569048"/>
            <a:chOff x="5868501" y="445025"/>
            <a:chExt cx="2367224" cy="1569048"/>
          </a:xfrm>
        </p:grpSpPr>
        <p:grpSp>
          <p:nvGrpSpPr>
            <p:cNvPr id="1533" name="Google Shape;1533;p95"/>
            <p:cNvGrpSpPr/>
            <p:nvPr/>
          </p:nvGrpSpPr>
          <p:grpSpPr>
            <a:xfrm>
              <a:off x="5868501" y="445025"/>
              <a:ext cx="2253818" cy="1569048"/>
              <a:chOff x="5785279" y="241987"/>
              <a:chExt cx="2822565" cy="1964995"/>
            </a:xfrm>
          </p:grpSpPr>
          <p:grpSp>
            <p:nvGrpSpPr>
              <p:cNvPr id="1534" name="Google Shape;1534;p95"/>
              <p:cNvGrpSpPr/>
              <p:nvPr/>
            </p:nvGrpSpPr>
            <p:grpSpPr>
              <a:xfrm>
                <a:off x="6164978" y="581205"/>
                <a:ext cx="2442867" cy="1625777"/>
                <a:chOff x="463742" y="1183721"/>
                <a:chExt cx="3765788" cy="2506208"/>
              </a:xfrm>
            </p:grpSpPr>
            <p:grpSp>
              <p:nvGrpSpPr>
                <p:cNvPr id="1535" name="Google Shape;1535;p95"/>
                <p:cNvGrpSpPr/>
                <p:nvPr/>
              </p:nvGrpSpPr>
              <p:grpSpPr>
                <a:xfrm>
                  <a:off x="463742" y="1183721"/>
                  <a:ext cx="3765788" cy="2506208"/>
                  <a:chOff x="463742" y="1183721"/>
                  <a:chExt cx="3765788" cy="2506208"/>
                </a:xfrm>
              </p:grpSpPr>
              <p:pic>
                <p:nvPicPr>
                  <p:cNvPr id="1536" name="Google Shape;1536;p95" title="dmn_p_in-out_y-o_blue.png"/>
                  <p:cNvPicPr preferRelativeResize="0"/>
                  <p:nvPr/>
                </p:nvPicPr>
                <p:blipFill rotWithShape="1">
                  <a:blip r:embed="rId3">
                    <a:alphaModFix/>
                  </a:blip>
                  <a:srcRect l="4253" t="13623" r="56905" b="53187"/>
                  <a:stretch/>
                </p:blipFill>
                <p:spPr>
                  <a:xfrm>
                    <a:off x="715593" y="2149876"/>
                    <a:ext cx="1407891" cy="1395021"/>
                  </a:xfrm>
                  <a:prstGeom prst="rect">
                    <a:avLst/>
                  </a:prstGeom>
                  <a:noFill/>
                  <a:ln>
                    <a:noFill/>
                  </a:ln>
                </p:spPr>
              </p:pic>
              <p:pic>
                <p:nvPicPr>
                  <p:cNvPr id="1537" name="Google Shape;1537;p95" title="dmn_p_in-out_y-o_blue.png"/>
                  <p:cNvPicPr preferRelativeResize="0"/>
                  <p:nvPr/>
                </p:nvPicPr>
                <p:blipFill rotWithShape="1">
                  <a:blip r:embed="rId3">
                    <a:alphaModFix/>
                  </a:blip>
                  <a:srcRect l="44134" t="9649" b="47002"/>
                  <a:stretch/>
                </p:blipFill>
                <p:spPr>
                  <a:xfrm>
                    <a:off x="2204581" y="1867879"/>
                    <a:ext cx="2024949" cy="1822049"/>
                  </a:xfrm>
                  <a:prstGeom prst="rect">
                    <a:avLst/>
                  </a:prstGeom>
                  <a:noFill/>
                  <a:ln>
                    <a:noFill/>
                  </a:ln>
                </p:spPr>
              </p:pic>
              <p:grpSp>
                <p:nvGrpSpPr>
                  <p:cNvPr id="1538" name="Google Shape;1538;p95"/>
                  <p:cNvGrpSpPr/>
                  <p:nvPr/>
                </p:nvGrpSpPr>
                <p:grpSpPr>
                  <a:xfrm>
                    <a:off x="463742" y="1183721"/>
                    <a:ext cx="1727100" cy="663000"/>
                    <a:chOff x="-321558" y="1161346"/>
                    <a:chExt cx="1727100" cy="663000"/>
                  </a:xfrm>
                </p:grpSpPr>
                <p:sp>
                  <p:nvSpPr>
                    <p:cNvPr id="1539" name="Google Shape;1539;p95"/>
                    <p:cNvSpPr/>
                    <p:nvPr/>
                  </p:nvSpPr>
                  <p:spPr>
                    <a:xfrm>
                      <a:off x="-321558" y="1161346"/>
                      <a:ext cx="1727100" cy="663000"/>
                    </a:xfrm>
                    <a:prstGeom prst="roundRect">
                      <a:avLst>
                        <a:gd name="adj" fmla="val 16667"/>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540" name="Google Shape;1540;p95"/>
                    <p:cNvGrpSpPr/>
                    <p:nvPr/>
                  </p:nvGrpSpPr>
                  <p:grpSpPr>
                    <a:xfrm>
                      <a:off x="-259808" y="1189551"/>
                      <a:ext cx="1624776" cy="606602"/>
                      <a:chOff x="-259808" y="1189551"/>
                      <a:chExt cx="1624776" cy="606602"/>
                    </a:xfrm>
                  </p:grpSpPr>
                  <p:pic>
                    <p:nvPicPr>
                      <p:cNvPr id="1541" name="Google Shape;1541;p95" title="DMN_2green.png"/>
                      <p:cNvPicPr preferRelativeResize="0"/>
                      <p:nvPr/>
                    </p:nvPicPr>
                    <p:blipFill rotWithShape="1">
                      <a:blip r:embed="rId4">
                        <a:alphaModFix/>
                      </a:blip>
                      <a:srcRect t="11465" r="55062" b="46348"/>
                      <a:stretch/>
                    </p:blipFill>
                    <p:spPr>
                      <a:xfrm>
                        <a:off x="275952" y="1210719"/>
                        <a:ext cx="487076" cy="544200"/>
                      </a:xfrm>
                      <a:prstGeom prst="rect">
                        <a:avLst/>
                      </a:prstGeom>
                      <a:noFill/>
                      <a:ln>
                        <a:noFill/>
                      </a:ln>
                    </p:spPr>
                  </p:pic>
                  <p:pic>
                    <p:nvPicPr>
                      <p:cNvPr id="1542" name="Google Shape;1542;p95" title="DMN_2green.png"/>
                      <p:cNvPicPr preferRelativeResize="0"/>
                      <p:nvPr/>
                    </p:nvPicPr>
                    <p:blipFill rotWithShape="1">
                      <a:blip r:embed="rId4">
                        <a:alphaModFix/>
                      </a:blip>
                      <a:srcRect l="45048" t="11466" b="46346"/>
                      <a:stretch/>
                    </p:blipFill>
                    <p:spPr>
                      <a:xfrm>
                        <a:off x="769380" y="1210705"/>
                        <a:ext cx="595588" cy="544215"/>
                      </a:xfrm>
                      <a:prstGeom prst="rect">
                        <a:avLst/>
                      </a:prstGeom>
                      <a:noFill/>
                      <a:ln>
                        <a:noFill/>
                      </a:ln>
                    </p:spPr>
                  </p:pic>
                  <p:pic>
                    <p:nvPicPr>
                      <p:cNvPr id="1543" name="Google Shape;1543;p95" title="DMN_2green.png"/>
                      <p:cNvPicPr preferRelativeResize="0"/>
                      <p:nvPr/>
                    </p:nvPicPr>
                    <p:blipFill rotWithShape="1">
                      <a:blip r:embed="rId4">
                        <a:alphaModFix/>
                      </a:blip>
                      <a:srcRect t="52978" r="55062"/>
                      <a:stretch/>
                    </p:blipFill>
                    <p:spPr>
                      <a:xfrm>
                        <a:off x="-259808" y="1189551"/>
                        <a:ext cx="487076" cy="606602"/>
                      </a:xfrm>
                      <a:prstGeom prst="rect">
                        <a:avLst/>
                      </a:prstGeom>
                      <a:noFill/>
                      <a:ln>
                        <a:noFill/>
                      </a:ln>
                    </p:spPr>
                  </p:pic>
                </p:grpSp>
              </p:grpSp>
            </p:grpSp>
            <p:cxnSp>
              <p:nvCxnSpPr>
                <p:cNvPr id="1544" name="Google Shape;1544;p95"/>
                <p:cNvCxnSpPr/>
                <p:nvPr/>
              </p:nvCxnSpPr>
              <p:spPr>
                <a:xfrm>
                  <a:off x="2150267" y="1505188"/>
                  <a:ext cx="1624500" cy="1059000"/>
                </a:xfrm>
                <a:prstGeom prst="curvedConnector3">
                  <a:avLst>
                    <a:gd name="adj1" fmla="val 50000"/>
                  </a:avLst>
                </a:prstGeom>
                <a:noFill/>
                <a:ln w="19050" cap="flat" cmpd="sng">
                  <a:solidFill>
                    <a:srgbClr val="26BF00"/>
                  </a:solidFill>
                  <a:prstDash val="solid"/>
                  <a:round/>
                  <a:headEnd type="none" w="med" len="med"/>
                  <a:tailEnd type="none" w="med" len="med"/>
                </a:ln>
              </p:spPr>
            </p:cxnSp>
          </p:grpSp>
          <p:sp>
            <p:nvSpPr>
              <p:cNvPr id="1545" name="Google Shape;1545;p95"/>
              <p:cNvSpPr txBox="1"/>
              <p:nvPr/>
            </p:nvSpPr>
            <p:spPr>
              <a:xfrm>
                <a:off x="5785279" y="241987"/>
                <a:ext cx="1920000" cy="309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rPr>
                  <a:t>DMN-dACC</a:t>
                </a:r>
                <a:endParaRPr sz="1200">
                  <a:solidFill>
                    <a:schemeClr val="dk1"/>
                  </a:solidFill>
                </a:endParaRPr>
              </a:p>
            </p:txBody>
          </p:sp>
        </p:grpSp>
        <p:sp>
          <p:nvSpPr>
            <p:cNvPr id="1546" name="Google Shape;1546;p95"/>
            <p:cNvSpPr/>
            <p:nvPr/>
          </p:nvSpPr>
          <p:spPr>
            <a:xfrm>
              <a:off x="6073625" y="487650"/>
              <a:ext cx="2162100" cy="1526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547" name="Google Shape;1547;p95"/>
          <p:cNvSpPr/>
          <p:nvPr/>
        </p:nvSpPr>
        <p:spPr>
          <a:xfrm>
            <a:off x="6895150" y="1658800"/>
            <a:ext cx="2126100" cy="12396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548" name="Google Shape;1548;p95"/>
          <p:cNvGrpSpPr/>
          <p:nvPr/>
        </p:nvGrpSpPr>
        <p:grpSpPr>
          <a:xfrm>
            <a:off x="6708976" y="1658800"/>
            <a:ext cx="2234943" cy="1107993"/>
            <a:chOff x="5837643" y="2156248"/>
            <a:chExt cx="2798926" cy="1387593"/>
          </a:xfrm>
        </p:grpSpPr>
        <p:grpSp>
          <p:nvGrpSpPr>
            <p:cNvPr id="1549" name="Google Shape;1549;p95"/>
            <p:cNvGrpSpPr/>
            <p:nvPr/>
          </p:nvGrpSpPr>
          <p:grpSpPr>
            <a:xfrm>
              <a:off x="6164978" y="2372506"/>
              <a:ext cx="2471592" cy="1171336"/>
              <a:chOff x="463742" y="1005490"/>
              <a:chExt cx="3861258" cy="1829926"/>
            </a:xfrm>
          </p:grpSpPr>
          <p:pic>
            <p:nvPicPr>
              <p:cNvPr id="1550" name="Google Shape;1550;p95" title="ecn_p_in-out_o-y_sens-logit.png"/>
              <p:cNvPicPr preferRelativeResize="0"/>
              <p:nvPr/>
            </p:nvPicPr>
            <p:blipFill rotWithShape="1">
              <a:blip r:embed="rId5">
                <a:alphaModFix/>
              </a:blip>
              <a:srcRect l="44933" t="10739" b="45974"/>
              <a:stretch/>
            </p:blipFill>
            <p:spPr>
              <a:xfrm>
                <a:off x="2318026" y="1005490"/>
                <a:ext cx="2006974" cy="1829926"/>
              </a:xfrm>
              <a:prstGeom prst="rect">
                <a:avLst/>
              </a:prstGeom>
              <a:noFill/>
              <a:ln>
                <a:noFill/>
              </a:ln>
            </p:spPr>
          </p:pic>
          <p:grpSp>
            <p:nvGrpSpPr>
              <p:cNvPr id="1551" name="Google Shape;1551;p95"/>
              <p:cNvGrpSpPr/>
              <p:nvPr/>
            </p:nvGrpSpPr>
            <p:grpSpPr>
              <a:xfrm>
                <a:off x="463742" y="1183721"/>
                <a:ext cx="1727100" cy="663000"/>
                <a:chOff x="114467" y="1173421"/>
                <a:chExt cx="1727100" cy="663000"/>
              </a:xfrm>
            </p:grpSpPr>
            <p:grpSp>
              <p:nvGrpSpPr>
                <p:cNvPr id="1552" name="Google Shape;1552;p95"/>
                <p:cNvGrpSpPr/>
                <p:nvPr/>
              </p:nvGrpSpPr>
              <p:grpSpPr>
                <a:xfrm>
                  <a:off x="197425" y="1194595"/>
                  <a:ext cx="1582351" cy="599205"/>
                  <a:chOff x="-9625" y="1107063"/>
                  <a:chExt cx="1987628" cy="752676"/>
                </a:xfrm>
              </p:grpSpPr>
              <p:pic>
                <p:nvPicPr>
                  <p:cNvPr id="1553" name="Google Shape;1553;p95" title="ECN_7cool.png"/>
                  <p:cNvPicPr preferRelativeResize="0"/>
                  <p:nvPr/>
                </p:nvPicPr>
                <p:blipFill rotWithShape="1">
                  <a:blip r:embed="rId6">
                    <a:alphaModFix/>
                  </a:blip>
                  <a:srcRect t="11395" r="55952" b="51773"/>
                  <a:stretch/>
                </p:blipFill>
                <p:spPr>
                  <a:xfrm>
                    <a:off x="648489" y="1206657"/>
                    <a:ext cx="547751" cy="553498"/>
                  </a:xfrm>
                  <a:prstGeom prst="rect">
                    <a:avLst/>
                  </a:prstGeom>
                  <a:noFill/>
                  <a:ln>
                    <a:noFill/>
                  </a:ln>
                </p:spPr>
              </p:pic>
              <p:pic>
                <p:nvPicPr>
                  <p:cNvPr id="1554" name="Google Shape;1554;p95" title="ECN_7cool.png"/>
                  <p:cNvPicPr preferRelativeResize="0"/>
                  <p:nvPr/>
                </p:nvPicPr>
                <p:blipFill rotWithShape="1">
                  <a:blip r:embed="rId6">
                    <a:alphaModFix/>
                  </a:blip>
                  <a:srcRect l="43454" t="9886" b="45877"/>
                  <a:stretch/>
                </p:blipFill>
                <p:spPr>
                  <a:xfrm>
                    <a:off x="1274852" y="1151025"/>
                    <a:ext cx="703151" cy="664755"/>
                  </a:xfrm>
                  <a:prstGeom prst="rect">
                    <a:avLst/>
                  </a:prstGeom>
                  <a:noFill/>
                  <a:ln>
                    <a:noFill/>
                  </a:ln>
                </p:spPr>
              </p:pic>
              <p:pic>
                <p:nvPicPr>
                  <p:cNvPr id="1555" name="Google Shape;1555;p95" title="ECN_7cool.png"/>
                  <p:cNvPicPr preferRelativeResize="0"/>
                  <p:nvPr/>
                </p:nvPicPr>
                <p:blipFill rotWithShape="1">
                  <a:blip r:embed="rId6">
                    <a:alphaModFix/>
                  </a:blip>
                  <a:srcRect t="49917" r="55952"/>
                  <a:stretch/>
                </p:blipFill>
                <p:spPr>
                  <a:xfrm>
                    <a:off x="-9625" y="1107063"/>
                    <a:ext cx="547751" cy="752676"/>
                  </a:xfrm>
                  <a:prstGeom prst="rect">
                    <a:avLst/>
                  </a:prstGeom>
                  <a:noFill/>
                  <a:ln>
                    <a:noFill/>
                  </a:ln>
                </p:spPr>
              </p:pic>
            </p:grpSp>
            <p:sp>
              <p:nvSpPr>
                <p:cNvPr id="1556" name="Google Shape;1556;p95"/>
                <p:cNvSpPr/>
                <p:nvPr/>
              </p:nvSpPr>
              <p:spPr>
                <a:xfrm>
                  <a:off x="114467" y="1173421"/>
                  <a:ext cx="1727100" cy="663000"/>
                </a:xfrm>
                <a:prstGeom prst="roundRect">
                  <a:avLst>
                    <a:gd name="adj" fmla="val 16667"/>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557" name="Google Shape;1557;p95"/>
              <p:cNvSpPr/>
              <p:nvPr/>
            </p:nvSpPr>
            <p:spPr>
              <a:xfrm>
                <a:off x="2190850" y="1421975"/>
                <a:ext cx="1969407" cy="393598"/>
              </a:xfrm>
              <a:custGeom>
                <a:avLst/>
                <a:gdLst/>
                <a:ahLst/>
                <a:cxnLst/>
                <a:rect l="l" t="t" r="r" b="b"/>
                <a:pathLst>
                  <a:path w="77429" h="23352" extrusionOk="0">
                    <a:moveTo>
                      <a:pt x="0" y="0"/>
                    </a:moveTo>
                    <a:cubicBezTo>
                      <a:pt x="6214" y="342"/>
                      <a:pt x="26425" y="410"/>
                      <a:pt x="37281" y="2049"/>
                    </a:cubicBezTo>
                    <a:cubicBezTo>
                      <a:pt x="48138" y="3688"/>
                      <a:pt x="58448" y="6283"/>
                      <a:pt x="65139" y="9833"/>
                    </a:cubicBezTo>
                    <a:cubicBezTo>
                      <a:pt x="71830" y="13384"/>
                      <a:pt x="75381" y="21099"/>
                      <a:pt x="77429" y="23352"/>
                    </a:cubicBezTo>
                  </a:path>
                </a:pathLst>
              </a:custGeom>
              <a:noFill/>
              <a:ln w="28575" cap="flat" cmpd="sng">
                <a:solidFill>
                  <a:srgbClr val="18C8FF"/>
                </a:solidFill>
                <a:prstDash val="solid"/>
                <a:round/>
                <a:headEnd type="none" w="med" len="med"/>
                <a:tailEnd type="none" w="med" len="med"/>
              </a:ln>
            </p:spPr>
            <p:txBody>
              <a:bodyPr/>
              <a:lstStyle/>
              <a:p>
                <a:endParaRPr lang="en-US"/>
              </a:p>
            </p:txBody>
          </p:sp>
        </p:grpSp>
        <p:sp>
          <p:nvSpPr>
            <p:cNvPr id="1558" name="Google Shape;1558;p95"/>
            <p:cNvSpPr txBox="1"/>
            <p:nvPr/>
          </p:nvSpPr>
          <p:spPr>
            <a:xfrm>
              <a:off x="5837643" y="2156248"/>
              <a:ext cx="1815300" cy="309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rPr>
                <a:t>ECN-mPFC</a:t>
              </a:r>
              <a:endParaRPr sz="1200">
                <a:solidFill>
                  <a:schemeClr val="dk1"/>
                </a:solidFill>
              </a:endParaRPr>
            </a:p>
          </p:txBody>
        </p:sp>
      </p:grpSp>
      <p:pic>
        <p:nvPicPr>
          <p:cNvPr id="1559" name="Google Shape;1559;p95" title="DMN_dACC_in-out_age_NoBehCov_scatter_classic.png"/>
          <p:cNvPicPr preferRelativeResize="0"/>
          <p:nvPr/>
        </p:nvPicPr>
        <p:blipFill rotWithShape="1">
          <a:blip r:embed="rId7">
            <a:alphaModFix/>
          </a:blip>
          <a:srcRect r="18213"/>
          <a:stretch/>
        </p:blipFill>
        <p:spPr>
          <a:xfrm>
            <a:off x="5900400" y="2571751"/>
            <a:ext cx="1560372" cy="1387599"/>
          </a:xfrm>
          <a:prstGeom prst="rect">
            <a:avLst/>
          </a:prstGeom>
          <a:noFill/>
          <a:ln w="9525" cap="flat" cmpd="sng">
            <a:solidFill>
              <a:schemeClr val="dk2"/>
            </a:solidFill>
            <a:prstDash val="solid"/>
            <a:round/>
            <a:headEnd type="none" w="sm" len="sm"/>
            <a:tailEnd type="none" w="sm" len="sm"/>
          </a:ln>
        </p:spPr>
      </p:pic>
      <p:pic>
        <p:nvPicPr>
          <p:cNvPr id="1560" name="Google Shape;1560;p95"/>
          <p:cNvPicPr preferRelativeResize="0"/>
          <p:nvPr/>
        </p:nvPicPr>
        <p:blipFill rotWithShape="1">
          <a:blip r:embed="rId8">
            <a:alphaModFix/>
          </a:blip>
          <a:srcRect r="19536"/>
          <a:stretch/>
        </p:blipFill>
        <p:spPr>
          <a:xfrm>
            <a:off x="7290875" y="3446800"/>
            <a:ext cx="1560376" cy="1410399"/>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564"/>
        <p:cNvGrpSpPr/>
        <p:nvPr/>
      </p:nvGrpSpPr>
      <p:grpSpPr>
        <a:xfrm>
          <a:off x="0" y="0"/>
          <a:ext cx="0" cy="0"/>
          <a:chOff x="0" y="0"/>
          <a:chExt cx="0" cy="0"/>
        </a:xfrm>
      </p:grpSpPr>
      <p:sp>
        <p:nvSpPr>
          <p:cNvPr id="1565" name="Google Shape;1565;p9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80</a:t>
            </a:fld>
            <a:endParaRPr/>
          </a:p>
        </p:txBody>
      </p:sp>
      <p:sp>
        <p:nvSpPr>
          <p:cNvPr id="1566" name="Google Shape;1566;p96"/>
          <p:cNvSpPr txBox="1">
            <a:spLocks noGrp="1"/>
          </p:cNvSpPr>
          <p:nvPr>
            <p:ph type="title" idx="4294967295"/>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How about scam vulnerability?</a:t>
            </a:r>
            <a:endParaRPr b="1"/>
          </a:p>
        </p:txBody>
      </p:sp>
      <p:grpSp>
        <p:nvGrpSpPr>
          <p:cNvPr id="1567" name="Google Shape;1567;p96"/>
          <p:cNvGrpSpPr/>
          <p:nvPr/>
        </p:nvGrpSpPr>
        <p:grpSpPr>
          <a:xfrm>
            <a:off x="3262300" y="1342066"/>
            <a:ext cx="2619400" cy="2851184"/>
            <a:chOff x="5385250" y="1052941"/>
            <a:chExt cx="2619400" cy="2851184"/>
          </a:xfrm>
        </p:grpSpPr>
        <p:grpSp>
          <p:nvGrpSpPr>
            <p:cNvPr id="1568" name="Google Shape;1568;p96"/>
            <p:cNvGrpSpPr/>
            <p:nvPr/>
          </p:nvGrpSpPr>
          <p:grpSpPr>
            <a:xfrm>
              <a:off x="5396150" y="1107300"/>
              <a:ext cx="2608500" cy="2719200"/>
              <a:chOff x="4325975" y="1212150"/>
              <a:chExt cx="2608500" cy="2719200"/>
            </a:xfrm>
          </p:grpSpPr>
          <p:sp>
            <p:nvSpPr>
              <p:cNvPr id="1569" name="Google Shape;1569;p96"/>
              <p:cNvSpPr/>
              <p:nvPr/>
            </p:nvSpPr>
            <p:spPr>
              <a:xfrm>
                <a:off x="4325975" y="1212150"/>
                <a:ext cx="2608500" cy="27192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570" name="Google Shape;1570;p96" descr="Helping Hand&quot; Images – Browse 64,765 Stock Photos, Vectors, and Video |  Adobe Stock"/>
              <p:cNvPicPr preferRelativeResize="0"/>
              <p:nvPr/>
            </p:nvPicPr>
            <p:blipFill>
              <a:blip r:embed="rId3">
                <a:alphaModFix/>
              </a:blip>
              <a:stretch>
                <a:fillRect/>
              </a:stretch>
            </p:blipFill>
            <p:spPr>
              <a:xfrm>
                <a:off x="4325975" y="1841636"/>
                <a:ext cx="2608500" cy="1659450"/>
              </a:xfrm>
              <a:prstGeom prst="rect">
                <a:avLst/>
              </a:prstGeom>
              <a:noFill/>
              <a:ln>
                <a:noFill/>
              </a:ln>
            </p:spPr>
          </p:pic>
        </p:grpSp>
        <p:sp>
          <p:nvSpPr>
            <p:cNvPr id="1571" name="Google Shape;1571;p96"/>
            <p:cNvSpPr txBox="1"/>
            <p:nvPr/>
          </p:nvSpPr>
          <p:spPr>
            <a:xfrm>
              <a:off x="5385250" y="1052941"/>
              <a:ext cx="1333800" cy="440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FF0000"/>
                  </a:solidFill>
                </a:rPr>
                <a:t>Exploited Victim</a:t>
              </a:r>
              <a:endParaRPr sz="1800" b="1">
                <a:solidFill>
                  <a:srgbClr val="FF0000"/>
                </a:solidFill>
              </a:endParaRPr>
            </a:p>
          </p:txBody>
        </p:sp>
        <p:sp>
          <p:nvSpPr>
            <p:cNvPr id="1572" name="Google Shape;1572;p96"/>
            <p:cNvSpPr txBox="1"/>
            <p:nvPr/>
          </p:nvSpPr>
          <p:spPr>
            <a:xfrm>
              <a:off x="6314850" y="3164325"/>
              <a:ext cx="1539900" cy="73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FF0000"/>
                  </a:solidFill>
                </a:rPr>
                <a:t>Scammer</a:t>
              </a:r>
              <a:endParaRPr sz="1800" b="1">
                <a:solidFill>
                  <a:srgbClr val="FF0000"/>
                </a:solidFill>
              </a:endParaRPr>
            </a:p>
            <a:p>
              <a:pPr marL="0" lvl="0" indent="0" algn="ctr" rtl="0">
                <a:spcBef>
                  <a:spcPts val="0"/>
                </a:spcBef>
                <a:spcAft>
                  <a:spcPts val="0"/>
                </a:spcAft>
                <a:buNone/>
              </a:pPr>
              <a:r>
                <a:rPr lang="en" sz="1800" b="1">
                  <a:solidFill>
                    <a:srgbClr val="FF0000"/>
                  </a:solidFill>
                </a:rPr>
                <a:t>in Disguise</a:t>
              </a:r>
              <a:endParaRPr sz="1800" b="1">
                <a:solidFill>
                  <a:srgbClr val="FF0000"/>
                </a:solidFill>
              </a:endParaRPr>
            </a:p>
          </p:txBody>
        </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576"/>
        <p:cNvGrpSpPr/>
        <p:nvPr/>
      </p:nvGrpSpPr>
      <p:grpSpPr>
        <a:xfrm>
          <a:off x="0" y="0"/>
          <a:ext cx="0" cy="0"/>
          <a:chOff x="0" y="0"/>
          <a:chExt cx="0" cy="0"/>
        </a:xfrm>
      </p:grpSpPr>
      <p:sp>
        <p:nvSpPr>
          <p:cNvPr id="1577" name="Google Shape;1577;p9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81</a:t>
            </a:fld>
            <a:endParaRPr/>
          </a:p>
        </p:txBody>
      </p:sp>
      <p:sp>
        <p:nvSpPr>
          <p:cNvPr id="1578" name="Google Shape;1578;p97"/>
          <p:cNvSpPr txBox="1">
            <a:spLocks noGrp="1"/>
          </p:cNvSpPr>
          <p:nvPr>
            <p:ph type="title" idx="4294967295"/>
          </p:nvPr>
        </p:nvSpPr>
        <p:spPr>
          <a:xfrm>
            <a:off x="311700" y="445025"/>
            <a:ext cx="8536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In progress</a:t>
            </a:r>
            <a:endParaRPr b="1"/>
          </a:p>
        </p:txBody>
      </p:sp>
      <p:sp>
        <p:nvSpPr>
          <p:cNvPr id="1579" name="Google Shape;1579;p97"/>
          <p:cNvSpPr txBox="1"/>
          <p:nvPr/>
        </p:nvSpPr>
        <p:spPr>
          <a:xfrm>
            <a:off x="-44300" y="4739425"/>
            <a:ext cx="7155000" cy="4701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None/>
            </a:pPr>
            <a:endParaRPr sz="1100">
              <a:solidFill>
                <a:schemeClr val="dk1"/>
              </a:solidFill>
            </a:endParaRPr>
          </a:p>
          <a:p>
            <a:pPr marL="279400" lvl="0" indent="-279400" algn="l" rtl="0">
              <a:lnSpc>
                <a:spcPct val="100000"/>
              </a:lnSpc>
              <a:spcBef>
                <a:spcPts val="0"/>
              </a:spcBef>
              <a:spcAft>
                <a:spcPts val="0"/>
              </a:spcAft>
              <a:buNone/>
            </a:pPr>
            <a:r>
              <a:rPr lang="en" sz="1100">
                <a:solidFill>
                  <a:schemeClr val="dk1"/>
                </a:solidFill>
              </a:rPr>
              <a:t>Smith, … Yang et al. (2024), Data in Brief</a:t>
            </a:r>
            <a:endParaRPr sz="1100">
              <a:solidFill>
                <a:schemeClr val="dk1"/>
              </a:solidFill>
            </a:endParaRPr>
          </a:p>
          <a:p>
            <a:pPr marL="279400" lvl="0" indent="-279400" algn="l" rtl="0">
              <a:lnSpc>
                <a:spcPct val="100000"/>
              </a:lnSpc>
              <a:spcBef>
                <a:spcPts val="0"/>
              </a:spcBef>
              <a:spcAft>
                <a:spcPts val="0"/>
              </a:spcAft>
              <a:buNone/>
            </a:pPr>
            <a:r>
              <a:rPr lang="en" sz="1100">
                <a:solidFill>
                  <a:schemeClr val="dk1"/>
                </a:solidFill>
              </a:rPr>
              <a:t>Yang et al., in prep (2)</a:t>
            </a:r>
            <a:endParaRPr sz="1100">
              <a:solidFill>
                <a:schemeClr val="dk1"/>
              </a:solidFill>
            </a:endParaRPr>
          </a:p>
        </p:txBody>
      </p:sp>
      <p:sp>
        <p:nvSpPr>
          <p:cNvPr id="1580" name="Google Shape;1580;p97"/>
          <p:cNvSpPr txBox="1"/>
          <p:nvPr/>
        </p:nvSpPr>
        <p:spPr>
          <a:xfrm>
            <a:off x="136200" y="1269525"/>
            <a:ext cx="5906400" cy="1475400"/>
          </a:xfrm>
          <a:prstGeom prst="rect">
            <a:avLst/>
          </a:prstGeom>
          <a:solidFill>
            <a:schemeClr val="lt1"/>
          </a:solid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chemeClr val="dk1"/>
              </a:buClr>
              <a:buSzPts val="1800"/>
              <a:buChar char="-"/>
            </a:pPr>
            <a:r>
              <a:rPr lang="en" sz="1800">
                <a:solidFill>
                  <a:schemeClr val="dk1"/>
                </a:solidFill>
              </a:rPr>
              <a:t>ongoing data collection</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 sz="1800">
                <a:solidFill>
                  <a:schemeClr val="dk1"/>
                </a:solidFill>
              </a:rPr>
              <a:t>target N = 350 (current ~230)</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 sz="1800">
                <a:solidFill>
                  <a:schemeClr val="dk1"/>
                </a:solidFill>
              </a:rPr>
              <a:t>multiple tasks, including the Ultimatum Game</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 sz="1800">
                <a:solidFill>
                  <a:schemeClr val="dk1"/>
                </a:solidFill>
              </a:rPr>
              <a:t>financial exploitation measures (and more!)</a:t>
            </a:r>
            <a:endParaRPr sz="1800">
              <a:solidFill>
                <a:schemeClr val="dk1"/>
              </a:soli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584"/>
        <p:cNvGrpSpPr/>
        <p:nvPr/>
      </p:nvGrpSpPr>
      <p:grpSpPr>
        <a:xfrm>
          <a:off x="0" y="0"/>
          <a:ext cx="0" cy="0"/>
          <a:chOff x="0" y="0"/>
          <a:chExt cx="0" cy="0"/>
        </a:xfrm>
      </p:grpSpPr>
      <p:sp>
        <p:nvSpPr>
          <p:cNvPr id="1585" name="Google Shape;1585;p98"/>
          <p:cNvSpPr txBox="1"/>
          <p:nvPr/>
        </p:nvSpPr>
        <p:spPr>
          <a:xfrm>
            <a:off x="136200" y="1269525"/>
            <a:ext cx="5906400" cy="1475400"/>
          </a:xfrm>
          <a:prstGeom prst="rect">
            <a:avLst/>
          </a:prstGeom>
          <a:solidFill>
            <a:schemeClr val="lt1"/>
          </a:solid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chemeClr val="dk1"/>
              </a:buClr>
              <a:buSzPts val="1800"/>
              <a:buChar char="-"/>
            </a:pPr>
            <a:r>
              <a:rPr lang="en" sz="1800">
                <a:solidFill>
                  <a:schemeClr val="dk1"/>
                </a:solidFill>
              </a:rPr>
              <a:t>ongoing data collection</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 sz="1800">
                <a:solidFill>
                  <a:schemeClr val="dk1"/>
                </a:solidFill>
              </a:rPr>
              <a:t>target N = 350 (current ~230)</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 sz="1800">
                <a:solidFill>
                  <a:schemeClr val="dk1"/>
                </a:solidFill>
              </a:rPr>
              <a:t>multiple tasks, including the Ultimatum Game</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 sz="1800">
                <a:solidFill>
                  <a:schemeClr val="dk1"/>
                </a:solidFill>
              </a:rPr>
              <a:t>financial exploitation measures (and more!)</a:t>
            </a:r>
            <a:endParaRPr sz="1800">
              <a:solidFill>
                <a:schemeClr val="dk1"/>
              </a:solidFill>
            </a:endParaRPr>
          </a:p>
        </p:txBody>
      </p:sp>
      <p:sp>
        <p:nvSpPr>
          <p:cNvPr id="1586" name="Google Shape;1586;p9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82</a:t>
            </a:fld>
            <a:endParaRPr/>
          </a:p>
        </p:txBody>
      </p:sp>
      <p:sp>
        <p:nvSpPr>
          <p:cNvPr id="1587" name="Google Shape;1587;p98"/>
          <p:cNvSpPr txBox="1">
            <a:spLocks noGrp="1"/>
          </p:cNvSpPr>
          <p:nvPr>
            <p:ph type="title" idx="4294967295"/>
          </p:nvPr>
        </p:nvSpPr>
        <p:spPr>
          <a:xfrm>
            <a:off x="311700" y="445025"/>
            <a:ext cx="8536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In progress</a:t>
            </a:r>
            <a:endParaRPr b="1"/>
          </a:p>
        </p:txBody>
      </p:sp>
      <p:pic>
        <p:nvPicPr>
          <p:cNvPr id="1588" name="Google Shape;1588;p98"/>
          <p:cNvPicPr preferRelativeResize="0"/>
          <p:nvPr/>
        </p:nvPicPr>
        <p:blipFill rotWithShape="1">
          <a:blip r:embed="rId3">
            <a:alphaModFix/>
          </a:blip>
          <a:srcRect r="56678" b="17877"/>
          <a:stretch/>
        </p:blipFill>
        <p:spPr>
          <a:xfrm>
            <a:off x="6384774" y="211975"/>
            <a:ext cx="2015775" cy="1740899"/>
          </a:xfrm>
          <a:prstGeom prst="rect">
            <a:avLst/>
          </a:prstGeom>
          <a:noFill/>
          <a:ln>
            <a:noFill/>
          </a:ln>
        </p:spPr>
      </p:pic>
      <p:sp>
        <p:nvSpPr>
          <p:cNvPr id="1589" name="Google Shape;1589;p98"/>
          <p:cNvSpPr txBox="1"/>
          <p:nvPr/>
        </p:nvSpPr>
        <p:spPr>
          <a:xfrm>
            <a:off x="-44300" y="4739425"/>
            <a:ext cx="7155000" cy="4701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None/>
            </a:pPr>
            <a:endParaRPr sz="1100">
              <a:solidFill>
                <a:schemeClr val="dk1"/>
              </a:solidFill>
            </a:endParaRPr>
          </a:p>
          <a:p>
            <a:pPr marL="279400" lvl="0" indent="-279400" algn="l" rtl="0">
              <a:lnSpc>
                <a:spcPct val="100000"/>
              </a:lnSpc>
              <a:spcBef>
                <a:spcPts val="0"/>
              </a:spcBef>
              <a:spcAft>
                <a:spcPts val="0"/>
              </a:spcAft>
              <a:buNone/>
            </a:pPr>
            <a:r>
              <a:rPr lang="en" sz="1100">
                <a:solidFill>
                  <a:schemeClr val="dk1"/>
                </a:solidFill>
              </a:rPr>
              <a:t>Smith, … Yang et al. (2024), Data in Brief</a:t>
            </a:r>
            <a:endParaRPr sz="1100">
              <a:solidFill>
                <a:schemeClr val="dk1"/>
              </a:solidFill>
            </a:endParaRPr>
          </a:p>
          <a:p>
            <a:pPr marL="279400" lvl="0" indent="-279400" algn="l" rtl="0">
              <a:lnSpc>
                <a:spcPct val="100000"/>
              </a:lnSpc>
              <a:spcBef>
                <a:spcPts val="0"/>
              </a:spcBef>
              <a:spcAft>
                <a:spcPts val="0"/>
              </a:spcAft>
              <a:buNone/>
            </a:pPr>
            <a:r>
              <a:rPr lang="en" sz="1100">
                <a:solidFill>
                  <a:schemeClr val="dk1"/>
                </a:solidFill>
              </a:rPr>
              <a:t>Yang et al., in prep (2)</a:t>
            </a:r>
            <a:endParaRPr sz="1100">
              <a:solidFill>
                <a:schemeClr val="dk1"/>
              </a:solidFill>
            </a:endParaRPr>
          </a:p>
        </p:txBody>
      </p:sp>
      <p:grpSp>
        <p:nvGrpSpPr>
          <p:cNvPr id="1590" name="Google Shape;1590;p98"/>
          <p:cNvGrpSpPr/>
          <p:nvPr/>
        </p:nvGrpSpPr>
        <p:grpSpPr>
          <a:xfrm>
            <a:off x="5424593" y="1952875"/>
            <a:ext cx="3463444" cy="2921014"/>
            <a:chOff x="2811076" y="889251"/>
            <a:chExt cx="3240801" cy="3108123"/>
          </a:xfrm>
        </p:grpSpPr>
        <p:pic>
          <p:nvPicPr>
            <p:cNvPr id="1591" name="Google Shape;1591;p98"/>
            <p:cNvPicPr preferRelativeResize="0"/>
            <p:nvPr/>
          </p:nvPicPr>
          <p:blipFill rotWithShape="1">
            <a:blip r:embed="rId3">
              <a:alphaModFix/>
            </a:blip>
            <a:srcRect l="45980"/>
            <a:stretch/>
          </p:blipFill>
          <p:spPr>
            <a:xfrm>
              <a:off x="2811076" y="889251"/>
              <a:ext cx="3240801" cy="3108123"/>
            </a:xfrm>
            <a:prstGeom prst="rect">
              <a:avLst/>
            </a:prstGeom>
            <a:noFill/>
            <a:ln>
              <a:noFill/>
            </a:ln>
          </p:spPr>
        </p:pic>
        <p:sp>
          <p:nvSpPr>
            <p:cNvPr id="1592" name="Google Shape;1592;p98"/>
            <p:cNvSpPr txBox="1"/>
            <p:nvPr/>
          </p:nvSpPr>
          <p:spPr>
            <a:xfrm rot="-5400000">
              <a:off x="1547250" y="2234075"/>
              <a:ext cx="3067800" cy="418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500" b="1">
                  <a:solidFill>
                    <a:schemeClr val="dk1"/>
                  </a:solidFill>
                </a:rPr>
                <a:t>dlPFC activation (β)</a:t>
              </a:r>
              <a:br>
                <a:rPr lang="en" sz="1500" b="1">
                  <a:solidFill>
                    <a:schemeClr val="dk1"/>
                  </a:solidFill>
                </a:rPr>
              </a:br>
              <a:r>
                <a:rPr lang="en" sz="1500" b="1">
                  <a:solidFill>
                    <a:schemeClr val="dk1"/>
                  </a:solidFill>
                </a:rPr>
                <a:t>Friend &gt; stranger, outcome</a:t>
              </a:r>
              <a:endParaRPr sz="1500" b="1">
                <a:solidFill>
                  <a:schemeClr val="dk1"/>
                </a:solidFill>
              </a:endParaRPr>
            </a:p>
          </p:txBody>
        </p:sp>
      </p:grpSp>
      <p:sp>
        <p:nvSpPr>
          <p:cNvPr id="1593" name="Google Shape;1593;p98"/>
          <p:cNvSpPr txBox="1"/>
          <p:nvPr/>
        </p:nvSpPr>
        <p:spPr>
          <a:xfrm>
            <a:off x="136200" y="2922250"/>
            <a:ext cx="5288400" cy="1740900"/>
          </a:xfrm>
          <a:prstGeom prst="rect">
            <a:avLst/>
          </a:prstGeom>
          <a:solidFill>
            <a:schemeClr val="lt1"/>
          </a:solid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chemeClr val="dk1"/>
              </a:buClr>
              <a:buSzPts val="1800"/>
              <a:buChar char="-"/>
            </a:pPr>
            <a:r>
              <a:rPr lang="en" sz="1800">
                <a:solidFill>
                  <a:schemeClr val="dk1"/>
                </a:solidFill>
              </a:rPr>
              <a:t>task: sharing monetary outcome with a friend or stranger</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 sz="1800">
                <a:solidFill>
                  <a:schemeClr val="dk1"/>
                </a:solidFill>
              </a:rPr>
              <a:t>preliminary finding: stronger friend&gt;stranger social context differentiation in dlPFC activation, lower financial exploitation risk </a:t>
            </a:r>
            <a:endParaRPr sz="1800">
              <a:solidFill>
                <a:schemeClr val="dk1"/>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597"/>
        <p:cNvGrpSpPr/>
        <p:nvPr/>
      </p:nvGrpSpPr>
      <p:grpSpPr>
        <a:xfrm>
          <a:off x="0" y="0"/>
          <a:ext cx="0" cy="0"/>
          <a:chOff x="0" y="0"/>
          <a:chExt cx="0" cy="0"/>
        </a:xfrm>
      </p:grpSpPr>
      <p:sp>
        <p:nvSpPr>
          <p:cNvPr id="1598" name="Google Shape;1598;p99"/>
          <p:cNvSpPr txBox="1"/>
          <p:nvPr/>
        </p:nvSpPr>
        <p:spPr>
          <a:xfrm>
            <a:off x="136200" y="1269525"/>
            <a:ext cx="5906400" cy="1475400"/>
          </a:xfrm>
          <a:prstGeom prst="rect">
            <a:avLst/>
          </a:prstGeom>
          <a:solidFill>
            <a:schemeClr val="lt1"/>
          </a:solid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chemeClr val="dk1"/>
              </a:buClr>
              <a:buSzPts val="1800"/>
              <a:buChar char="-"/>
            </a:pPr>
            <a:r>
              <a:rPr lang="en" sz="1800">
                <a:solidFill>
                  <a:schemeClr val="dk1"/>
                </a:solidFill>
              </a:rPr>
              <a:t>ongoing data collection</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 sz="1800">
                <a:solidFill>
                  <a:schemeClr val="dk1"/>
                </a:solidFill>
              </a:rPr>
              <a:t>target N = 350 (current ~230)</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 sz="1800">
                <a:solidFill>
                  <a:schemeClr val="dk1"/>
                </a:solidFill>
              </a:rPr>
              <a:t>multiple tasks, including the Ultimatum Game</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 sz="1800">
                <a:solidFill>
                  <a:schemeClr val="dk1"/>
                </a:solidFill>
              </a:rPr>
              <a:t>financial exploitation measures (and more!)</a:t>
            </a:r>
            <a:endParaRPr sz="1800">
              <a:solidFill>
                <a:schemeClr val="dk1"/>
              </a:solidFill>
            </a:endParaRPr>
          </a:p>
        </p:txBody>
      </p:sp>
      <p:sp>
        <p:nvSpPr>
          <p:cNvPr id="1599" name="Google Shape;1599;p9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83</a:t>
            </a:fld>
            <a:endParaRPr/>
          </a:p>
        </p:txBody>
      </p:sp>
      <p:sp>
        <p:nvSpPr>
          <p:cNvPr id="1600" name="Google Shape;1600;p99"/>
          <p:cNvSpPr txBox="1">
            <a:spLocks noGrp="1"/>
          </p:cNvSpPr>
          <p:nvPr>
            <p:ph type="title" idx="4294967295"/>
          </p:nvPr>
        </p:nvSpPr>
        <p:spPr>
          <a:xfrm>
            <a:off x="311700" y="445025"/>
            <a:ext cx="8536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In progress</a:t>
            </a:r>
            <a:endParaRPr b="1"/>
          </a:p>
        </p:txBody>
      </p:sp>
      <p:pic>
        <p:nvPicPr>
          <p:cNvPr id="1601" name="Google Shape;1601;p99"/>
          <p:cNvPicPr preferRelativeResize="0"/>
          <p:nvPr/>
        </p:nvPicPr>
        <p:blipFill rotWithShape="1">
          <a:blip r:embed="rId3">
            <a:alphaModFix/>
          </a:blip>
          <a:srcRect r="56678" b="17877"/>
          <a:stretch/>
        </p:blipFill>
        <p:spPr>
          <a:xfrm>
            <a:off x="6384774" y="211975"/>
            <a:ext cx="2015775" cy="1740899"/>
          </a:xfrm>
          <a:prstGeom prst="rect">
            <a:avLst/>
          </a:prstGeom>
          <a:noFill/>
          <a:ln>
            <a:noFill/>
          </a:ln>
        </p:spPr>
      </p:pic>
      <p:sp>
        <p:nvSpPr>
          <p:cNvPr id="1602" name="Google Shape;1602;p99"/>
          <p:cNvSpPr txBox="1"/>
          <p:nvPr/>
        </p:nvSpPr>
        <p:spPr>
          <a:xfrm>
            <a:off x="-44300" y="4739425"/>
            <a:ext cx="7155000" cy="4701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None/>
            </a:pPr>
            <a:endParaRPr sz="1100">
              <a:solidFill>
                <a:schemeClr val="dk1"/>
              </a:solidFill>
            </a:endParaRPr>
          </a:p>
          <a:p>
            <a:pPr marL="279400" lvl="0" indent="-279400" algn="l" rtl="0">
              <a:lnSpc>
                <a:spcPct val="100000"/>
              </a:lnSpc>
              <a:spcBef>
                <a:spcPts val="0"/>
              </a:spcBef>
              <a:spcAft>
                <a:spcPts val="0"/>
              </a:spcAft>
              <a:buNone/>
            </a:pPr>
            <a:r>
              <a:rPr lang="en" sz="1100">
                <a:solidFill>
                  <a:schemeClr val="dk1"/>
                </a:solidFill>
              </a:rPr>
              <a:t>Smith, … Yang et al. (2024), Data in Brief</a:t>
            </a:r>
            <a:endParaRPr sz="1100">
              <a:solidFill>
                <a:schemeClr val="dk1"/>
              </a:solidFill>
            </a:endParaRPr>
          </a:p>
          <a:p>
            <a:pPr marL="279400" lvl="0" indent="-279400" algn="l" rtl="0">
              <a:lnSpc>
                <a:spcPct val="100000"/>
              </a:lnSpc>
              <a:spcBef>
                <a:spcPts val="0"/>
              </a:spcBef>
              <a:spcAft>
                <a:spcPts val="0"/>
              </a:spcAft>
              <a:buNone/>
            </a:pPr>
            <a:r>
              <a:rPr lang="en" sz="1100">
                <a:solidFill>
                  <a:schemeClr val="dk1"/>
                </a:solidFill>
              </a:rPr>
              <a:t>Yang et al., in prep (2)</a:t>
            </a:r>
            <a:endParaRPr sz="1100">
              <a:solidFill>
                <a:schemeClr val="dk1"/>
              </a:solidFill>
            </a:endParaRPr>
          </a:p>
        </p:txBody>
      </p:sp>
      <p:grpSp>
        <p:nvGrpSpPr>
          <p:cNvPr id="1603" name="Google Shape;1603;p99"/>
          <p:cNvGrpSpPr/>
          <p:nvPr/>
        </p:nvGrpSpPr>
        <p:grpSpPr>
          <a:xfrm>
            <a:off x="5424593" y="1952875"/>
            <a:ext cx="3463444" cy="2921014"/>
            <a:chOff x="2811076" y="889251"/>
            <a:chExt cx="3240801" cy="3108123"/>
          </a:xfrm>
        </p:grpSpPr>
        <p:pic>
          <p:nvPicPr>
            <p:cNvPr id="1604" name="Google Shape;1604;p99"/>
            <p:cNvPicPr preferRelativeResize="0"/>
            <p:nvPr/>
          </p:nvPicPr>
          <p:blipFill rotWithShape="1">
            <a:blip r:embed="rId3">
              <a:alphaModFix/>
            </a:blip>
            <a:srcRect l="45980"/>
            <a:stretch/>
          </p:blipFill>
          <p:spPr>
            <a:xfrm>
              <a:off x="2811076" y="889251"/>
              <a:ext cx="3240801" cy="3108123"/>
            </a:xfrm>
            <a:prstGeom prst="rect">
              <a:avLst/>
            </a:prstGeom>
            <a:noFill/>
            <a:ln>
              <a:noFill/>
            </a:ln>
          </p:spPr>
        </p:pic>
        <p:sp>
          <p:nvSpPr>
            <p:cNvPr id="1605" name="Google Shape;1605;p99"/>
            <p:cNvSpPr txBox="1"/>
            <p:nvPr/>
          </p:nvSpPr>
          <p:spPr>
            <a:xfrm rot="-5400000">
              <a:off x="1547250" y="2234075"/>
              <a:ext cx="3067800" cy="418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500" b="1">
                  <a:solidFill>
                    <a:schemeClr val="dk1"/>
                  </a:solidFill>
                </a:rPr>
                <a:t>dlPFC activation (β)</a:t>
              </a:r>
              <a:br>
                <a:rPr lang="en" sz="1500" b="1">
                  <a:solidFill>
                    <a:schemeClr val="dk1"/>
                  </a:solidFill>
                </a:rPr>
              </a:br>
              <a:r>
                <a:rPr lang="en" sz="1500" b="1">
                  <a:solidFill>
                    <a:schemeClr val="dk1"/>
                  </a:solidFill>
                </a:rPr>
                <a:t>Friend &gt; stranger, outcome</a:t>
              </a:r>
              <a:endParaRPr sz="1500" b="1">
                <a:solidFill>
                  <a:schemeClr val="dk1"/>
                </a:solidFill>
              </a:endParaRPr>
            </a:p>
          </p:txBody>
        </p:sp>
      </p:grpSp>
      <p:sp>
        <p:nvSpPr>
          <p:cNvPr id="1606" name="Google Shape;1606;p99"/>
          <p:cNvSpPr txBox="1"/>
          <p:nvPr/>
        </p:nvSpPr>
        <p:spPr>
          <a:xfrm>
            <a:off x="136200" y="2922250"/>
            <a:ext cx="5288400" cy="1740900"/>
          </a:xfrm>
          <a:prstGeom prst="rect">
            <a:avLst/>
          </a:prstGeom>
          <a:solidFill>
            <a:schemeClr val="lt1"/>
          </a:solid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chemeClr val="dk1"/>
              </a:buClr>
              <a:buSzPts val="1800"/>
              <a:buChar char="-"/>
            </a:pPr>
            <a:r>
              <a:rPr lang="en" sz="1800">
                <a:solidFill>
                  <a:schemeClr val="dk1"/>
                </a:solidFill>
              </a:rPr>
              <a:t>task: sharing monetary outcome with a friend or stranger</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 sz="1800">
                <a:solidFill>
                  <a:schemeClr val="dk1"/>
                </a:solidFill>
              </a:rPr>
              <a:t>preliminary finding: stronger friend&gt;stranger social context differentiation in dlPFC activation, lower financial exploitation risk </a:t>
            </a:r>
            <a:endParaRPr sz="1800">
              <a:solidFill>
                <a:schemeClr val="dk1"/>
              </a:solidFill>
            </a:endParaRPr>
          </a:p>
        </p:txBody>
      </p:sp>
      <p:sp>
        <p:nvSpPr>
          <p:cNvPr id="1607" name="Google Shape;1607;p99"/>
          <p:cNvSpPr txBox="1"/>
          <p:nvPr/>
        </p:nvSpPr>
        <p:spPr>
          <a:xfrm>
            <a:off x="1935900" y="1349975"/>
            <a:ext cx="5288400" cy="2565000"/>
          </a:xfrm>
          <a:prstGeom prst="rect">
            <a:avLst/>
          </a:prstGeom>
          <a:solidFill>
            <a:schemeClr val="lt1"/>
          </a:solidFill>
          <a:ln w="28575" cap="flat" cmpd="sng">
            <a:solidFill>
              <a:srgbClr val="CC0000"/>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600" b="1">
                <a:solidFill>
                  <a:srgbClr val="CC0000"/>
                </a:solidFill>
              </a:rPr>
              <a:t>SANS 2026</a:t>
            </a:r>
            <a:endParaRPr sz="3600" b="1">
              <a:solidFill>
                <a:srgbClr val="CC0000"/>
              </a:solidFill>
            </a:endParaRPr>
          </a:p>
          <a:p>
            <a:pPr marL="0" lvl="0" indent="0" algn="ctr" rtl="0">
              <a:spcBef>
                <a:spcPts val="0"/>
              </a:spcBef>
              <a:spcAft>
                <a:spcPts val="0"/>
              </a:spcAft>
              <a:buNone/>
            </a:pPr>
            <a:r>
              <a:rPr lang="en" sz="3600" b="1">
                <a:solidFill>
                  <a:srgbClr val="CC0000"/>
                </a:solidFill>
              </a:rPr>
              <a:t>Stay tuned!</a:t>
            </a:r>
            <a:endParaRPr sz="3600" b="1">
              <a:solidFill>
                <a:srgbClr val="CC0000"/>
              </a:solidFil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611"/>
        <p:cNvGrpSpPr/>
        <p:nvPr/>
      </p:nvGrpSpPr>
      <p:grpSpPr>
        <a:xfrm>
          <a:off x="0" y="0"/>
          <a:ext cx="0" cy="0"/>
          <a:chOff x="0" y="0"/>
          <a:chExt cx="0" cy="0"/>
        </a:xfrm>
      </p:grpSpPr>
      <p:sp>
        <p:nvSpPr>
          <p:cNvPr id="1612" name="Google Shape;1612;p10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84</a:t>
            </a:fld>
            <a:endParaRPr/>
          </a:p>
        </p:txBody>
      </p:sp>
      <p:sp>
        <p:nvSpPr>
          <p:cNvPr id="1613" name="Google Shape;1613;p100"/>
          <p:cNvSpPr txBox="1"/>
          <p:nvPr/>
        </p:nvSpPr>
        <p:spPr>
          <a:xfrm>
            <a:off x="0" y="0"/>
            <a:ext cx="9144000" cy="577800"/>
          </a:xfrm>
          <a:prstGeom prst="rect">
            <a:avLst/>
          </a:prstGeom>
          <a:solidFill>
            <a:srgbClr val="EA99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100" b="1">
                <a:solidFill>
                  <a:schemeClr val="lt1"/>
                </a:solidFill>
              </a:rPr>
              <a:t>Acknowledgement</a:t>
            </a:r>
            <a:endParaRPr sz="3100" b="1">
              <a:solidFill>
                <a:schemeClr val="lt1"/>
              </a:solidFill>
            </a:endParaRPr>
          </a:p>
        </p:txBody>
      </p:sp>
      <p:pic>
        <p:nvPicPr>
          <p:cNvPr id="1614" name="Google Shape;1614;p100"/>
          <p:cNvPicPr preferRelativeResize="0"/>
          <p:nvPr/>
        </p:nvPicPr>
        <p:blipFill>
          <a:blip r:embed="rId3">
            <a:alphaModFix/>
          </a:blip>
          <a:stretch>
            <a:fillRect/>
          </a:stretch>
        </p:blipFill>
        <p:spPr>
          <a:xfrm>
            <a:off x="75175" y="783150"/>
            <a:ext cx="8868751" cy="3880079"/>
          </a:xfrm>
          <a:prstGeom prst="rect">
            <a:avLst/>
          </a:prstGeom>
          <a:noFill/>
          <a:ln>
            <a:noFill/>
          </a:ln>
        </p:spPr>
      </p:pic>
      <p:sp>
        <p:nvSpPr>
          <p:cNvPr id="1615" name="Google Shape;1615;p100"/>
          <p:cNvSpPr txBox="1"/>
          <p:nvPr/>
        </p:nvSpPr>
        <p:spPr>
          <a:xfrm>
            <a:off x="2965650" y="4029475"/>
            <a:ext cx="3212700" cy="7101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b="1">
                <a:solidFill>
                  <a:srgbClr val="E06666"/>
                </a:solidFill>
              </a:rPr>
              <a:t>Thank you!</a:t>
            </a:r>
            <a:endParaRPr sz="3000" b="1">
              <a:solidFill>
                <a:srgbClr val="E06666"/>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5678</Words>
  <Application>Microsoft Macintosh PowerPoint</Application>
  <PresentationFormat>On-screen Show (16:9)</PresentationFormat>
  <Paragraphs>798</Paragraphs>
  <Slides>84</Slides>
  <Notes>84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84</vt:i4>
      </vt:variant>
    </vt:vector>
  </HeadingPairs>
  <TitlesOfParts>
    <vt:vector size="88" baseType="lpstr">
      <vt:lpstr>Roboto</vt:lpstr>
      <vt:lpstr>Arial</vt:lpstr>
      <vt:lpstr>Times New Roman</vt:lpstr>
      <vt:lpstr>Simple Light</vt:lpstr>
      <vt:lpstr>Age-Related Differences in Neural Responses during the Ultimatum Game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Multilevel Logistic Regression  random + fixed</vt:lpstr>
      <vt:lpstr>Multilevel Logistic Regression  random + fixed</vt:lpstr>
      <vt:lpstr>Multilevel Logistic Regression  random + fixed</vt:lpstr>
      <vt:lpstr>Multilevel Logistic Regression  random + fixed</vt:lpstr>
      <vt:lpstr>Multilevel Logistic Regression  random + fixed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do the results tell us?</vt:lpstr>
      <vt:lpstr>What do the results tell us?</vt:lpstr>
      <vt:lpstr>What do the results tell us?</vt:lpstr>
      <vt:lpstr>How about scam vulnerability?</vt:lpstr>
      <vt:lpstr>In progress</vt:lpstr>
      <vt:lpstr>In progress</vt:lpstr>
      <vt:lpstr>In progress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Yi (Jen) Yang</cp:lastModifiedBy>
  <cp:revision>1</cp:revision>
  <dcterms:modified xsi:type="dcterms:W3CDTF">2025-04-27T12:32:56Z</dcterms:modified>
</cp:coreProperties>
</file>